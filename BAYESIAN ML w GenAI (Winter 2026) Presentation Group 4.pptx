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9"/>
  </p:notesMasterIdLst>
  <p:sldIdLst>
    <p:sldId id="256" r:id="rId2"/>
    <p:sldId id="280" r:id="rId3"/>
    <p:sldId id="281" r:id="rId4"/>
    <p:sldId id="265" r:id="rId5"/>
    <p:sldId id="267" r:id="rId6"/>
    <p:sldId id="268" r:id="rId7"/>
    <p:sldId id="269" r:id="rId8"/>
    <p:sldId id="270" r:id="rId9"/>
    <p:sldId id="271" r:id="rId10"/>
    <p:sldId id="272" r:id="rId11"/>
    <p:sldId id="273" r:id="rId12"/>
    <p:sldId id="275" r:id="rId13"/>
    <p:sldId id="274" r:id="rId14"/>
    <p:sldId id="276" r:id="rId15"/>
    <p:sldId id="277" r:id="rId16"/>
    <p:sldId id="278" r:id="rId17"/>
    <p:sldId id="279" r:id="rId18"/>
  </p:sldIdLst>
  <p:sldSz cx="9144000" cy="6858000" type="letter"/>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67676"/>
    <a:srgbClr val="800000"/>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054"/>
    <p:restoredTop sz="94694"/>
  </p:normalViewPr>
  <p:slideViewPr>
    <p:cSldViewPr snapToGrid="0" snapToObjects="1">
      <p:cViewPr varScale="1">
        <p:scale>
          <a:sx n="142" d="100"/>
          <a:sy n="142" d="100"/>
        </p:scale>
        <p:origin x="2916" y="342"/>
      </p:cViewPr>
      <p:guideLst/>
    </p:cSldViewPr>
  </p:slideViewPr>
  <p:notesTextViewPr>
    <p:cViewPr>
      <p:scale>
        <a:sx n="1" d="1"/>
        <a:sy n="1" d="1"/>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BDA001F-7F84-4EB7-A0BF-198429B52FA2}" type="datetimeFigureOut">
              <a:rPr lang="en-US" smtClean="0"/>
              <a:t>3/5/2026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66A27C9-D769-4489-96CB-255E56E6E51E}" type="slidenum">
              <a:rPr lang="en-US" smtClean="0"/>
              <a:t>‹#›</a:t>
            </a:fld>
            <a:endParaRPr lang="en-US"/>
          </a:p>
        </p:txBody>
      </p:sp>
    </p:spTree>
    <p:extLst>
      <p:ext uri="{BB962C8B-B14F-4D97-AF65-F5344CB8AC3E}">
        <p14:creationId xmlns:p14="http://schemas.microsoft.com/office/powerpoint/2010/main" val="36805728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We used real professional tennis match data from 2018–2023 for every ATP match: who won, who lost, what surface they played on (grass, clay, etc.), their ages, heights, and rankings. </a:t>
            </a:r>
            <a:endParaRPr lang="en-US" dirty="0"/>
          </a:p>
        </p:txBody>
      </p:sp>
      <p:sp>
        <p:nvSpPr>
          <p:cNvPr id="4" name="Slide Number Placeholder 3"/>
          <p:cNvSpPr>
            <a:spLocks noGrp="1"/>
          </p:cNvSpPr>
          <p:nvPr>
            <p:ph type="sldNum" sz="quarter" idx="5"/>
          </p:nvPr>
        </p:nvSpPr>
        <p:spPr/>
        <p:txBody>
          <a:bodyPr/>
          <a:lstStyle/>
          <a:p>
            <a:fld id="{666A27C9-D769-4489-96CB-255E56E6E51E}" type="slidenum">
              <a:rPr lang="en-US" smtClean="0"/>
              <a:t>4</a:t>
            </a:fld>
            <a:endParaRPr lang="en-US"/>
          </a:p>
        </p:txBody>
      </p:sp>
    </p:spTree>
    <p:extLst>
      <p:ext uri="{BB962C8B-B14F-4D97-AF65-F5344CB8AC3E}">
        <p14:creationId xmlns:p14="http://schemas.microsoft.com/office/powerpoint/2010/main" val="41003764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We used real professional tennis match data from 2018–2023 for every ATP match: who won, who lost, what surface they played on (grass, clay, etc.), their ages, heights, and rankings. </a:t>
            </a:r>
            <a:endParaRPr lang="en-US" dirty="0"/>
          </a:p>
        </p:txBody>
      </p:sp>
      <p:sp>
        <p:nvSpPr>
          <p:cNvPr id="4" name="Slide Number Placeholder 3"/>
          <p:cNvSpPr>
            <a:spLocks noGrp="1"/>
          </p:cNvSpPr>
          <p:nvPr>
            <p:ph type="sldNum" sz="quarter" idx="5"/>
          </p:nvPr>
        </p:nvSpPr>
        <p:spPr/>
        <p:txBody>
          <a:bodyPr/>
          <a:lstStyle/>
          <a:p>
            <a:fld id="{666A27C9-D769-4489-96CB-255E56E6E51E}" type="slidenum">
              <a:rPr lang="en-US" smtClean="0"/>
              <a:t>5</a:t>
            </a:fld>
            <a:endParaRPr lang="en-US"/>
          </a:p>
        </p:txBody>
      </p:sp>
    </p:spTree>
    <p:extLst>
      <p:ext uri="{BB962C8B-B14F-4D97-AF65-F5344CB8AC3E}">
        <p14:creationId xmlns:p14="http://schemas.microsoft.com/office/powerpoint/2010/main" val="23297570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Every tennis player gets a unique number (ID). We use these instead of names because names can have typos or duplicates. We also remove players with very few matches (&lt;8) because we can't learn much about someone from just a couple games. We need enough "evidence" per player to make fair comparisons.</a:t>
            </a:r>
            <a:endParaRPr lang="en-US" dirty="0"/>
          </a:p>
        </p:txBody>
      </p:sp>
      <p:sp>
        <p:nvSpPr>
          <p:cNvPr id="4" name="Slide Number Placeholder 3"/>
          <p:cNvSpPr>
            <a:spLocks noGrp="1"/>
          </p:cNvSpPr>
          <p:nvPr>
            <p:ph type="sldNum" sz="quarter" idx="5"/>
          </p:nvPr>
        </p:nvSpPr>
        <p:spPr/>
        <p:txBody>
          <a:bodyPr/>
          <a:lstStyle/>
          <a:p>
            <a:fld id="{666A27C9-D769-4489-96CB-255E56E6E51E}" type="slidenum">
              <a:rPr lang="en-US" smtClean="0"/>
              <a:t>6</a:t>
            </a:fld>
            <a:endParaRPr lang="en-US"/>
          </a:p>
        </p:txBody>
      </p:sp>
    </p:spTree>
    <p:extLst>
      <p:ext uri="{BB962C8B-B14F-4D97-AF65-F5344CB8AC3E}">
        <p14:creationId xmlns:p14="http://schemas.microsoft.com/office/powerpoint/2010/main" val="21132938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We predict the future using only the past. We train our model on all matches </a:t>
            </a:r>
            <a:r>
              <a:rPr lang="en-US" sz="1200" b="0" i="1" kern="1200" dirty="0">
                <a:solidFill>
                  <a:schemeClr val="tx1"/>
                </a:solidFill>
                <a:effectLst/>
                <a:latin typeface="+mn-lt"/>
                <a:ea typeface="+mn-ea"/>
                <a:cs typeface="+mn-cs"/>
              </a:rPr>
              <a:t>before</a:t>
            </a:r>
            <a:r>
              <a:rPr lang="en-US" sz="1200" b="0" i="0" kern="1200" dirty="0">
                <a:solidFill>
                  <a:schemeClr val="tx1"/>
                </a:solidFill>
                <a:effectLst/>
                <a:latin typeface="+mn-lt"/>
                <a:ea typeface="+mn-ea"/>
                <a:cs typeface="+mn-cs"/>
              </a:rPr>
              <a:t> Wimbledon 2023, then test it by predicting Wimbledon 2023 results. </a:t>
            </a:r>
            <a:endParaRPr lang="en-US" dirty="0"/>
          </a:p>
        </p:txBody>
      </p:sp>
      <p:sp>
        <p:nvSpPr>
          <p:cNvPr id="4" name="Slide Number Placeholder 3"/>
          <p:cNvSpPr>
            <a:spLocks noGrp="1"/>
          </p:cNvSpPr>
          <p:nvPr>
            <p:ph type="sldNum" sz="quarter" idx="5"/>
          </p:nvPr>
        </p:nvSpPr>
        <p:spPr/>
        <p:txBody>
          <a:bodyPr/>
          <a:lstStyle/>
          <a:p>
            <a:fld id="{666A27C9-D769-4489-96CB-255E56E6E51E}" type="slidenum">
              <a:rPr lang="en-US" smtClean="0"/>
              <a:t>7</a:t>
            </a:fld>
            <a:endParaRPr lang="en-US"/>
          </a:p>
        </p:txBody>
      </p:sp>
    </p:spTree>
    <p:extLst>
      <p:ext uri="{BB962C8B-B14F-4D97-AF65-F5344CB8AC3E}">
        <p14:creationId xmlns:p14="http://schemas.microsoft.com/office/powerpoint/2010/main" val="27813894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Each match becomes two rows: "Player A beat Player B" (yes=1) and "Player B beat Player A" (no=0). This symmetry makes our model fair; it doesn't secretly favor whoever is listed first. We also calculate differences between players (rank difference, height difference, etc.) and flip their signs for the reversed row. Think of it as looking at a matchup from both players' perspectives equally.</a:t>
            </a:r>
            <a:endParaRPr lang="en-US" dirty="0"/>
          </a:p>
        </p:txBody>
      </p:sp>
      <p:sp>
        <p:nvSpPr>
          <p:cNvPr id="4" name="Slide Number Placeholder 3"/>
          <p:cNvSpPr>
            <a:spLocks noGrp="1"/>
          </p:cNvSpPr>
          <p:nvPr>
            <p:ph type="sldNum" sz="quarter" idx="5"/>
          </p:nvPr>
        </p:nvSpPr>
        <p:spPr/>
        <p:txBody>
          <a:bodyPr/>
          <a:lstStyle/>
          <a:p>
            <a:fld id="{666A27C9-D769-4489-96CB-255E56E6E51E}" type="slidenum">
              <a:rPr lang="en-US" smtClean="0"/>
              <a:t>8</a:t>
            </a:fld>
            <a:endParaRPr lang="en-US"/>
          </a:p>
        </p:txBody>
      </p:sp>
    </p:spTree>
    <p:extLst>
      <p:ext uri="{BB962C8B-B14F-4D97-AF65-F5344CB8AC3E}">
        <p14:creationId xmlns:p14="http://schemas.microsoft.com/office/powerpoint/2010/main" val="35333079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Different stats have different scales (for example rankings go to 1000+, heights are around 180cm, ages around 25. We standardize everything so each stat has a similar range; converting all measurements to the same units. Crucially, we only use training data statistics to do this and never peek at test data. This prevents cheating and keeps our evaluation trustworthy.</a:t>
            </a:r>
            <a:endParaRPr lang="en-US" dirty="0"/>
          </a:p>
        </p:txBody>
      </p:sp>
      <p:sp>
        <p:nvSpPr>
          <p:cNvPr id="4" name="Slide Number Placeholder 3"/>
          <p:cNvSpPr>
            <a:spLocks noGrp="1"/>
          </p:cNvSpPr>
          <p:nvPr>
            <p:ph type="sldNum" sz="quarter" idx="5"/>
          </p:nvPr>
        </p:nvSpPr>
        <p:spPr/>
        <p:txBody>
          <a:bodyPr/>
          <a:lstStyle/>
          <a:p>
            <a:fld id="{666A27C9-D769-4489-96CB-255E56E6E51E}" type="slidenum">
              <a:rPr lang="en-US" smtClean="0"/>
              <a:t>9</a:t>
            </a:fld>
            <a:endParaRPr lang="en-US"/>
          </a:p>
        </p:txBody>
      </p:sp>
    </p:spTree>
    <p:extLst>
      <p:ext uri="{BB962C8B-B14F-4D97-AF65-F5344CB8AC3E}">
        <p14:creationId xmlns:p14="http://schemas.microsoft.com/office/powerpoint/2010/main" val="1805020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Bradley-Terry (BT) model gives every player a single "skill score." The bigger the difference between two players' scores, the more likely the higher-rated player wins. It's like a power ranking, but mathematically rigorous. "Static" means each player gets ONE score for all time; it can't capture players improving or declining. We fit this using two methods: MCMC (slow but thorough) and VI (fast approximation).</a:t>
            </a:r>
            <a:endParaRPr lang="en-US" dirty="0"/>
          </a:p>
        </p:txBody>
      </p:sp>
      <p:sp>
        <p:nvSpPr>
          <p:cNvPr id="4" name="Slide Number Placeholder 3"/>
          <p:cNvSpPr>
            <a:spLocks noGrp="1"/>
          </p:cNvSpPr>
          <p:nvPr>
            <p:ph type="sldNum" sz="quarter" idx="5"/>
          </p:nvPr>
        </p:nvSpPr>
        <p:spPr/>
        <p:txBody>
          <a:bodyPr/>
          <a:lstStyle/>
          <a:p>
            <a:fld id="{666A27C9-D769-4489-96CB-255E56E6E51E}" type="slidenum">
              <a:rPr lang="en-US" smtClean="0"/>
              <a:t>10</a:t>
            </a:fld>
            <a:endParaRPr lang="en-US"/>
          </a:p>
        </p:txBody>
      </p:sp>
    </p:spTree>
    <p:extLst>
      <p:ext uri="{BB962C8B-B14F-4D97-AF65-F5344CB8AC3E}">
        <p14:creationId xmlns:p14="http://schemas.microsoft.com/office/powerpoint/2010/main" val="97545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Key improvement:</a:t>
            </a:r>
            <a:r>
              <a:rPr lang="en-US" sz="1200" b="0" i="0" kern="1200" dirty="0">
                <a:solidFill>
                  <a:schemeClr val="tx1"/>
                </a:solidFill>
                <a:effectLst/>
                <a:latin typeface="+mn-lt"/>
                <a:ea typeface="+mn-ea"/>
                <a:cs typeface="+mn-cs"/>
              </a:rPr>
              <a:t> Now each player's skill can </a:t>
            </a:r>
            <a:r>
              <a:rPr lang="en-US" sz="1200" b="0" i="1" kern="1200" dirty="0">
                <a:solidFill>
                  <a:schemeClr val="tx1"/>
                </a:solidFill>
                <a:effectLst/>
                <a:latin typeface="+mn-lt"/>
                <a:ea typeface="+mn-ea"/>
                <a:cs typeface="+mn-cs"/>
              </a:rPr>
              <a:t>change over time</a:t>
            </a:r>
            <a:r>
              <a:rPr lang="en-US" sz="1200" b="0" i="0" kern="1200" dirty="0">
                <a:solidFill>
                  <a:schemeClr val="tx1"/>
                </a:solidFill>
                <a:effectLst/>
                <a:latin typeface="+mn-lt"/>
                <a:ea typeface="+mn-ea"/>
                <a:cs typeface="+mn-cs"/>
              </a:rPr>
              <a:t> (every 3 months). Carlos Alcaraz was rising fast; older players were declining. The model uses a "random walk“; each quarter, a player's skill shifts slightly from last quarter. We also "center" all skills each period so the average is zero, which prevents the math from breaking. This is like updating power rankings each season instead of using one forever.</a:t>
            </a:r>
            <a:endParaRPr lang="en-US" dirty="0"/>
          </a:p>
        </p:txBody>
      </p:sp>
      <p:sp>
        <p:nvSpPr>
          <p:cNvPr id="4" name="Slide Number Placeholder 3"/>
          <p:cNvSpPr>
            <a:spLocks noGrp="1"/>
          </p:cNvSpPr>
          <p:nvPr>
            <p:ph type="sldNum" sz="quarter" idx="5"/>
          </p:nvPr>
        </p:nvSpPr>
        <p:spPr/>
        <p:txBody>
          <a:bodyPr/>
          <a:lstStyle/>
          <a:p>
            <a:fld id="{666A27C9-D769-4489-96CB-255E56E6E51E}" type="slidenum">
              <a:rPr lang="en-US" smtClean="0"/>
              <a:t>11</a:t>
            </a:fld>
            <a:endParaRPr lang="en-US"/>
          </a:p>
        </p:txBody>
      </p:sp>
    </p:spTree>
    <p:extLst>
      <p:ext uri="{BB962C8B-B14F-4D97-AF65-F5344CB8AC3E}">
        <p14:creationId xmlns:p14="http://schemas.microsoft.com/office/powerpoint/2010/main" val="24491476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We add extra information on top of skill scores: surface type, match format (best-of-3 vs best-of-5), rank difference, age difference, and height difference. Some players are better on grass; taller players may have serve advantages. The model learns </a:t>
            </a:r>
            <a:r>
              <a:rPr lang="en-US" sz="1200" b="0" i="1" kern="1200" dirty="0">
                <a:solidFill>
                  <a:schemeClr val="tx1"/>
                </a:solidFill>
                <a:effectLst/>
                <a:latin typeface="+mn-lt"/>
                <a:ea typeface="+mn-ea"/>
                <a:cs typeface="+mn-cs"/>
              </a:rPr>
              <a:t>how much</a:t>
            </a:r>
            <a:r>
              <a:rPr lang="en-US" sz="1200" b="0" i="0" kern="1200" dirty="0">
                <a:solidFill>
                  <a:schemeClr val="tx1"/>
                </a:solidFill>
                <a:effectLst/>
                <a:latin typeface="+mn-lt"/>
                <a:ea typeface="+mn-ea"/>
                <a:cs typeface="+mn-cs"/>
              </a:rPr>
              <a:t> each factor matters. It's like predicting a test score using both past grades AND study habits; more info should mean better predictions.</a:t>
            </a:r>
            <a:endParaRPr lang="en-US" dirty="0"/>
          </a:p>
        </p:txBody>
      </p:sp>
      <p:sp>
        <p:nvSpPr>
          <p:cNvPr id="4" name="Slide Number Placeholder 3"/>
          <p:cNvSpPr>
            <a:spLocks noGrp="1"/>
          </p:cNvSpPr>
          <p:nvPr>
            <p:ph type="sldNum" sz="quarter" idx="5"/>
          </p:nvPr>
        </p:nvSpPr>
        <p:spPr/>
        <p:txBody>
          <a:bodyPr/>
          <a:lstStyle/>
          <a:p>
            <a:fld id="{666A27C9-D769-4489-96CB-255E56E6E51E}" type="slidenum">
              <a:rPr lang="en-US" smtClean="0"/>
              <a:t>12</a:t>
            </a:fld>
            <a:endParaRPr lang="en-US"/>
          </a:p>
        </p:txBody>
      </p:sp>
    </p:spTree>
    <p:extLst>
      <p:ext uri="{BB962C8B-B14F-4D97-AF65-F5344CB8AC3E}">
        <p14:creationId xmlns:p14="http://schemas.microsoft.com/office/powerpoint/2010/main" val="1835678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We use our trained models to predict Wimbledon 2023 match outcomes. For each match, the model produces a probability (e.g., "70% chance Player A wins"). For Bayesian models, we average across thousands of possible "skill worlds" from our posterior — this naturally accounts for uncertainty. It's like asking 3,000 experts and averaging their opinions instead of trusting just one.</a:t>
            </a:r>
          </a:p>
          <a:p>
            <a:br>
              <a:rPr lang="en-US" dirty="0"/>
            </a:br>
            <a:endParaRPr lang="en-US" dirty="0"/>
          </a:p>
        </p:txBody>
      </p:sp>
      <p:sp>
        <p:nvSpPr>
          <p:cNvPr id="4" name="Slide Number Placeholder 3"/>
          <p:cNvSpPr>
            <a:spLocks noGrp="1"/>
          </p:cNvSpPr>
          <p:nvPr>
            <p:ph type="sldNum" sz="quarter" idx="5"/>
          </p:nvPr>
        </p:nvSpPr>
        <p:spPr/>
        <p:txBody>
          <a:bodyPr/>
          <a:lstStyle/>
          <a:p>
            <a:fld id="{666A27C9-D769-4489-96CB-255E56E6E51E}" type="slidenum">
              <a:rPr lang="en-US" smtClean="0"/>
              <a:t>13</a:t>
            </a:fld>
            <a:endParaRPr lang="en-US"/>
          </a:p>
        </p:txBody>
      </p:sp>
    </p:spTree>
    <p:extLst>
      <p:ext uri="{BB962C8B-B14F-4D97-AF65-F5344CB8AC3E}">
        <p14:creationId xmlns:p14="http://schemas.microsoft.com/office/powerpoint/2010/main" val="1566363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This is a simpler, non-Bayesian comparison model. Instead of exploring thousands of possible skill values, it finds the single "best guess" for each player's skill using optimization. The "ridge" penalty prevents extreme values for players with few matches. Think of it as the straightforward approach vs. the fancy Bayesian approach. We include it to see if the extra complexity of Bayesian methods actually helps.</a:t>
            </a:r>
            <a:endParaRPr lang="en-US" dirty="0"/>
          </a:p>
        </p:txBody>
      </p:sp>
      <p:sp>
        <p:nvSpPr>
          <p:cNvPr id="4" name="Slide Number Placeholder 3"/>
          <p:cNvSpPr>
            <a:spLocks noGrp="1"/>
          </p:cNvSpPr>
          <p:nvPr>
            <p:ph type="sldNum" sz="quarter" idx="5"/>
          </p:nvPr>
        </p:nvSpPr>
        <p:spPr/>
        <p:txBody>
          <a:bodyPr/>
          <a:lstStyle/>
          <a:p>
            <a:fld id="{666A27C9-D769-4489-96CB-255E56E6E51E}" type="slidenum">
              <a:rPr lang="en-US" smtClean="0"/>
              <a:t>14</a:t>
            </a:fld>
            <a:endParaRPr lang="en-US"/>
          </a:p>
        </p:txBody>
      </p:sp>
    </p:spTree>
    <p:extLst>
      <p:ext uri="{BB962C8B-B14F-4D97-AF65-F5344CB8AC3E}">
        <p14:creationId xmlns:p14="http://schemas.microsoft.com/office/powerpoint/2010/main" val="42647730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Key finding:</a:t>
            </a:r>
            <a:r>
              <a:rPr lang="en-US" sz="1200" b="0" i="0" kern="1200" dirty="0">
                <a:solidFill>
                  <a:schemeClr val="tx1"/>
                </a:solidFill>
                <a:effectLst/>
                <a:latin typeface="+mn-lt"/>
                <a:ea typeface="+mn-ea"/>
                <a:cs typeface="+mn-cs"/>
              </a:rPr>
              <a:t> The Dynamic BT model wins! It has the lowest log loss (0.5588) and Brier score (0.1878), meaning its probability predictions are most accurate. The static models and frequentist baseline all performed similarly (~0.572 log loss). </a:t>
            </a:r>
            <a:r>
              <a:rPr lang="en-US" sz="1200" b="1" i="0" kern="1200" dirty="0">
                <a:solidFill>
                  <a:schemeClr val="tx1"/>
                </a:solidFill>
                <a:effectLst/>
                <a:latin typeface="+mn-lt"/>
                <a:ea typeface="+mn-ea"/>
                <a:cs typeface="+mn-cs"/>
              </a:rPr>
              <a:t>Takeaway:</a:t>
            </a:r>
            <a:r>
              <a:rPr lang="en-US" sz="1200" b="0" i="0" kern="1200" dirty="0">
                <a:solidFill>
                  <a:schemeClr val="tx1"/>
                </a:solidFill>
                <a:effectLst/>
                <a:latin typeface="+mn-lt"/>
                <a:ea typeface="+mn-ea"/>
                <a:cs typeface="+mn-cs"/>
              </a:rPr>
              <a:t> Allowing player skill to change over time significantly improves predictions. The calibration curve shows how well predicted probabilities match actual outcomes:  closer to the diagonal line = better calibrated.</a:t>
            </a:r>
            <a:endParaRPr lang="en-US" dirty="0"/>
          </a:p>
        </p:txBody>
      </p:sp>
      <p:sp>
        <p:nvSpPr>
          <p:cNvPr id="4" name="Slide Number Placeholder 3"/>
          <p:cNvSpPr>
            <a:spLocks noGrp="1"/>
          </p:cNvSpPr>
          <p:nvPr>
            <p:ph type="sldNum" sz="quarter" idx="5"/>
          </p:nvPr>
        </p:nvSpPr>
        <p:spPr/>
        <p:txBody>
          <a:bodyPr/>
          <a:lstStyle/>
          <a:p>
            <a:fld id="{666A27C9-D769-4489-96CB-255E56E6E51E}" type="slidenum">
              <a:rPr lang="en-US" smtClean="0"/>
              <a:t>15</a:t>
            </a:fld>
            <a:endParaRPr lang="en-US"/>
          </a:p>
        </p:txBody>
      </p:sp>
    </p:spTree>
    <p:extLst>
      <p:ext uri="{BB962C8B-B14F-4D97-AF65-F5344CB8AC3E}">
        <p14:creationId xmlns:p14="http://schemas.microsoft.com/office/powerpoint/2010/main" val="16067741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Using our model, we simulate a mini-tournament thousands of times. Each simulation randomly draws a set of player skills from the posterior, then plays out each round probabilistically. After 3,000+ simulations, we count how often each player wins the title. </a:t>
            </a:r>
            <a:r>
              <a:rPr lang="en-US" sz="1200" b="1" i="0" kern="1200" dirty="0">
                <a:solidFill>
                  <a:schemeClr val="tx1"/>
                </a:solidFill>
                <a:effectLst/>
                <a:latin typeface="+mn-lt"/>
                <a:ea typeface="+mn-ea"/>
                <a:cs typeface="+mn-cs"/>
              </a:rPr>
              <a:t>Key finding:</a:t>
            </a:r>
            <a:r>
              <a:rPr lang="en-US" sz="1200" b="0" i="0" kern="1200" dirty="0">
                <a:solidFill>
                  <a:schemeClr val="tx1"/>
                </a:solidFill>
                <a:effectLst/>
                <a:latin typeface="+mn-lt"/>
                <a:ea typeface="+mn-ea"/>
                <a:cs typeface="+mn-cs"/>
              </a:rPr>
              <a:t> Carlos Alcaraz (~40% title probability) and Novak Djokovic (~25%) dominate across all bracket scenarios, confirming they were the clear favorites heading into Wimbledon 2023.</a:t>
            </a:r>
            <a:endParaRPr lang="en-US" dirty="0"/>
          </a:p>
        </p:txBody>
      </p:sp>
      <p:sp>
        <p:nvSpPr>
          <p:cNvPr id="4" name="Slide Number Placeholder 3"/>
          <p:cNvSpPr>
            <a:spLocks noGrp="1"/>
          </p:cNvSpPr>
          <p:nvPr>
            <p:ph type="sldNum" sz="quarter" idx="5"/>
          </p:nvPr>
        </p:nvSpPr>
        <p:spPr/>
        <p:txBody>
          <a:bodyPr/>
          <a:lstStyle/>
          <a:p>
            <a:fld id="{666A27C9-D769-4489-96CB-255E56E6E51E}" type="slidenum">
              <a:rPr lang="en-US" smtClean="0"/>
              <a:t>16</a:t>
            </a:fld>
            <a:endParaRPr lang="en-US"/>
          </a:p>
        </p:txBody>
      </p:sp>
    </p:spTree>
    <p:extLst>
      <p:ext uri="{BB962C8B-B14F-4D97-AF65-F5344CB8AC3E}">
        <p14:creationId xmlns:p14="http://schemas.microsoft.com/office/powerpoint/2010/main" val="15483854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a:prstGeom prst="rect">
            <a:avLst/>
          </a:prstGeo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0124B8EE-95E4-114D-8C4E-09696D78333A}" type="datetimeFigureOut">
              <a:rPr lang="en-US" smtClean="0"/>
              <a:t>3/5/2026</a:t>
            </a:fld>
            <a:endParaRPr lang="en-US"/>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66786249-4287-F349-956E-A1B2D45691BF}" type="slidenum">
              <a:rPr lang="en-US" smtClean="0"/>
              <a:t>‹#›</a:t>
            </a:fld>
            <a:endParaRPr lang="en-US"/>
          </a:p>
        </p:txBody>
      </p:sp>
    </p:spTree>
    <p:extLst>
      <p:ext uri="{BB962C8B-B14F-4D97-AF65-F5344CB8AC3E}">
        <p14:creationId xmlns:p14="http://schemas.microsoft.com/office/powerpoint/2010/main" val="1306904531"/>
      </p:ext>
    </p:extLst>
  </p:cSld>
  <p:clrMapOvr>
    <a:masterClrMapping/>
  </p:clrMapOvr>
  <mc:AlternateContent xmlns:mc="http://schemas.openxmlformats.org/markup-compatibility/2006" xmlns:p14="http://schemas.microsoft.com/office/powerpoint/2010/main">
    <mc:Choice Requires="p14">
      <p:transition spd="slow" p14:dur="6000" advClick="0" advTm="14000"/>
    </mc:Choice>
    <mc:Fallback xmlns="">
      <p:transition spd="slow" advClick="0" advTm="1400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325563"/>
          </a:xfrm>
          <a:prstGeom prst="rect">
            <a:avLst/>
          </a:prstGeom>
        </p:spPr>
        <p:txBody>
          <a:bodyPr/>
          <a:lstStyle/>
          <a:p>
            <a:r>
              <a:rPr lang="en-US"/>
              <a:t>Click to edit Master title style</a:t>
            </a:r>
            <a:endParaRPr lang="en-US" dirty="0"/>
          </a:p>
        </p:txBody>
      </p:sp>
      <p:sp>
        <p:nvSpPr>
          <p:cNvPr id="3" name="Content Placeholder 2"/>
          <p:cNvSpPr>
            <a:spLocks noGrp="1"/>
          </p:cNvSpPr>
          <p:nvPr>
            <p:ph idx="1"/>
          </p:nvPr>
        </p:nvSpPr>
        <p:spPr>
          <a:xfrm>
            <a:off x="628650" y="1825625"/>
            <a:ext cx="78867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0124B8EE-95E4-114D-8C4E-09696D78333A}" type="datetimeFigureOut">
              <a:rPr lang="en-US" smtClean="0"/>
              <a:t>3/5/2026</a:t>
            </a:fld>
            <a:endParaRPr lang="en-US"/>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66786249-4287-F349-956E-A1B2D45691BF}" type="slidenum">
              <a:rPr lang="en-US" smtClean="0"/>
              <a:t>‹#›</a:t>
            </a:fld>
            <a:endParaRPr lang="en-US"/>
          </a:p>
        </p:txBody>
      </p:sp>
    </p:spTree>
    <p:extLst>
      <p:ext uri="{BB962C8B-B14F-4D97-AF65-F5344CB8AC3E}">
        <p14:creationId xmlns:p14="http://schemas.microsoft.com/office/powerpoint/2010/main" val="404131982"/>
      </p:ext>
    </p:extLst>
  </p:cSld>
  <p:clrMapOvr>
    <a:masterClrMapping/>
  </p:clrMapOvr>
  <mc:AlternateContent xmlns:mc="http://schemas.openxmlformats.org/markup-compatibility/2006" xmlns:p14="http://schemas.microsoft.com/office/powerpoint/2010/main">
    <mc:Choice Requires="p14">
      <p:transition spd="slow" p14:dur="6000" advClick="0" advTm="14000"/>
    </mc:Choice>
    <mc:Fallback xmlns="">
      <p:transition spd="slow" advClick="0" advTm="1400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a:prstGeom prst="rect">
            <a:avLst/>
          </a:prstGeo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a:prstGeom prst="rect">
            <a:avLst/>
          </a:prstGeo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0124B8EE-95E4-114D-8C4E-09696D78333A}" type="datetimeFigureOut">
              <a:rPr lang="en-US" smtClean="0"/>
              <a:t>3/5/2026</a:t>
            </a:fld>
            <a:endParaRPr lang="en-US"/>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66786249-4287-F349-956E-A1B2D45691BF}" type="slidenum">
              <a:rPr lang="en-US" smtClean="0"/>
              <a:t>‹#›</a:t>
            </a:fld>
            <a:endParaRPr lang="en-US"/>
          </a:p>
        </p:txBody>
      </p:sp>
    </p:spTree>
    <p:extLst>
      <p:ext uri="{BB962C8B-B14F-4D97-AF65-F5344CB8AC3E}">
        <p14:creationId xmlns:p14="http://schemas.microsoft.com/office/powerpoint/2010/main" val="669454620"/>
      </p:ext>
    </p:extLst>
  </p:cSld>
  <p:clrMapOvr>
    <a:masterClrMapping/>
  </p:clrMapOvr>
  <mc:AlternateContent xmlns:mc="http://schemas.openxmlformats.org/markup-compatibility/2006" xmlns:p14="http://schemas.microsoft.com/office/powerpoint/2010/main">
    <mc:Choice Requires="p14">
      <p:transition spd="slow" p14:dur="6000" advClick="0" advTm="14000"/>
    </mc:Choice>
    <mc:Fallback xmlns="">
      <p:transition spd="slow" advClick="0" advTm="1400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325563"/>
          </a:xfrm>
          <a:prstGeom prst="rect">
            <a:avLst/>
          </a:prstGeom>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628650" y="6356351"/>
            <a:ext cx="2057400" cy="365125"/>
          </a:xfrm>
          <a:prstGeom prst="rect">
            <a:avLst/>
          </a:prstGeom>
        </p:spPr>
        <p:txBody>
          <a:bodyPr/>
          <a:lstStyle/>
          <a:p>
            <a:fld id="{0124B8EE-95E4-114D-8C4E-09696D78333A}" type="datetimeFigureOut">
              <a:rPr lang="en-US" smtClean="0"/>
              <a:t>3/5/2026</a:t>
            </a:fld>
            <a:endParaRPr lang="en-US"/>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66786249-4287-F349-956E-A1B2D45691BF}" type="slidenum">
              <a:rPr lang="en-US" smtClean="0"/>
              <a:t>‹#›</a:t>
            </a:fld>
            <a:endParaRPr lang="en-US"/>
          </a:p>
        </p:txBody>
      </p:sp>
    </p:spTree>
    <p:extLst>
      <p:ext uri="{BB962C8B-B14F-4D97-AF65-F5344CB8AC3E}">
        <p14:creationId xmlns:p14="http://schemas.microsoft.com/office/powerpoint/2010/main" val="1443074263"/>
      </p:ext>
    </p:extLst>
  </p:cSld>
  <p:clrMapOvr>
    <a:masterClrMapping/>
  </p:clrMapOvr>
  <mc:AlternateContent xmlns:mc="http://schemas.openxmlformats.org/markup-compatibility/2006" xmlns:p14="http://schemas.microsoft.com/office/powerpoint/2010/main">
    <mc:Choice Requires="p14">
      <p:transition spd="slow" p14:dur="6000" advClick="0" advTm="14000"/>
    </mc:Choice>
    <mc:Fallback xmlns="">
      <p:transition spd="slow" advClick="0" advTm="1400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a:prstGeom prst="rect">
            <a:avLst/>
          </a:prstGeo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628650" y="6356351"/>
            <a:ext cx="2057400" cy="365125"/>
          </a:xfrm>
          <a:prstGeom prst="rect">
            <a:avLst/>
          </a:prstGeom>
        </p:spPr>
        <p:txBody>
          <a:bodyPr/>
          <a:lstStyle/>
          <a:p>
            <a:fld id="{0124B8EE-95E4-114D-8C4E-09696D78333A}" type="datetimeFigureOut">
              <a:rPr lang="en-US" smtClean="0"/>
              <a:t>3/5/2026</a:t>
            </a:fld>
            <a:endParaRPr lang="en-US"/>
          </a:p>
        </p:txBody>
      </p:sp>
      <p:sp>
        <p:nvSpPr>
          <p:cNvPr id="8" name="Footer Placeholder 7"/>
          <p:cNvSpPr>
            <a:spLocks noGrp="1"/>
          </p:cNvSpPr>
          <p:nvPr>
            <p:ph type="ftr" sz="quarter" idx="11"/>
          </p:nvPr>
        </p:nvSpPr>
        <p:spPr>
          <a:xfrm>
            <a:off x="3028950" y="6356351"/>
            <a:ext cx="30861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6457950" y="6356351"/>
            <a:ext cx="2057400" cy="365125"/>
          </a:xfrm>
          <a:prstGeom prst="rect">
            <a:avLst/>
          </a:prstGeom>
        </p:spPr>
        <p:txBody>
          <a:bodyPr/>
          <a:lstStyle/>
          <a:p>
            <a:fld id="{66786249-4287-F349-956E-A1B2D45691BF}" type="slidenum">
              <a:rPr lang="en-US" smtClean="0"/>
              <a:t>‹#›</a:t>
            </a:fld>
            <a:endParaRPr lang="en-US"/>
          </a:p>
        </p:txBody>
      </p:sp>
    </p:spTree>
    <p:extLst>
      <p:ext uri="{BB962C8B-B14F-4D97-AF65-F5344CB8AC3E}">
        <p14:creationId xmlns:p14="http://schemas.microsoft.com/office/powerpoint/2010/main" val="4007141083"/>
      </p:ext>
    </p:extLst>
  </p:cSld>
  <p:clrMapOvr>
    <a:masterClrMapping/>
  </p:clrMapOvr>
  <mc:AlternateContent xmlns:mc="http://schemas.openxmlformats.org/markup-compatibility/2006" xmlns:p14="http://schemas.microsoft.com/office/powerpoint/2010/main">
    <mc:Choice Requires="p14">
      <p:transition spd="slow" p14:dur="6000" advClick="0" advTm="14000"/>
    </mc:Choice>
    <mc:Fallback xmlns="">
      <p:transition spd="slow" advClick="0" advTm="14000"/>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325563"/>
          </a:xfrm>
          <a:prstGeom prst="rect">
            <a:avLst/>
          </a:prstGeom>
        </p:spPr>
        <p:txBody>
          <a:bodyPr/>
          <a:lstStyle/>
          <a:p>
            <a:r>
              <a:rPr lang="en-US"/>
              <a:t>Click to edit Master title style</a:t>
            </a:r>
            <a:endParaRPr lang="en-US" dirty="0"/>
          </a:p>
        </p:txBody>
      </p:sp>
      <p:sp>
        <p:nvSpPr>
          <p:cNvPr id="3" name="Date Placeholder 2"/>
          <p:cNvSpPr>
            <a:spLocks noGrp="1"/>
          </p:cNvSpPr>
          <p:nvPr>
            <p:ph type="dt" sz="half" idx="10"/>
          </p:nvPr>
        </p:nvSpPr>
        <p:spPr>
          <a:xfrm>
            <a:off x="628650" y="6356351"/>
            <a:ext cx="2057400" cy="365125"/>
          </a:xfrm>
          <a:prstGeom prst="rect">
            <a:avLst/>
          </a:prstGeom>
        </p:spPr>
        <p:txBody>
          <a:bodyPr/>
          <a:lstStyle/>
          <a:p>
            <a:fld id="{0124B8EE-95E4-114D-8C4E-09696D78333A}" type="datetimeFigureOut">
              <a:rPr lang="en-US" smtClean="0"/>
              <a:t>3/5/2026</a:t>
            </a:fld>
            <a:endParaRPr lang="en-US"/>
          </a:p>
        </p:txBody>
      </p:sp>
      <p:sp>
        <p:nvSpPr>
          <p:cNvPr id="4" name="Footer Placeholder 3"/>
          <p:cNvSpPr>
            <a:spLocks noGrp="1"/>
          </p:cNvSpPr>
          <p:nvPr>
            <p:ph type="ftr" sz="quarter" idx="11"/>
          </p:nvPr>
        </p:nvSpPr>
        <p:spPr>
          <a:xfrm>
            <a:off x="3028950" y="6356351"/>
            <a:ext cx="30861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6457950" y="6356351"/>
            <a:ext cx="2057400" cy="365125"/>
          </a:xfrm>
          <a:prstGeom prst="rect">
            <a:avLst/>
          </a:prstGeom>
        </p:spPr>
        <p:txBody>
          <a:bodyPr/>
          <a:lstStyle/>
          <a:p>
            <a:fld id="{66786249-4287-F349-956E-A1B2D45691BF}" type="slidenum">
              <a:rPr lang="en-US" smtClean="0"/>
              <a:t>‹#›</a:t>
            </a:fld>
            <a:endParaRPr lang="en-US"/>
          </a:p>
        </p:txBody>
      </p:sp>
    </p:spTree>
    <p:extLst>
      <p:ext uri="{BB962C8B-B14F-4D97-AF65-F5344CB8AC3E}">
        <p14:creationId xmlns:p14="http://schemas.microsoft.com/office/powerpoint/2010/main" val="1819115199"/>
      </p:ext>
    </p:extLst>
  </p:cSld>
  <p:clrMapOvr>
    <a:masterClrMapping/>
  </p:clrMapOvr>
  <mc:AlternateContent xmlns:mc="http://schemas.openxmlformats.org/markup-compatibility/2006" xmlns:p14="http://schemas.microsoft.com/office/powerpoint/2010/main">
    <mc:Choice Requires="p14">
      <p:transition spd="slow" p14:dur="6000" advClick="0" advTm="14000"/>
    </mc:Choice>
    <mc:Fallback xmlns="">
      <p:transition spd="slow" advClick="0" advTm="14000"/>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28650" y="6356351"/>
            <a:ext cx="2057400" cy="365125"/>
          </a:xfrm>
          <a:prstGeom prst="rect">
            <a:avLst/>
          </a:prstGeom>
        </p:spPr>
        <p:txBody>
          <a:bodyPr/>
          <a:lstStyle/>
          <a:p>
            <a:fld id="{0124B8EE-95E4-114D-8C4E-09696D78333A}" type="datetimeFigureOut">
              <a:rPr lang="en-US" smtClean="0"/>
              <a:t>3/5/2026</a:t>
            </a:fld>
            <a:endParaRPr lang="en-US"/>
          </a:p>
        </p:txBody>
      </p:sp>
      <p:sp>
        <p:nvSpPr>
          <p:cNvPr id="3" name="Footer Placeholder 2"/>
          <p:cNvSpPr>
            <a:spLocks noGrp="1"/>
          </p:cNvSpPr>
          <p:nvPr>
            <p:ph type="ftr" sz="quarter" idx="11"/>
          </p:nvPr>
        </p:nvSpPr>
        <p:spPr>
          <a:xfrm>
            <a:off x="3028950" y="6356351"/>
            <a:ext cx="30861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6457950" y="6356351"/>
            <a:ext cx="2057400" cy="365125"/>
          </a:xfrm>
          <a:prstGeom prst="rect">
            <a:avLst/>
          </a:prstGeom>
        </p:spPr>
        <p:txBody>
          <a:bodyPr/>
          <a:lstStyle/>
          <a:p>
            <a:fld id="{66786249-4287-F349-956E-A1B2D45691BF}" type="slidenum">
              <a:rPr lang="en-US" smtClean="0"/>
              <a:t>‹#›</a:t>
            </a:fld>
            <a:endParaRPr lang="en-US"/>
          </a:p>
        </p:txBody>
      </p:sp>
    </p:spTree>
    <p:extLst>
      <p:ext uri="{BB962C8B-B14F-4D97-AF65-F5344CB8AC3E}">
        <p14:creationId xmlns:p14="http://schemas.microsoft.com/office/powerpoint/2010/main" val="2462767315"/>
      </p:ext>
    </p:extLst>
  </p:cSld>
  <p:clrMapOvr>
    <a:masterClrMapping/>
  </p:clrMapOvr>
  <mc:AlternateContent xmlns:mc="http://schemas.openxmlformats.org/markup-compatibility/2006" xmlns:p14="http://schemas.microsoft.com/office/powerpoint/2010/main">
    <mc:Choice Requires="p14">
      <p:transition spd="slow" p14:dur="6000" advClick="0" advTm="14000"/>
    </mc:Choice>
    <mc:Fallback xmlns="">
      <p:transition spd="slow" advClick="0" advTm="14000"/>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a:prstGeom prst="rect">
            <a:avLst/>
          </a:prstGeo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fld id="{0124B8EE-95E4-114D-8C4E-09696D78333A}" type="datetimeFigureOut">
              <a:rPr lang="en-US" smtClean="0"/>
              <a:t>3/5/2026</a:t>
            </a:fld>
            <a:endParaRPr lang="en-US"/>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66786249-4287-F349-956E-A1B2D45691BF}" type="slidenum">
              <a:rPr lang="en-US" smtClean="0"/>
              <a:t>‹#›</a:t>
            </a:fld>
            <a:endParaRPr lang="en-US"/>
          </a:p>
        </p:txBody>
      </p:sp>
    </p:spTree>
    <p:extLst>
      <p:ext uri="{BB962C8B-B14F-4D97-AF65-F5344CB8AC3E}">
        <p14:creationId xmlns:p14="http://schemas.microsoft.com/office/powerpoint/2010/main" val="1352081861"/>
      </p:ext>
    </p:extLst>
  </p:cSld>
  <p:clrMapOvr>
    <a:masterClrMapping/>
  </p:clrMapOvr>
  <mc:AlternateContent xmlns:mc="http://schemas.openxmlformats.org/markup-compatibility/2006" xmlns:p14="http://schemas.microsoft.com/office/powerpoint/2010/main">
    <mc:Choice Requires="p14">
      <p:transition spd="slow" p14:dur="6000" advClick="0" advTm="14000"/>
    </mc:Choice>
    <mc:Fallback xmlns="">
      <p:transition spd="slow" advClick="0" advTm="14000"/>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a:prstGeom prst="rect">
            <a:avLst/>
          </a:prstGeo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a:prstGeom prst="rect">
            <a:avLst/>
          </a:prstGeo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fld id="{0124B8EE-95E4-114D-8C4E-09696D78333A}" type="datetimeFigureOut">
              <a:rPr lang="en-US" smtClean="0"/>
              <a:t>3/5/2026</a:t>
            </a:fld>
            <a:endParaRPr lang="en-US"/>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66786249-4287-F349-956E-A1B2D45691BF}" type="slidenum">
              <a:rPr lang="en-US" smtClean="0"/>
              <a:t>‹#›</a:t>
            </a:fld>
            <a:endParaRPr lang="en-US"/>
          </a:p>
        </p:txBody>
      </p:sp>
    </p:spTree>
    <p:extLst>
      <p:ext uri="{BB962C8B-B14F-4D97-AF65-F5344CB8AC3E}">
        <p14:creationId xmlns:p14="http://schemas.microsoft.com/office/powerpoint/2010/main" val="3750255306"/>
      </p:ext>
    </p:extLst>
  </p:cSld>
  <p:clrMapOvr>
    <a:masterClrMapping/>
  </p:clrMapOvr>
  <mc:AlternateContent xmlns:mc="http://schemas.openxmlformats.org/markup-compatibility/2006" xmlns:p14="http://schemas.microsoft.com/office/powerpoint/2010/main">
    <mc:Choice Requires="p14">
      <p:transition spd="slow" p14:dur="6000" advClick="0" advTm="14000"/>
    </mc:Choice>
    <mc:Fallback xmlns="">
      <p:transition spd="slow" advClick="0" advTm="14000"/>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325563"/>
          </a:xfrm>
          <a:prstGeom prst="rect">
            <a:avLst/>
          </a:prstGeo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628650" y="1825625"/>
            <a:ext cx="78867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0124B8EE-95E4-114D-8C4E-09696D78333A}" type="datetimeFigureOut">
              <a:rPr lang="en-US" smtClean="0"/>
              <a:t>3/5/2026</a:t>
            </a:fld>
            <a:endParaRPr lang="en-US"/>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66786249-4287-F349-956E-A1B2D45691BF}" type="slidenum">
              <a:rPr lang="en-US" smtClean="0"/>
              <a:t>‹#›</a:t>
            </a:fld>
            <a:endParaRPr lang="en-US"/>
          </a:p>
        </p:txBody>
      </p:sp>
    </p:spTree>
    <p:extLst>
      <p:ext uri="{BB962C8B-B14F-4D97-AF65-F5344CB8AC3E}">
        <p14:creationId xmlns:p14="http://schemas.microsoft.com/office/powerpoint/2010/main" val="2008139492"/>
      </p:ext>
    </p:extLst>
  </p:cSld>
  <p:clrMapOvr>
    <a:masterClrMapping/>
  </p:clrMapOvr>
  <mc:AlternateContent xmlns:mc="http://schemas.openxmlformats.org/markup-compatibility/2006" xmlns:p14="http://schemas.microsoft.com/office/powerpoint/2010/main">
    <mc:Choice Requires="p14">
      <p:transition spd="slow" p14:dur="6000" advClick="0" advTm="14000"/>
    </mc:Choice>
    <mc:Fallback xmlns="">
      <p:transition spd="slow" advClick="0" advTm="14000"/>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a:prstGeom prst="rect">
            <a:avLst/>
          </a:prstGeo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0124B8EE-95E4-114D-8C4E-09696D78333A}" type="datetimeFigureOut">
              <a:rPr lang="en-US" smtClean="0"/>
              <a:t>3/5/2026</a:t>
            </a:fld>
            <a:endParaRPr lang="en-US"/>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66786249-4287-F349-956E-A1B2D45691BF}" type="slidenum">
              <a:rPr lang="en-US" smtClean="0"/>
              <a:t>‹#›</a:t>
            </a:fld>
            <a:endParaRPr lang="en-US"/>
          </a:p>
        </p:txBody>
      </p:sp>
    </p:spTree>
    <p:extLst>
      <p:ext uri="{BB962C8B-B14F-4D97-AF65-F5344CB8AC3E}">
        <p14:creationId xmlns:p14="http://schemas.microsoft.com/office/powerpoint/2010/main" val="3651673978"/>
      </p:ext>
    </p:extLst>
  </p:cSld>
  <p:clrMapOvr>
    <a:masterClrMapping/>
  </p:clrMapOvr>
  <mc:AlternateContent xmlns:mc="http://schemas.openxmlformats.org/markup-compatibility/2006" xmlns:p14="http://schemas.microsoft.com/office/powerpoint/2010/main">
    <mc:Choice Requires="p14">
      <p:transition spd="slow" p14:dur="6000" advClick="0" advTm="14000"/>
    </mc:Choice>
    <mc:Fallback xmlns="">
      <p:transition spd="slow" advClick="0" advTm="14000"/>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521F2E4-D831-5549-86C6-B2931645A013}"/>
              </a:ext>
            </a:extLst>
          </p:cNvPr>
          <p:cNvSpPr/>
          <p:nvPr userDrawn="1"/>
        </p:nvSpPr>
        <p:spPr>
          <a:xfrm>
            <a:off x="53637" y="84761"/>
            <a:ext cx="8969339" cy="6688477"/>
          </a:xfrm>
          <a:prstGeom prst="rect">
            <a:avLst/>
          </a:prstGeom>
          <a:solidFill>
            <a:srgbClr val="8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pic>
        <p:nvPicPr>
          <p:cNvPr id="9" name="Picture 8">
            <a:extLst>
              <a:ext uri="{FF2B5EF4-FFF2-40B4-BE49-F238E27FC236}">
                <a16:creationId xmlns:a16="http://schemas.microsoft.com/office/drawing/2014/main" id="{57D5DF68-FA28-0A49-8DAF-C5427418A68B}"/>
              </a:ext>
            </a:extLst>
          </p:cNvPr>
          <p:cNvPicPr>
            <a:picLocks noChangeAspect="1"/>
          </p:cNvPicPr>
          <p:nvPr userDrawn="1"/>
        </p:nvPicPr>
        <p:blipFill>
          <a:blip r:embed="rId13"/>
          <a:stretch>
            <a:fillRect/>
          </a:stretch>
        </p:blipFill>
        <p:spPr>
          <a:xfrm>
            <a:off x="3300730" y="407456"/>
            <a:ext cx="2289842" cy="506944"/>
          </a:xfrm>
          <a:prstGeom prst="rect">
            <a:avLst/>
          </a:prstGeom>
        </p:spPr>
      </p:pic>
      <p:sp>
        <p:nvSpPr>
          <p:cNvPr id="10" name="Rectangle 9">
            <a:extLst>
              <a:ext uri="{FF2B5EF4-FFF2-40B4-BE49-F238E27FC236}">
                <a16:creationId xmlns:a16="http://schemas.microsoft.com/office/drawing/2014/main" id="{5A150C8F-F5D4-2A49-AAA5-B568A681278E}"/>
              </a:ext>
            </a:extLst>
          </p:cNvPr>
          <p:cNvSpPr/>
          <p:nvPr userDrawn="1"/>
        </p:nvSpPr>
        <p:spPr>
          <a:xfrm>
            <a:off x="203200" y="196521"/>
            <a:ext cx="8671560" cy="6471920"/>
          </a:xfrm>
          <a:prstGeom prst="rect">
            <a:avLst/>
          </a:prstGeom>
          <a:noFill/>
          <a:ln w="28575">
            <a:solidFill>
              <a:srgbClr val="76767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2675139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slow" p14:dur="6000" advClick="0" advTm="14000"/>
    </mc:Choice>
    <mc:Fallback xmlns="">
      <p:transition spd="slow" advClick="0" advTm="14000"/>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6">
            <a:extLst>
              <a:ext uri="{FF2B5EF4-FFF2-40B4-BE49-F238E27FC236}">
                <a16:creationId xmlns:a16="http://schemas.microsoft.com/office/drawing/2014/main" id="{622F461B-DCF3-F945-AE9F-858425C26642}"/>
              </a:ext>
            </a:extLst>
          </p:cNvPr>
          <p:cNvSpPr txBox="1"/>
          <p:nvPr/>
        </p:nvSpPr>
        <p:spPr>
          <a:xfrm>
            <a:off x="1784566" y="2257614"/>
            <a:ext cx="5574867" cy="1550296"/>
          </a:xfrm>
          <a:prstGeom prst="rect">
            <a:avLst/>
          </a:prstGeom>
          <a:noFill/>
        </p:spPr>
        <p:txBody>
          <a:bodyPr wrap="square" rtlCol="0">
            <a:spAutoFit/>
          </a:bodyPr>
          <a:lstStyle/>
          <a:p>
            <a:pPr algn="ctr">
              <a:lnSpc>
                <a:spcPts val="2920"/>
              </a:lnSpc>
            </a:pPr>
            <a:r>
              <a:rPr lang="en-US" sz="2000" b="1" dirty="0">
                <a:solidFill>
                  <a:schemeClr val="bg1"/>
                </a:solidFill>
                <a:effectLst>
                  <a:outerShdw blurRad="50800" dist="38100" dir="2700000" algn="tl" rotWithShape="0">
                    <a:prstClr val="black">
                      <a:alpha val="40000"/>
                    </a:prstClr>
                  </a:outerShdw>
                </a:effectLst>
                <a:latin typeface="Montserrat" pitchFamily="2" charset="77"/>
              </a:rPr>
              <a:t>Bayesian ML w GenAI </a:t>
            </a:r>
            <a:br>
              <a:rPr lang="en-US" sz="2000" b="1" dirty="0">
                <a:solidFill>
                  <a:schemeClr val="bg1"/>
                </a:solidFill>
                <a:effectLst>
                  <a:outerShdw blurRad="50800" dist="38100" dir="2700000" algn="tl" rotWithShape="0">
                    <a:prstClr val="black">
                      <a:alpha val="40000"/>
                    </a:prstClr>
                  </a:outerShdw>
                </a:effectLst>
                <a:latin typeface="Montserrat" pitchFamily="2" charset="77"/>
              </a:rPr>
            </a:br>
            <a:endParaRPr lang="en-US" sz="2000" b="1" dirty="0">
              <a:solidFill>
                <a:schemeClr val="bg1"/>
              </a:solidFill>
              <a:effectLst>
                <a:outerShdw blurRad="50800" dist="38100" dir="2700000" algn="tl" rotWithShape="0">
                  <a:prstClr val="black">
                    <a:alpha val="40000"/>
                  </a:prstClr>
                </a:outerShdw>
              </a:effectLst>
              <a:latin typeface="Montserrat" pitchFamily="2" charset="77"/>
            </a:endParaRPr>
          </a:p>
          <a:p>
            <a:pPr algn="ctr">
              <a:lnSpc>
                <a:spcPts val="2920"/>
              </a:lnSpc>
            </a:pPr>
            <a:r>
              <a:rPr lang="en-US" sz="2000" b="1" dirty="0">
                <a:solidFill>
                  <a:schemeClr val="bg1"/>
                </a:solidFill>
                <a:effectLst>
                  <a:outerShdw blurRad="50800" dist="38100" dir="2700000" algn="tl" rotWithShape="0">
                    <a:prstClr val="black">
                      <a:alpha val="40000"/>
                    </a:prstClr>
                  </a:outerShdw>
                </a:effectLst>
                <a:latin typeface="Montserrat" pitchFamily="2" charset="77"/>
              </a:rPr>
              <a:t>Posterior on the Baseline: Bayesian Tennis Tournament Predictions</a:t>
            </a:r>
            <a:endParaRPr lang="en-US" sz="2000" dirty="0">
              <a:solidFill>
                <a:schemeClr val="bg1"/>
              </a:solidFill>
              <a:effectLst>
                <a:outerShdw blurRad="50800" dist="38100" dir="2700000" algn="tl" rotWithShape="0">
                  <a:prstClr val="black">
                    <a:alpha val="40000"/>
                  </a:prstClr>
                </a:outerShdw>
              </a:effectLst>
              <a:latin typeface="Montserrat" pitchFamily="2" charset="77"/>
            </a:endParaRPr>
          </a:p>
        </p:txBody>
      </p:sp>
      <p:sp>
        <p:nvSpPr>
          <p:cNvPr id="28" name="TextBox 27">
            <a:extLst>
              <a:ext uri="{FF2B5EF4-FFF2-40B4-BE49-F238E27FC236}">
                <a16:creationId xmlns:a16="http://schemas.microsoft.com/office/drawing/2014/main" id="{3EF49CEF-B442-6648-AB44-786C0B58407B}"/>
              </a:ext>
            </a:extLst>
          </p:cNvPr>
          <p:cNvSpPr txBox="1"/>
          <p:nvPr/>
        </p:nvSpPr>
        <p:spPr>
          <a:xfrm>
            <a:off x="2787608" y="4492273"/>
            <a:ext cx="3779800" cy="806503"/>
          </a:xfrm>
          <a:prstGeom prst="rect">
            <a:avLst/>
          </a:prstGeom>
          <a:noFill/>
        </p:spPr>
        <p:txBody>
          <a:bodyPr wrap="square" rtlCol="0">
            <a:spAutoFit/>
          </a:bodyPr>
          <a:lstStyle/>
          <a:p>
            <a:pPr algn="ctr">
              <a:lnSpc>
                <a:spcPts val="2920"/>
              </a:lnSpc>
            </a:pPr>
            <a:r>
              <a:rPr lang="en-US" sz="2000" dirty="0">
                <a:solidFill>
                  <a:schemeClr val="bg1"/>
                </a:solidFill>
                <a:latin typeface="Montserrat" pitchFamily="2" charset="77"/>
              </a:rPr>
              <a:t>March 2026</a:t>
            </a:r>
          </a:p>
          <a:p>
            <a:pPr algn="ctr">
              <a:lnSpc>
                <a:spcPts val="2920"/>
              </a:lnSpc>
            </a:pPr>
            <a:r>
              <a:rPr lang="en-US" sz="2000" dirty="0">
                <a:solidFill>
                  <a:schemeClr val="bg1"/>
                </a:solidFill>
                <a:latin typeface="Montserrat" pitchFamily="2" charset="77"/>
              </a:rPr>
              <a:t>Group 4: Gupta, Liu, Miller</a:t>
            </a:r>
          </a:p>
        </p:txBody>
      </p:sp>
      <p:pic>
        <p:nvPicPr>
          <p:cNvPr id="3" name="Picture 2">
            <a:extLst>
              <a:ext uri="{FF2B5EF4-FFF2-40B4-BE49-F238E27FC236}">
                <a16:creationId xmlns:a16="http://schemas.microsoft.com/office/drawing/2014/main" id="{C83D85D3-8A3D-BA28-09B8-0E10C3641C23}"/>
              </a:ext>
            </a:extLst>
          </p:cNvPr>
          <p:cNvPicPr>
            <a:picLocks noChangeAspect="1"/>
          </p:cNvPicPr>
          <p:nvPr/>
        </p:nvPicPr>
        <p:blipFill rotWithShape="1">
          <a:blip r:embed="rId2"/>
          <a:srcRect t="59808"/>
          <a:stretch/>
        </p:blipFill>
        <p:spPr>
          <a:xfrm>
            <a:off x="2690410" y="984619"/>
            <a:ext cx="3974196" cy="626656"/>
          </a:xfrm>
          <a:prstGeom prst="rect">
            <a:avLst/>
          </a:prstGeom>
        </p:spPr>
      </p:pic>
    </p:spTree>
    <p:extLst>
      <p:ext uri="{BB962C8B-B14F-4D97-AF65-F5344CB8AC3E}">
        <p14:creationId xmlns:p14="http://schemas.microsoft.com/office/powerpoint/2010/main" val="3225803276"/>
      </p:ext>
    </p:extLst>
  </p:cSld>
  <p:clrMapOvr>
    <a:masterClrMapping/>
  </p:clrMapOvr>
  <mc:AlternateContent xmlns:mc="http://schemas.openxmlformats.org/markup-compatibility/2006" xmlns:p14="http://schemas.microsoft.com/office/powerpoint/2010/main">
    <mc:Choice Requires="p14">
      <p:transition spd="slow" p14:dur="6000" advClick="0" advTm="6000"/>
    </mc:Choice>
    <mc:Fallback xmlns="">
      <p:transition spd="slow" advClick="0" advTm="600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D33C24-7E2A-3A0C-15CB-FAB5997F5179}"/>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CDB9D940-3CA9-BC18-78B7-C2C877781CDA}"/>
              </a:ext>
            </a:extLst>
          </p:cNvPr>
          <p:cNvSpPr/>
          <p:nvPr/>
        </p:nvSpPr>
        <p:spPr>
          <a:xfrm>
            <a:off x="374650" y="1555821"/>
            <a:ext cx="8326330" cy="5601533"/>
          </a:xfrm>
          <a:prstGeom prst="rect">
            <a:avLst/>
          </a:prstGeom>
        </p:spPr>
        <p:txBody>
          <a:bodyPr wrap="square">
            <a:spAutoFit/>
          </a:bodyPr>
          <a:lstStyle/>
          <a:p>
            <a:pPr marL="171450" indent="-171450">
              <a:buFont typeface="Arial" panose="020B0604020202020204" pitchFamily="34" charset="0"/>
              <a:buChar char="•"/>
            </a:pPr>
            <a:r>
              <a:rPr lang="en-US" sz="1000" dirty="0">
                <a:solidFill>
                  <a:schemeClr val="bg1"/>
                </a:solidFill>
                <a:latin typeface="Gotham SSm A" panose="02000504050000020004" pitchFamily="2" charset="0"/>
              </a:rPr>
              <a:t>We created a rigorous, end-to-end Bayesian pipeline for modeling professional tennis (ATP) match outcomes using the Bradley–Terry (BT) paired-comparison framework. It is designed to estimate latent player skill, generate calibrated win probabilities, and simulate tournament brackets, all while adhering to best practices in temporal validation, model identifiability, and covariate encoding.</a:t>
            </a:r>
          </a:p>
          <a:p>
            <a:pPr marL="171450" indent="-171450">
              <a:buFont typeface="Arial" panose="020B0604020202020204" pitchFamily="34" charset="0"/>
              <a:buChar char="•"/>
            </a:pPr>
            <a:endParaRPr lang="en-US" sz="1000" dirty="0">
              <a:solidFill>
                <a:schemeClr val="bg1"/>
              </a:solidFill>
              <a:latin typeface="Gotham SSm A" panose="02000504050000020004" pitchFamily="2" charset="0"/>
            </a:endParaRPr>
          </a:p>
          <a:p>
            <a:pPr marL="171450" indent="-171450">
              <a:buFont typeface="Arial" panose="020B0604020202020204" pitchFamily="34" charset="0"/>
              <a:buChar char="•"/>
            </a:pPr>
            <a:r>
              <a:rPr lang="en-US" sz="1000" dirty="0">
                <a:solidFill>
                  <a:schemeClr val="bg1"/>
                </a:solidFill>
                <a:latin typeface="Gotham SSm A" panose="02000504050000020004" pitchFamily="2" charset="0"/>
              </a:rPr>
              <a:t>Findings:</a:t>
            </a:r>
          </a:p>
          <a:p>
            <a:pPr marL="171450" indent="-171450">
              <a:buFont typeface="Arial" panose="020B0604020202020204" pitchFamily="34" charset="0"/>
              <a:buChar char="•"/>
            </a:pPr>
            <a:endParaRPr lang="en-US" sz="1000" dirty="0">
              <a:solidFill>
                <a:schemeClr val="bg1"/>
              </a:solidFill>
              <a:latin typeface="Gotham SSm A" panose="02000504050000020004" pitchFamily="2" charset="0"/>
            </a:endParaRPr>
          </a:p>
          <a:p>
            <a:pPr marL="685800" lvl="1" indent="-228600">
              <a:buFont typeface="+mj-lt"/>
              <a:buAutoNum type="arabicPeriod"/>
            </a:pPr>
            <a:r>
              <a:rPr lang="en-US" sz="1000" dirty="0">
                <a:solidFill>
                  <a:schemeClr val="bg1"/>
                </a:solidFill>
                <a:latin typeface="Gotham SSm A" panose="02000504050000020004" pitchFamily="2" charset="0"/>
              </a:rPr>
              <a:t>Dynamic models outperform static ones. The Dynamic BT model achieves the best log loss (0.5588) and Brier score (0.1878), confirming that allowing player skill to evolve over time captures meaningful form changes that static models miss.</a:t>
            </a:r>
          </a:p>
          <a:p>
            <a:pPr marL="685800" lvl="1" indent="-228600">
              <a:buFont typeface="+mj-lt"/>
              <a:buAutoNum type="arabicPeriod"/>
            </a:pPr>
            <a:endParaRPr lang="en-US" sz="1000" dirty="0">
              <a:solidFill>
                <a:schemeClr val="bg1"/>
              </a:solidFill>
              <a:latin typeface="Gotham SSm A" panose="02000504050000020004" pitchFamily="2" charset="0"/>
            </a:endParaRPr>
          </a:p>
          <a:p>
            <a:pPr marL="685800" lvl="1" indent="-228600">
              <a:buFont typeface="+mj-lt"/>
              <a:buAutoNum type="arabicPeriod"/>
            </a:pPr>
            <a:r>
              <a:rPr lang="en-US" sz="1000" dirty="0">
                <a:solidFill>
                  <a:schemeClr val="bg1"/>
                </a:solidFill>
                <a:latin typeface="Gotham SSm A" panose="02000504050000020004" pitchFamily="2" charset="0"/>
              </a:rPr>
              <a:t>Covariates did not improve predictions in this setting. The Dynamic BT + Covariates model performed slightly worse than the pure Dynamic BT. The covariate posterior summary reveals that surface dummies and </a:t>
            </a:r>
            <a:r>
              <a:rPr lang="en-US" sz="1000" dirty="0" err="1">
                <a:solidFill>
                  <a:schemeClr val="bg1"/>
                </a:solidFill>
                <a:latin typeface="Gotham SSm A" panose="02000504050000020004" pitchFamily="2" charset="0"/>
              </a:rPr>
              <a:t>best_of</a:t>
            </a:r>
            <a:r>
              <a:rPr lang="en-US" sz="1000" dirty="0">
                <a:solidFill>
                  <a:schemeClr val="bg1"/>
                </a:solidFill>
                <a:latin typeface="Gotham SSm A" panose="02000504050000020004" pitchFamily="2" charset="0"/>
              </a:rPr>
              <a:t> have near-zero effects (HDI spans zero), while </a:t>
            </a:r>
            <a:r>
              <a:rPr lang="en-US" sz="1000" dirty="0" err="1">
                <a:solidFill>
                  <a:schemeClr val="bg1"/>
                </a:solidFill>
                <a:latin typeface="Gotham SSm A" panose="02000504050000020004" pitchFamily="2" charset="0"/>
              </a:rPr>
              <a:t>rank_points_diff</a:t>
            </a:r>
            <a:r>
              <a:rPr lang="en-US" sz="1000" dirty="0">
                <a:solidFill>
                  <a:schemeClr val="bg1"/>
                </a:solidFill>
                <a:latin typeface="Gotham SSm A" panose="02000504050000020004" pitchFamily="2" charset="0"/>
              </a:rPr>
              <a:t>, </a:t>
            </a:r>
            <a:r>
              <a:rPr lang="en-US" sz="1000" dirty="0" err="1">
                <a:solidFill>
                  <a:schemeClr val="bg1"/>
                </a:solidFill>
                <a:latin typeface="Gotham SSm A" panose="02000504050000020004" pitchFamily="2" charset="0"/>
              </a:rPr>
              <a:t>age_diff</a:t>
            </a:r>
            <a:r>
              <a:rPr lang="en-US" sz="1000" dirty="0">
                <a:solidFill>
                  <a:schemeClr val="bg1"/>
                </a:solidFill>
                <a:latin typeface="Gotham SSm A" panose="02000504050000020004" pitchFamily="2" charset="0"/>
              </a:rPr>
              <a:t>, and </a:t>
            </a:r>
            <a:r>
              <a:rPr lang="en-US" sz="1000" dirty="0" err="1">
                <a:solidFill>
                  <a:schemeClr val="bg1"/>
                </a:solidFill>
                <a:latin typeface="Gotham SSm A" panose="02000504050000020004" pitchFamily="2" charset="0"/>
              </a:rPr>
              <a:t>height_diff</a:t>
            </a:r>
            <a:r>
              <a:rPr lang="en-US" sz="1000" dirty="0">
                <a:solidFill>
                  <a:schemeClr val="bg1"/>
                </a:solidFill>
                <a:latin typeface="Gotham SSm A" panose="02000504050000020004" pitchFamily="2" charset="0"/>
              </a:rPr>
              <a:t> are significant but may be redundant with the latent skill already captured by the dynamic model.</a:t>
            </a:r>
          </a:p>
          <a:p>
            <a:pPr marL="685800" lvl="1" indent="-228600">
              <a:buFont typeface="+mj-lt"/>
              <a:buAutoNum type="arabicPeriod"/>
            </a:pPr>
            <a:endParaRPr lang="en-US" sz="1000" dirty="0">
              <a:solidFill>
                <a:schemeClr val="bg1"/>
              </a:solidFill>
              <a:latin typeface="Gotham SSm A" panose="02000504050000020004" pitchFamily="2" charset="0"/>
            </a:endParaRPr>
          </a:p>
          <a:p>
            <a:pPr marL="685800" lvl="1" indent="-228600">
              <a:buFont typeface="+mj-lt"/>
              <a:buAutoNum type="arabicPeriod"/>
            </a:pPr>
            <a:r>
              <a:rPr lang="en-US" sz="1000" dirty="0">
                <a:solidFill>
                  <a:schemeClr val="bg1"/>
                </a:solidFill>
                <a:latin typeface="Gotham SSm A" panose="02000504050000020004" pitchFamily="2" charset="0"/>
              </a:rPr>
              <a:t>Static models and the frequentist baseline perform nearly identically. All three static approaches (MCMC, VI, Ridge MLE) cluster tightly around 0.572 log loss, suggesting that for a single-skill-per-player model, the inference method matters less than the model structure.</a:t>
            </a:r>
          </a:p>
          <a:p>
            <a:pPr marL="685800" lvl="1" indent="-228600">
              <a:buFont typeface="+mj-lt"/>
              <a:buAutoNum type="arabicPeriod"/>
            </a:pPr>
            <a:endParaRPr lang="en-US" sz="1000" dirty="0">
              <a:solidFill>
                <a:schemeClr val="bg1"/>
              </a:solidFill>
              <a:latin typeface="Gotham SSm A" panose="02000504050000020004" pitchFamily="2" charset="0"/>
            </a:endParaRPr>
          </a:p>
          <a:p>
            <a:pPr marL="685800" lvl="1" indent="-228600">
              <a:buFont typeface="+mj-lt"/>
              <a:buAutoNum type="arabicPeriod"/>
            </a:pPr>
            <a:r>
              <a:rPr lang="en-US" sz="1000" dirty="0">
                <a:solidFill>
                  <a:schemeClr val="bg1"/>
                </a:solidFill>
                <a:latin typeface="Gotham SSm A" panose="02000504050000020004" pitchFamily="2" charset="0"/>
              </a:rPr>
              <a:t>Top-ranked players at the test period are plausible. The posterior mean skill rankings place Carlos Alcaraz (5.075) and Novak Djokovic (4.583) at the top, followed by Holger Rune, Daniil Medvedev, and Andrey Rublev, consistent with real-world form heading into Wimbledon 2023.</a:t>
            </a:r>
          </a:p>
          <a:p>
            <a:pPr marL="685800" lvl="1" indent="-228600">
              <a:buFont typeface="+mj-lt"/>
              <a:buAutoNum type="arabicPeriod"/>
            </a:pPr>
            <a:endParaRPr lang="en-US" sz="1000" dirty="0">
              <a:solidFill>
                <a:schemeClr val="bg1"/>
              </a:solidFill>
              <a:latin typeface="Gotham SSm A" panose="02000504050000020004" pitchFamily="2" charset="0"/>
            </a:endParaRPr>
          </a:p>
          <a:p>
            <a:pPr marL="685800" lvl="1" indent="-228600">
              <a:buFont typeface="+mj-lt"/>
              <a:buAutoNum type="arabicPeriod"/>
            </a:pPr>
            <a:r>
              <a:rPr lang="en-US" sz="1000" dirty="0">
                <a:solidFill>
                  <a:schemeClr val="bg1"/>
                </a:solidFill>
                <a:latin typeface="Gotham SSm A" panose="02000504050000020004" pitchFamily="2" charset="0"/>
              </a:rPr>
              <a:t>Tournament simulations reflect skill uncertainty. Across five bracket scenarios, Alcaraz consistently holds ~40% title probability and Djokovic ~25%, with draw structure having modest impact on outcomes. This demonstrates the value of posterior-predictive simulation for assessing draw sensitivity.</a:t>
            </a:r>
          </a:p>
          <a:p>
            <a:pPr marL="685800" lvl="1" indent="-228600">
              <a:buFont typeface="+mj-lt"/>
              <a:buAutoNum type="arabicPeriod"/>
            </a:pPr>
            <a:endParaRPr lang="en-US" sz="1000" dirty="0">
              <a:solidFill>
                <a:schemeClr val="bg1"/>
              </a:solidFill>
              <a:latin typeface="Gotham SSm A" panose="02000504050000020004" pitchFamily="2" charset="0"/>
            </a:endParaRPr>
          </a:p>
          <a:p>
            <a:pPr marL="685800" lvl="1" indent="-228600">
              <a:buFont typeface="+mj-lt"/>
              <a:buAutoNum type="arabicPeriod"/>
            </a:pPr>
            <a:r>
              <a:rPr lang="en-US" sz="1000" dirty="0">
                <a:solidFill>
                  <a:schemeClr val="bg1"/>
                </a:solidFill>
                <a:latin typeface="Gotham SSm A" panose="02000504050000020004" pitchFamily="2" charset="0"/>
              </a:rPr>
              <a:t>All MCMC diagnostics are healthy. R-hat values are 1.0 and ESS-bulk values are well above minimum thresholds for all monitored parameters, confirming reliable convergence.</a:t>
            </a:r>
          </a:p>
          <a:p>
            <a:pPr marL="171450" indent="-171450">
              <a:buFont typeface="Arial" panose="020B0604020202020204" pitchFamily="34" charset="0"/>
              <a:buChar char="•"/>
            </a:pPr>
            <a:endParaRPr lang="en-US" sz="1000" dirty="0">
              <a:solidFill>
                <a:schemeClr val="bg1"/>
              </a:solidFill>
              <a:latin typeface="Gotham SSm A" panose="02000504050000020004" pitchFamily="2" charset="0"/>
            </a:endParaRPr>
          </a:p>
          <a:p>
            <a:pPr marL="171450" indent="-171450">
              <a:buFont typeface="Arial" panose="020B0604020202020204" pitchFamily="34" charset="0"/>
              <a:buChar char="•"/>
            </a:pPr>
            <a:r>
              <a:rPr lang="en-US" sz="1400" b="1" dirty="0">
                <a:solidFill>
                  <a:schemeClr val="bg1"/>
                </a:solidFill>
                <a:latin typeface="Gotham SSm A" panose="02000504050000020004" pitchFamily="2" charset="0"/>
              </a:rPr>
              <a:t>Key Conclusion: For practical prediction of ATP match outcomes, the Dynamic BT model without additional covariates offers the best balance of predictive accuracy and model simplicity. Future work could explore surface-specific skill parameters, serve/return statistics as covariates, or longer training windows to further improve calibration.</a:t>
            </a:r>
          </a:p>
          <a:p>
            <a:pPr marL="171450" indent="-171450">
              <a:buFont typeface="Arial" panose="020B0604020202020204" pitchFamily="34" charset="0"/>
              <a:buChar char="•"/>
            </a:pPr>
            <a:endParaRPr lang="en-US" sz="1000" dirty="0">
              <a:solidFill>
                <a:schemeClr val="bg1"/>
              </a:solidFill>
              <a:latin typeface="Gotham SSm A" panose="02000504050000020004" pitchFamily="2" charset="0"/>
            </a:endParaRPr>
          </a:p>
          <a:p>
            <a:pPr marL="171450" indent="-171450">
              <a:buFont typeface="Arial" panose="020B0604020202020204" pitchFamily="34" charset="0"/>
              <a:buChar char="•"/>
            </a:pPr>
            <a:endParaRPr lang="en-US" sz="1000" dirty="0">
              <a:solidFill>
                <a:schemeClr val="bg1"/>
              </a:solidFill>
              <a:latin typeface="Gotham SSm A" panose="02000504050000020004" pitchFamily="2" charset="0"/>
            </a:endParaRPr>
          </a:p>
          <a:p>
            <a:endParaRPr lang="en-US" sz="1000" dirty="0">
              <a:solidFill>
                <a:schemeClr val="bg1"/>
              </a:solidFill>
              <a:latin typeface="Gotham SSm A" panose="02000504050000020004" pitchFamily="2" charset="0"/>
            </a:endParaRPr>
          </a:p>
          <a:p>
            <a:endParaRPr lang="en-US" sz="1200" dirty="0">
              <a:solidFill>
                <a:schemeClr val="bg1"/>
              </a:solidFill>
              <a:latin typeface="Gotham SSm A" panose="02000504050000020004" pitchFamily="2" charset="0"/>
            </a:endParaRPr>
          </a:p>
        </p:txBody>
      </p:sp>
      <p:sp>
        <p:nvSpPr>
          <p:cNvPr id="18" name="TextBox 17">
            <a:extLst>
              <a:ext uri="{FF2B5EF4-FFF2-40B4-BE49-F238E27FC236}">
                <a16:creationId xmlns:a16="http://schemas.microsoft.com/office/drawing/2014/main" id="{100CB7AC-5E9F-1455-1FDF-2DACAA7013A5}"/>
              </a:ext>
            </a:extLst>
          </p:cNvPr>
          <p:cNvSpPr txBox="1"/>
          <p:nvPr/>
        </p:nvSpPr>
        <p:spPr>
          <a:xfrm>
            <a:off x="255507" y="1152583"/>
            <a:ext cx="4735593" cy="307777"/>
          </a:xfrm>
          <a:prstGeom prst="rect">
            <a:avLst/>
          </a:prstGeom>
          <a:noFill/>
        </p:spPr>
        <p:txBody>
          <a:bodyPr wrap="square" rtlCol="0">
            <a:spAutoFit/>
          </a:bodyPr>
          <a:lstStyle/>
          <a:p>
            <a:pPr defTabSz="1219170">
              <a:defRPr/>
            </a:pPr>
            <a:r>
              <a:rPr lang="en-US" sz="1400" b="1" dirty="0">
                <a:solidFill>
                  <a:schemeClr val="bg1"/>
                </a:solidFill>
                <a:latin typeface="Montserrat" pitchFamily="2" charset="77"/>
              </a:rPr>
              <a:t>EXECUTIVE SUMMARY</a:t>
            </a:r>
            <a:endParaRPr lang="en-IN" sz="1400" dirty="0">
              <a:solidFill>
                <a:schemeClr val="bg1"/>
              </a:solidFill>
              <a:latin typeface="Montserrat" pitchFamily="2" charset="77"/>
            </a:endParaRPr>
          </a:p>
        </p:txBody>
      </p:sp>
      <p:sp>
        <p:nvSpPr>
          <p:cNvPr id="14" name="TextBox 13">
            <a:extLst>
              <a:ext uri="{FF2B5EF4-FFF2-40B4-BE49-F238E27FC236}">
                <a16:creationId xmlns:a16="http://schemas.microsoft.com/office/drawing/2014/main" id="{F9AAF32A-5DFD-6BDC-BF2A-7061D05B512B}"/>
              </a:ext>
            </a:extLst>
          </p:cNvPr>
          <p:cNvSpPr txBox="1"/>
          <p:nvPr/>
        </p:nvSpPr>
        <p:spPr>
          <a:xfrm>
            <a:off x="6524234" y="315387"/>
            <a:ext cx="2068011" cy="428322"/>
          </a:xfrm>
          <a:prstGeom prst="rect">
            <a:avLst/>
          </a:prstGeom>
          <a:noFill/>
        </p:spPr>
        <p:txBody>
          <a:bodyPr wrap="square" rtlCol="0">
            <a:spAutoFit/>
          </a:bodyPr>
          <a:lstStyle/>
          <a:p>
            <a:pPr algn="ctr">
              <a:lnSpc>
                <a:spcPts val="2920"/>
              </a:lnSpc>
            </a:pPr>
            <a:r>
              <a:rPr lang="en-US" sz="1600" b="1" dirty="0">
                <a:solidFill>
                  <a:schemeClr val="bg1"/>
                </a:solidFill>
                <a:effectLst>
                  <a:outerShdw blurRad="50800" dist="38100" dir="2700000" algn="tl" rotWithShape="0">
                    <a:prstClr val="black">
                      <a:alpha val="40000"/>
                    </a:prstClr>
                  </a:outerShdw>
                </a:effectLst>
                <a:latin typeface="Montserrat" pitchFamily="2" charset="77"/>
              </a:rPr>
              <a:t>Group 4</a:t>
            </a:r>
            <a:endParaRPr lang="en-US" sz="1600" dirty="0">
              <a:solidFill>
                <a:schemeClr val="bg1"/>
              </a:solidFill>
              <a:effectLst>
                <a:outerShdw blurRad="50800" dist="38100" dir="2700000" algn="tl" rotWithShape="0">
                  <a:prstClr val="black">
                    <a:alpha val="40000"/>
                  </a:prstClr>
                </a:outerShdw>
              </a:effectLst>
              <a:latin typeface="Montserrat" pitchFamily="2" charset="77"/>
            </a:endParaRPr>
          </a:p>
        </p:txBody>
      </p:sp>
      <p:sp>
        <p:nvSpPr>
          <p:cNvPr id="3" name="TextBox 2">
            <a:extLst>
              <a:ext uri="{FF2B5EF4-FFF2-40B4-BE49-F238E27FC236}">
                <a16:creationId xmlns:a16="http://schemas.microsoft.com/office/drawing/2014/main" id="{3330B95C-E87B-C4E7-3E3B-FA5D358B1C04}"/>
              </a:ext>
            </a:extLst>
          </p:cNvPr>
          <p:cNvSpPr txBox="1"/>
          <p:nvPr/>
        </p:nvSpPr>
        <p:spPr>
          <a:xfrm>
            <a:off x="160074" y="246676"/>
            <a:ext cx="3065726" cy="669029"/>
          </a:xfrm>
          <a:prstGeom prst="rect">
            <a:avLst/>
          </a:prstGeom>
          <a:noFill/>
        </p:spPr>
        <p:txBody>
          <a:bodyPr wrap="square" rtlCol="0">
            <a:spAutoFit/>
          </a:bodyPr>
          <a:lstStyle/>
          <a:p>
            <a:pPr algn="ctr">
              <a:lnSpc>
                <a:spcPts val="2920"/>
              </a:lnSpc>
            </a:pPr>
            <a:r>
              <a:rPr lang="en-US" sz="1000" b="1" dirty="0">
                <a:solidFill>
                  <a:schemeClr val="bg1"/>
                </a:solidFill>
                <a:effectLst>
                  <a:outerShdw blurRad="50800" dist="38100" dir="2700000" algn="tl" rotWithShape="0">
                    <a:prstClr val="black">
                      <a:alpha val="40000"/>
                    </a:prstClr>
                  </a:outerShdw>
                </a:effectLst>
                <a:latin typeface="Montserrat" pitchFamily="2" charset="77"/>
              </a:rPr>
              <a:t>Posterior on the Baseline: Bayesian</a:t>
            </a:r>
          </a:p>
          <a:p>
            <a:pPr algn="ctr">
              <a:lnSpc>
                <a:spcPct val="150000"/>
              </a:lnSpc>
            </a:pPr>
            <a:r>
              <a:rPr lang="en-US" sz="1000" b="1" dirty="0">
                <a:solidFill>
                  <a:schemeClr val="bg1"/>
                </a:solidFill>
                <a:effectLst>
                  <a:outerShdw blurRad="50800" dist="38100" dir="2700000" algn="tl" rotWithShape="0">
                    <a:prstClr val="black">
                      <a:alpha val="40000"/>
                    </a:prstClr>
                  </a:outerShdw>
                </a:effectLst>
                <a:latin typeface="Montserrat" pitchFamily="2" charset="77"/>
              </a:rPr>
              <a:t>Tennis Tournament Predictions</a:t>
            </a:r>
            <a:endParaRPr lang="en-US" sz="1000" dirty="0">
              <a:solidFill>
                <a:schemeClr val="bg1"/>
              </a:solidFill>
              <a:effectLst>
                <a:outerShdw blurRad="50800" dist="38100" dir="2700000" algn="tl" rotWithShape="0">
                  <a:prstClr val="black">
                    <a:alpha val="40000"/>
                  </a:prstClr>
                </a:outerShdw>
              </a:effectLst>
              <a:latin typeface="Montserrat" pitchFamily="2" charset="77"/>
            </a:endParaRPr>
          </a:p>
        </p:txBody>
      </p:sp>
    </p:spTree>
    <p:extLst>
      <p:ext uri="{BB962C8B-B14F-4D97-AF65-F5344CB8AC3E}">
        <p14:creationId xmlns:p14="http://schemas.microsoft.com/office/powerpoint/2010/main" val="2587533352"/>
      </p:ext>
    </p:extLst>
  </p:cSld>
  <p:clrMapOvr>
    <a:masterClrMapping/>
  </p:clrMapOvr>
  <mc:AlternateContent xmlns:mc="http://schemas.openxmlformats.org/markup-compatibility/2006">
    <mc:Choice xmlns:p14="http://schemas.microsoft.com/office/powerpoint/2010/main" Requires="p14">
      <p:transition spd="slow" p14:dur="6000" advClick="0" advTm="11000"/>
    </mc:Choice>
    <mc:Fallback>
      <p:transition spd="slow" advClick="0" advTm="1100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476A8B-6830-90F2-75EB-805053411C39}"/>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0E4A604D-6668-3946-B93B-7521E120EFFB}"/>
              </a:ext>
            </a:extLst>
          </p:cNvPr>
          <p:cNvSpPr/>
          <p:nvPr/>
        </p:nvSpPr>
        <p:spPr>
          <a:xfrm>
            <a:off x="374650" y="1555821"/>
            <a:ext cx="8326330" cy="5570756"/>
          </a:xfrm>
          <a:prstGeom prst="rect">
            <a:avLst/>
          </a:prstGeom>
        </p:spPr>
        <p:txBody>
          <a:bodyPr wrap="square">
            <a:spAutoFit/>
          </a:bodyPr>
          <a:lstStyle/>
          <a:p>
            <a:pPr marL="171450" indent="-171450">
              <a:buFont typeface="Arial" panose="020B0604020202020204" pitchFamily="34" charset="0"/>
              <a:buChar char="•"/>
            </a:pPr>
            <a:r>
              <a:rPr lang="en-US" sz="1000" dirty="0">
                <a:solidFill>
                  <a:schemeClr val="bg1"/>
                </a:solidFill>
                <a:latin typeface="Gotham SSm A" panose="02000504050000020004" pitchFamily="2" charset="0"/>
              </a:rPr>
              <a:t>Data &amp; Scope:</a:t>
            </a:r>
          </a:p>
          <a:p>
            <a:pPr marL="171450" indent="-171450">
              <a:buFont typeface="Arial" panose="020B0604020202020204" pitchFamily="34" charset="0"/>
              <a:buChar char="•"/>
            </a:pPr>
            <a:endParaRPr lang="en-US" sz="1000" dirty="0">
              <a:solidFill>
                <a:schemeClr val="bg1"/>
              </a:solidFill>
              <a:latin typeface="Gotham SSm A" panose="02000504050000020004" pitchFamily="2" charset="0"/>
            </a:endParaRPr>
          </a:p>
          <a:p>
            <a:pPr marL="628650" lvl="1" indent="-171450">
              <a:buFont typeface="Arial" panose="020B0604020202020204" pitchFamily="34" charset="0"/>
              <a:buChar char="•"/>
            </a:pPr>
            <a:r>
              <a:rPr lang="en-US" sz="1000" dirty="0">
                <a:solidFill>
                  <a:schemeClr val="bg1"/>
                </a:solidFill>
                <a:latin typeface="Gotham SSm A" panose="02000504050000020004" pitchFamily="2" charset="0"/>
              </a:rPr>
              <a:t>Source: Jeff Sackmann's open ATP match-level data (2018–2023).</a:t>
            </a:r>
          </a:p>
          <a:p>
            <a:pPr marL="171450" indent="-171450">
              <a:buFont typeface="Arial" panose="020B0604020202020204" pitchFamily="34" charset="0"/>
              <a:buChar char="•"/>
            </a:pPr>
            <a:endParaRPr lang="en-US" sz="1000" dirty="0">
              <a:solidFill>
                <a:schemeClr val="bg1"/>
              </a:solidFill>
              <a:latin typeface="Gotham SSm A" panose="02000504050000020004" pitchFamily="2" charset="0"/>
            </a:endParaRPr>
          </a:p>
          <a:p>
            <a:pPr marL="628650" lvl="1" indent="-171450">
              <a:buFont typeface="Arial" panose="020B0604020202020204" pitchFamily="34" charset="0"/>
              <a:buChar char="•"/>
            </a:pPr>
            <a:r>
              <a:rPr lang="en-US" sz="1000" dirty="0">
                <a:solidFill>
                  <a:schemeClr val="bg1"/>
                </a:solidFill>
                <a:latin typeface="Gotham SSm A" panose="02000504050000020004" pitchFamily="2" charset="0"/>
              </a:rPr>
              <a:t>Test event: Wimbledon 2023 is held out as a strict temporal test set; only matches occurring before the tournament begins are used for training.</a:t>
            </a:r>
          </a:p>
          <a:p>
            <a:pPr marL="171450" indent="-171450">
              <a:buFont typeface="Arial" panose="020B0604020202020204" pitchFamily="34" charset="0"/>
              <a:buChar char="•"/>
            </a:pPr>
            <a:endParaRPr lang="en-US" sz="1000" dirty="0">
              <a:solidFill>
                <a:schemeClr val="bg1"/>
              </a:solidFill>
              <a:latin typeface="Gotham SSm A" panose="02000504050000020004" pitchFamily="2" charset="0"/>
            </a:endParaRPr>
          </a:p>
          <a:p>
            <a:pPr marL="628650" lvl="1" indent="-171450">
              <a:buFont typeface="Arial" panose="020B0604020202020204" pitchFamily="34" charset="0"/>
              <a:buChar char="•"/>
            </a:pPr>
            <a:r>
              <a:rPr lang="en-US" sz="1000" dirty="0">
                <a:solidFill>
                  <a:schemeClr val="bg1"/>
                </a:solidFill>
                <a:latin typeface="Gotham SSm A" panose="02000504050000020004" pitchFamily="2" charset="0"/>
              </a:rPr>
              <a:t>Player filtering: Only players with ≥ 8 matches are retained, reducing noise from extremely sparse competitors.</a:t>
            </a:r>
          </a:p>
          <a:p>
            <a:pPr marL="628650" lvl="1" indent="-171450">
              <a:buFont typeface="Arial" panose="020B0604020202020204" pitchFamily="34" charset="0"/>
              <a:buChar char="•"/>
            </a:pPr>
            <a:endParaRPr lang="en-US" sz="1000" dirty="0">
              <a:solidFill>
                <a:schemeClr val="bg1"/>
              </a:solidFill>
              <a:latin typeface="Gotham SSm A" panose="02000504050000020004" pitchFamily="2" charset="0"/>
            </a:endParaRPr>
          </a:p>
          <a:p>
            <a:pPr marL="171450" indent="-171450">
              <a:buFont typeface="Arial" panose="020B0604020202020204" pitchFamily="34" charset="0"/>
              <a:buChar char="•"/>
            </a:pPr>
            <a:r>
              <a:rPr lang="en-US" sz="1000" dirty="0">
                <a:solidFill>
                  <a:schemeClr val="bg1"/>
                </a:solidFill>
                <a:latin typeface="Gotham SSm A" panose="02000504050000020004" pitchFamily="2" charset="0"/>
              </a:rPr>
              <a:t>Results:</a:t>
            </a:r>
          </a:p>
          <a:p>
            <a:pPr marL="171450" indent="-171450">
              <a:buFont typeface="Arial" panose="020B0604020202020204" pitchFamily="34" charset="0"/>
              <a:buChar char="•"/>
            </a:pPr>
            <a:endParaRPr lang="en-US" sz="1000" dirty="0">
              <a:solidFill>
                <a:schemeClr val="bg1"/>
              </a:solidFill>
              <a:latin typeface="Gotham SSm A" panose="02000504050000020004" pitchFamily="2" charset="0"/>
            </a:endParaRPr>
          </a:p>
          <a:p>
            <a:pPr marL="171450" indent="-171450">
              <a:buFont typeface="Arial" panose="020B0604020202020204" pitchFamily="34" charset="0"/>
              <a:buChar char="•"/>
            </a:pPr>
            <a:endParaRPr lang="en-US" sz="1000" dirty="0">
              <a:solidFill>
                <a:schemeClr val="bg1"/>
              </a:solidFill>
              <a:latin typeface="Gotham SSm A" panose="02000504050000020004" pitchFamily="2" charset="0"/>
            </a:endParaRPr>
          </a:p>
          <a:p>
            <a:pPr marL="171450" indent="-171450">
              <a:buFont typeface="Arial" panose="020B0604020202020204" pitchFamily="34" charset="0"/>
              <a:buChar char="•"/>
            </a:pPr>
            <a:endParaRPr lang="en-US" sz="1000" dirty="0">
              <a:solidFill>
                <a:schemeClr val="bg1"/>
              </a:solidFill>
              <a:latin typeface="Gotham SSm A" panose="02000504050000020004" pitchFamily="2" charset="0"/>
            </a:endParaRPr>
          </a:p>
          <a:p>
            <a:pPr marL="171450" indent="-171450">
              <a:buFont typeface="Arial" panose="020B0604020202020204" pitchFamily="34" charset="0"/>
              <a:buChar char="•"/>
            </a:pPr>
            <a:endParaRPr lang="en-US" sz="1000" dirty="0">
              <a:solidFill>
                <a:schemeClr val="bg1"/>
              </a:solidFill>
              <a:latin typeface="Gotham SSm A" panose="02000504050000020004" pitchFamily="2" charset="0"/>
            </a:endParaRPr>
          </a:p>
          <a:p>
            <a:pPr marL="171450" indent="-171450">
              <a:buFont typeface="Arial" panose="020B0604020202020204" pitchFamily="34" charset="0"/>
              <a:buChar char="•"/>
            </a:pPr>
            <a:endParaRPr lang="en-US" sz="1000" dirty="0">
              <a:solidFill>
                <a:schemeClr val="bg1"/>
              </a:solidFill>
              <a:latin typeface="Gotham SSm A" panose="02000504050000020004" pitchFamily="2" charset="0"/>
            </a:endParaRPr>
          </a:p>
          <a:p>
            <a:pPr marL="171450" indent="-171450">
              <a:buFont typeface="Arial" panose="020B0604020202020204" pitchFamily="34" charset="0"/>
              <a:buChar char="•"/>
            </a:pPr>
            <a:endParaRPr lang="en-US" sz="1000" dirty="0">
              <a:solidFill>
                <a:schemeClr val="bg1"/>
              </a:solidFill>
              <a:latin typeface="Gotham SSm A" panose="02000504050000020004" pitchFamily="2" charset="0"/>
            </a:endParaRPr>
          </a:p>
          <a:p>
            <a:pPr marL="171450" indent="-171450">
              <a:buFont typeface="Arial" panose="020B0604020202020204" pitchFamily="34" charset="0"/>
              <a:buChar char="•"/>
            </a:pPr>
            <a:endParaRPr lang="en-US" sz="1000" dirty="0">
              <a:solidFill>
                <a:schemeClr val="bg1"/>
              </a:solidFill>
              <a:latin typeface="Gotham SSm A" panose="02000504050000020004" pitchFamily="2" charset="0"/>
            </a:endParaRPr>
          </a:p>
          <a:p>
            <a:pPr marL="171450" indent="-171450">
              <a:buFont typeface="Arial" panose="020B0604020202020204" pitchFamily="34" charset="0"/>
              <a:buChar char="•"/>
            </a:pPr>
            <a:endParaRPr lang="en-US" sz="1000" dirty="0">
              <a:solidFill>
                <a:schemeClr val="bg1"/>
              </a:solidFill>
              <a:latin typeface="Gotham SSm A" panose="02000504050000020004" pitchFamily="2" charset="0"/>
            </a:endParaRPr>
          </a:p>
          <a:p>
            <a:pPr marL="171450" indent="-171450">
              <a:buFont typeface="Arial" panose="020B0604020202020204" pitchFamily="34" charset="0"/>
              <a:buChar char="•"/>
            </a:pPr>
            <a:endParaRPr lang="en-US" sz="1000" dirty="0">
              <a:solidFill>
                <a:schemeClr val="bg1"/>
              </a:solidFill>
              <a:latin typeface="Gotham SSm A" panose="02000504050000020004" pitchFamily="2" charset="0"/>
            </a:endParaRPr>
          </a:p>
          <a:p>
            <a:pPr marL="171450" indent="-171450">
              <a:buFont typeface="Arial" panose="020B0604020202020204" pitchFamily="34" charset="0"/>
              <a:buChar char="•"/>
            </a:pPr>
            <a:endParaRPr lang="en-US" sz="1000" dirty="0">
              <a:solidFill>
                <a:schemeClr val="bg1"/>
              </a:solidFill>
              <a:latin typeface="Gotham SSm A" panose="02000504050000020004" pitchFamily="2" charset="0"/>
            </a:endParaRPr>
          </a:p>
          <a:p>
            <a:pPr marL="171450" indent="-171450">
              <a:buFont typeface="Arial" panose="020B0604020202020204" pitchFamily="34" charset="0"/>
              <a:buChar char="•"/>
            </a:pPr>
            <a:endParaRPr lang="en-US" sz="1000" dirty="0">
              <a:solidFill>
                <a:schemeClr val="bg1"/>
              </a:solidFill>
              <a:latin typeface="Gotham SSm A" panose="02000504050000020004" pitchFamily="2" charset="0"/>
            </a:endParaRPr>
          </a:p>
          <a:p>
            <a:pPr marL="171450" indent="-171450">
              <a:buFont typeface="Arial" panose="020B0604020202020204" pitchFamily="34" charset="0"/>
              <a:buChar char="•"/>
            </a:pPr>
            <a:endParaRPr lang="en-US" sz="1000" dirty="0">
              <a:solidFill>
                <a:schemeClr val="bg1"/>
              </a:solidFill>
              <a:latin typeface="Gotham SSm A" panose="02000504050000020004" pitchFamily="2" charset="0"/>
            </a:endParaRPr>
          </a:p>
          <a:p>
            <a:pPr marL="171450" indent="-171450">
              <a:buFont typeface="Arial" panose="020B0604020202020204" pitchFamily="34" charset="0"/>
              <a:buChar char="•"/>
            </a:pPr>
            <a:endParaRPr lang="en-US" sz="1000" dirty="0">
              <a:solidFill>
                <a:schemeClr val="bg1"/>
              </a:solidFill>
              <a:latin typeface="Gotham SSm A" panose="02000504050000020004" pitchFamily="2" charset="0"/>
            </a:endParaRPr>
          </a:p>
          <a:p>
            <a:pPr marL="171450" indent="-171450">
              <a:buFont typeface="Arial" panose="020B0604020202020204" pitchFamily="34" charset="0"/>
              <a:buChar char="•"/>
            </a:pPr>
            <a:endParaRPr lang="en-US" sz="1000" dirty="0">
              <a:solidFill>
                <a:schemeClr val="bg1"/>
              </a:solidFill>
              <a:latin typeface="Gotham SSm A" panose="02000504050000020004" pitchFamily="2" charset="0"/>
            </a:endParaRPr>
          </a:p>
          <a:p>
            <a:pPr marL="171450" indent="-171450">
              <a:buFont typeface="Arial" panose="020B0604020202020204" pitchFamily="34" charset="0"/>
              <a:buChar char="•"/>
            </a:pPr>
            <a:endParaRPr lang="en-US" sz="1000" dirty="0">
              <a:solidFill>
                <a:schemeClr val="bg1"/>
              </a:solidFill>
              <a:latin typeface="Gotham SSm A" panose="02000504050000020004" pitchFamily="2" charset="0"/>
            </a:endParaRPr>
          </a:p>
          <a:p>
            <a:pPr marL="171450" indent="-171450">
              <a:buFont typeface="Arial" panose="020B0604020202020204" pitchFamily="34" charset="0"/>
              <a:buChar char="•"/>
            </a:pPr>
            <a:r>
              <a:rPr lang="en-US" sz="800" b="1" dirty="0">
                <a:solidFill>
                  <a:schemeClr val="bg1"/>
                </a:solidFill>
                <a:latin typeface="Gotham SSm A" panose="02000504050000020004" pitchFamily="2" charset="0"/>
              </a:rPr>
              <a:t>The Dynamic BT (MCMC) model achieves the best log loss (0.5588) and Brier score (0.1878), confirming that capturing skill evolution over time materially improves prediction.</a:t>
            </a:r>
          </a:p>
          <a:p>
            <a:pPr marL="171450" indent="-171450">
              <a:buFont typeface="Arial" panose="020B0604020202020204" pitchFamily="34" charset="0"/>
              <a:buChar char="•"/>
            </a:pPr>
            <a:endParaRPr lang="en-US" sz="800" b="1" dirty="0">
              <a:solidFill>
                <a:schemeClr val="bg1"/>
              </a:solidFill>
              <a:latin typeface="Gotham SSm A" panose="02000504050000020004" pitchFamily="2" charset="0"/>
            </a:endParaRPr>
          </a:p>
          <a:p>
            <a:pPr marL="171450" indent="-171450">
              <a:buFont typeface="Arial" panose="020B0604020202020204" pitchFamily="34" charset="0"/>
              <a:buChar char="•"/>
            </a:pPr>
            <a:r>
              <a:rPr lang="en-US" sz="800" b="1" dirty="0">
                <a:solidFill>
                  <a:schemeClr val="bg1"/>
                </a:solidFill>
                <a:latin typeface="Gotham SSm A" panose="02000504050000020004" pitchFamily="2" charset="0"/>
              </a:rPr>
              <a:t>Adding covariates on top of the dynamic model slightly hurts performance on this test set, suggesting the covariates are partially redundant with the latent skill trajectory.</a:t>
            </a:r>
          </a:p>
          <a:p>
            <a:pPr marL="171450" indent="-171450">
              <a:buFont typeface="Arial" panose="020B0604020202020204" pitchFamily="34" charset="0"/>
              <a:buChar char="•"/>
            </a:pPr>
            <a:endParaRPr lang="en-US" sz="800" b="1" dirty="0">
              <a:solidFill>
                <a:schemeClr val="bg1"/>
              </a:solidFill>
              <a:latin typeface="Gotham SSm A" panose="02000504050000020004" pitchFamily="2" charset="0"/>
            </a:endParaRPr>
          </a:p>
          <a:p>
            <a:pPr marL="171450" indent="-171450">
              <a:buFont typeface="Arial" panose="020B0604020202020204" pitchFamily="34" charset="0"/>
              <a:buChar char="•"/>
            </a:pPr>
            <a:r>
              <a:rPr lang="en-US" sz="800" b="1" dirty="0">
                <a:solidFill>
                  <a:schemeClr val="bg1"/>
                </a:solidFill>
                <a:latin typeface="Gotham SSm A" panose="02000504050000020004" pitchFamily="2" charset="0"/>
              </a:rPr>
              <a:t>All three static/frequentist models cluster tightly (~0.572 log loss), indicating that once skill is assumed constant, the choice of Bayesian vs. frequentist inference matters little for point predictions.</a:t>
            </a:r>
          </a:p>
          <a:p>
            <a:pPr marL="171450" indent="-171450">
              <a:buFont typeface="Arial" panose="020B0604020202020204" pitchFamily="34" charset="0"/>
              <a:buChar char="•"/>
            </a:pPr>
            <a:endParaRPr lang="en-US" sz="800" b="1" dirty="0">
              <a:solidFill>
                <a:schemeClr val="bg1"/>
              </a:solidFill>
              <a:latin typeface="Gotham SSm A" panose="02000504050000020004" pitchFamily="2" charset="0"/>
            </a:endParaRPr>
          </a:p>
          <a:p>
            <a:pPr marL="171450" indent="-171450">
              <a:buFont typeface="Arial" panose="020B0604020202020204" pitchFamily="34" charset="0"/>
              <a:buChar char="•"/>
            </a:pPr>
            <a:r>
              <a:rPr lang="en-US" sz="800" b="1" dirty="0">
                <a:solidFill>
                  <a:schemeClr val="bg1"/>
                </a:solidFill>
                <a:latin typeface="Gotham SSm A" panose="02000504050000020004" pitchFamily="2" charset="0"/>
              </a:rPr>
              <a:t>All models produce mean predictions of ~0.50 (as expected from the symmetric pairwise expansion) but differ in spread (</a:t>
            </a:r>
            <a:r>
              <a:rPr lang="en-US" sz="800" b="1" dirty="0" err="1">
                <a:solidFill>
                  <a:schemeClr val="bg1"/>
                </a:solidFill>
                <a:latin typeface="Gotham SSm A" panose="02000504050000020004" pitchFamily="2" charset="0"/>
              </a:rPr>
              <a:t>std_pred</a:t>
            </a:r>
            <a:r>
              <a:rPr lang="en-US" sz="800" b="1" dirty="0">
                <a:solidFill>
                  <a:schemeClr val="bg1"/>
                </a:solidFill>
                <a:latin typeface="Gotham SSm A" panose="02000504050000020004" pitchFamily="2" charset="0"/>
              </a:rPr>
              <a:t>), with dynamic models producing more confident (higher-spread) predictions.</a:t>
            </a:r>
          </a:p>
          <a:p>
            <a:pPr marL="171450" indent="-171450">
              <a:buFont typeface="Arial" panose="020B0604020202020204" pitchFamily="34" charset="0"/>
              <a:buChar char="•"/>
            </a:pPr>
            <a:endParaRPr lang="en-US" sz="1200" dirty="0">
              <a:solidFill>
                <a:schemeClr val="bg1"/>
              </a:solidFill>
              <a:latin typeface="Gotham SSm A" panose="02000504050000020004" pitchFamily="2" charset="0"/>
            </a:endParaRPr>
          </a:p>
          <a:p>
            <a:pPr marL="171450" indent="-171450">
              <a:buFont typeface="Arial" panose="020B0604020202020204" pitchFamily="34" charset="0"/>
              <a:buChar char="•"/>
            </a:pPr>
            <a:endParaRPr lang="en-US" sz="1000" dirty="0">
              <a:solidFill>
                <a:schemeClr val="bg1"/>
              </a:solidFill>
              <a:latin typeface="Gotham SSm A" panose="02000504050000020004" pitchFamily="2" charset="0"/>
            </a:endParaRPr>
          </a:p>
          <a:p>
            <a:endParaRPr lang="en-US" sz="1000" dirty="0">
              <a:solidFill>
                <a:schemeClr val="bg1"/>
              </a:solidFill>
              <a:latin typeface="Gotham SSm A" panose="02000504050000020004" pitchFamily="2" charset="0"/>
            </a:endParaRPr>
          </a:p>
          <a:p>
            <a:endParaRPr lang="en-US" sz="1200" dirty="0">
              <a:solidFill>
                <a:schemeClr val="bg1"/>
              </a:solidFill>
              <a:latin typeface="Gotham SSm A" panose="02000504050000020004" pitchFamily="2" charset="0"/>
            </a:endParaRPr>
          </a:p>
        </p:txBody>
      </p:sp>
      <p:sp>
        <p:nvSpPr>
          <p:cNvPr id="18" name="TextBox 17">
            <a:extLst>
              <a:ext uri="{FF2B5EF4-FFF2-40B4-BE49-F238E27FC236}">
                <a16:creationId xmlns:a16="http://schemas.microsoft.com/office/drawing/2014/main" id="{E79F1DB5-9F96-CD6C-0E5D-F871C9BDF54C}"/>
              </a:ext>
            </a:extLst>
          </p:cNvPr>
          <p:cNvSpPr txBox="1"/>
          <p:nvPr/>
        </p:nvSpPr>
        <p:spPr>
          <a:xfrm>
            <a:off x="255507" y="1152583"/>
            <a:ext cx="4735593" cy="307777"/>
          </a:xfrm>
          <a:prstGeom prst="rect">
            <a:avLst/>
          </a:prstGeom>
          <a:noFill/>
        </p:spPr>
        <p:txBody>
          <a:bodyPr wrap="square" rtlCol="0">
            <a:spAutoFit/>
          </a:bodyPr>
          <a:lstStyle/>
          <a:p>
            <a:pPr defTabSz="1219170">
              <a:defRPr/>
            </a:pPr>
            <a:r>
              <a:rPr lang="en-US" sz="1400" b="1" dirty="0">
                <a:solidFill>
                  <a:schemeClr val="bg1"/>
                </a:solidFill>
                <a:latin typeface="Montserrat" pitchFamily="2" charset="77"/>
              </a:rPr>
              <a:t>EXECUTIVE SUMMARY (Continued)</a:t>
            </a:r>
            <a:endParaRPr lang="en-IN" sz="1400" dirty="0">
              <a:solidFill>
                <a:schemeClr val="bg1"/>
              </a:solidFill>
              <a:latin typeface="Montserrat" pitchFamily="2" charset="77"/>
            </a:endParaRPr>
          </a:p>
        </p:txBody>
      </p:sp>
      <p:sp>
        <p:nvSpPr>
          <p:cNvPr id="14" name="TextBox 13">
            <a:extLst>
              <a:ext uri="{FF2B5EF4-FFF2-40B4-BE49-F238E27FC236}">
                <a16:creationId xmlns:a16="http://schemas.microsoft.com/office/drawing/2014/main" id="{BACC579B-E79E-F396-474B-C81ABEC25207}"/>
              </a:ext>
            </a:extLst>
          </p:cNvPr>
          <p:cNvSpPr txBox="1"/>
          <p:nvPr/>
        </p:nvSpPr>
        <p:spPr>
          <a:xfrm>
            <a:off x="6524234" y="315387"/>
            <a:ext cx="2068011" cy="428322"/>
          </a:xfrm>
          <a:prstGeom prst="rect">
            <a:avLst/>
          </a:prstGeom>
          <a:noFill/>
        </p:spPr>
        <p:txBody>
          <a:bodyPr wrap="square" rtlCol="0">
            <a:spAutoFit/>
          </a:bodyPr>
          <a:lstStyle/>
          <a:p>
            <a:pPr algn="ctr">
              <a:lnSpc>
                <a:spcPts val="2920"/>
              </a:lnSpc>
            </a:pPr>
            <a:r>
              <a:rPr lang="en-US" sz="1600" b="1" dirty="0">
                <a:solidFill>
                  <a:schemeClr val="bg1"/>
                </a:solidFill>
                <a:effectLst>
                  <a:outerShdw blurRad="50800" dist="38100" dir="2700000" algn="tl" rotWithShape="0">
                    <a:prstClr val="black">
                      <a:alpha val="40000"/>
                    </a:prstClr>
                  </a:outerShdw>
                </a:effectLst>
                <a:latin typeface="Montserrat" pitchFamily="2" charset="77"/>
              </a:rPr>
              <a:t>Group 4</a:t>
            </a:r>
            <a:endParaRPr lang="en-US" sz="1600" dirty="0">
              <a:solidFill>
                <a:schemeClr val="bg1"/>
              </a:solidFill>
              <a:effectLst>
                <a:outerShdw blurRad="50800" dist="38100" dir="2700000" algn="tl" rotWithShape="0">
                  <a:prstClr val="black">
                    <a:alpha val="40000"/>
                  </a:prstClr>
                </a:outerShdw>
              </a:effectLst>
              <a:latin typeface="Montserrat" pitchFamily="2" charset="77"/>
            </a:endParaRPr>
          </a:p>
        </p:txBody>
      </p:sp>
      <p:sp>
        <p:nvSpPr>
          <p:cNvPr id="3" name="TextBox 2">
            <a:extLst>
              <a:ext uri="{FF2B5EF4-FFF2-40B4-BE49-F238E27FC236}">
                <a16:creationId xmlns:a16="http://schemas.microsoft.com/office/drawing/2014/main" id="{7E4FA93B-8BD8-97AA-24A5-5524E81FE97C}"/>
              </a:ext>
            </a:extLst>
          </p:cNvPr>
          <p:cNvSpPr txBox="1"/>
          <p:nvPr/>
        </p:nvSpPr>
        <p:spPr>
          <a:xfrm>
            <a:off x="160074" y="246676"/>
            <a:ext cx="3065726" cy="669029"/>
          </a:xfrm>
          <a:prstGeom prst="rect">
            <a:avLst/>
          </a:prstGeom>
          <a:noFill/>
        </p:spPr>
        <p:txBody>
          <a:bodyPr wrap="square" rtlCol="0">
            <a:spAutoFit/>
          </a:bodyPr>
          <a:lstStyle/>
          <a:p>
            <a:pPr algn="ctr">
              <a:lnSpc>
                <a:spcPts val="2920"/>
              </a:lnSpc>
            </a:pPr>
            <a:r>
              <a:rPr lang="en-US" sz="1000" b="1" dirty="0">
                <a:solidFill>
                  <a:schemeClr val="bg1"/>
                </a:solidFill>
                <a:effectLst>
                  <a:outerShdw blurRad="50800" dist="38100" dir="2700000" algn="tl" rotWithShape="0">
                    <a:prstClr val="black">
                      <a:alpha val="40000"/>
                    </a:prstClr>
                  </a:outerShdw>
                </a:effectLst>
                <a:latin typeface="Montserrat" pitchFamily="2" charset="77"/>
              </a:rPr>
              <a:t>Posterior on the Baseline: Bayesian</a:t>
            </a:r>
          </a:p>
          <a:p>
            <a:pPr algn="ctr">
              <a:lnSpc>
                <a:spcPct val="150000"/>
              </a:lnSpc>
            </a:pPr>
            <a:r>
              <a:rPr lang="en-US" sz="1000" b="1" dirty="0">
                <a:solidFill>
                  <a:schemeClr val="bg1"/>
                </a:solidFill>
                <a:effectLst>
                  <a:outerShdw blurRad="50800" dist="38100" dir="2700000" algn="tl" rotWithShape="0">
                    <a:prstClr val="black">
                      <a:alpha val="40000"/>
                    </a:prstClr>
                  </a:outerShdw>
                </a:effectLst>
                <a:latin typeface="Montserrat" pitchFamily="2" charset="77"/>
              </a:rPr>
              <a:t>Tennis Tournament Predictions</a:t>
            </a:r>
            <a:endParaRPr lang="en-US" sz="1000" dirty="0">
              <a:solidFill>
                <a:schemeClr val="bg1"/>
              </a:solidFill>
              <a:effectLst>
                <a:outerShdw blurRad="50800" dist="38100" dir="2700000" algn="tl" rotWithShape="0">
                  <a:prstClr val="black">
                    <a:alpha val="40000"/>
                  </a:prstClr>
                </a:outerShdw>
              </a:effectLst>
              <a:latin typeface="Montserrat" pitchFamily="2" charset="77"/>
            </a:endParaRPr>
          </a:p>
        </p:txBody>
      </p:sp>
      <p:pic>
        <p:nvPicPr>
          <p:cNvPr id="8" name="Picture 7">
            <a:extLst>
              <a:ext uri="{FF2B5EF4-FFF2-40B4-BE49-F238E27FC236}">
                <a16:creationId xmlns:a16="http://schemas.microsoft.com/office/drawing/2014/main" id="{0F2FDDBD-6E3E-5B23-A819-15C2BD6C9385}"/>
              </a:ext>
            </a:extLst>
          </p:cNvPr>
          <p:cNvPicPr>
            <a:picLocks noChangeAspect="1"/>
          </p:cNvPicPr>
          <p:nvPr/>
        </p:nvPicPr>
        <p:blipFill>
          <a:blip r:embed="rId2"/>
          <a:stretch>
            <a:fillRect/>
          </a:stretch>
        </p:blipFill>
        <p:spPr>
          <a:xfrm>
            <a:off x="1092200" y="3057009"/>
            <a:ext cx="6273800" cy="2097068"/>
          </a:xfrm>
          <a:prstGeom prst="rect">
            <a:avLst/>
          </a:prstGeom>
        </p:spPr>
      </p:pic>
    </p:spTree>
    <p:extLst>
      <p:ext uri="{BB962C8B-B14F-4D97-AF65-F5344CB8AC3E}">
        <p14:creationId xmlns:p14="http://schemas.microsoft.com/office/powerpoint/2010/main" val="635231733"/>
      </p:ext>
    </p:extLst>
  </p:cSld>
  <p:clrMapOvr>
    <a:masterClrMapping/>
  </p:clrMapOvr>
  <mc:AlternateContent xmlns:mc="http://schemas.openxmlformats.org/markup-compatibility/2006">
    <mc:Choice xmlns:p14="http://schemas.microsoft.com/office/powerpoint/2010/main" Requires="p14">
      <p:transition spd="slow" p14:dur="6000" advClick="0" advTm="11000"/>
    </mc:Choice>
    <mc:Fallback>
      <p:transition spd="slow" advClick="0" advTm="1100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38DA03-8F09-957A-3896-06B5B5C300C4}"/>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BF885BA0-68C7-62C8-C9B9-FF15C11BB1A5}"/>
              </a:ext>
            </a:extLst>
          </p:cNvPr>
          <p:cNvSpPr/>
          <p:nvPr/>
        </p:nvSpPr>
        <p:spPr>
          <a:xfrm>
            <a:off x="374650" y="1555821"/>
            <a:ext cx="8326330" cy="4401205"/>
          </a:xfrm>
          <a:prstGeom prst="rect">
            <a:avLst/>
          </a:prstGeom>
        </p:spPr>
        <p:txBody>
          <a:bodyPr wrap="square">
            <a:spAutoFit/>
          </a:bodyPr>
          <a:lstStyle/>
          <a:p>
            <a:r>
              <a:rPr lang="en-US" sz="1400" dirty="0">
                <a:solidFill>
                  <a:schemeClr val="bg1"/>
                </a:solidFill>
                <a:latin typeface="Gotham SSm A" panose="02000504050000020004" pitchFamily="2" charset="0"/>
              </a:rPr>
              <a:t>This notebook implements a corrected Bayesian Bradley–Terry (BT) pipeline for modeling tennis match outcomes. The Bradley–Terry model is a pairwise comparison framework that assigns each player a latent "skill" parameter; the probability that player </a:t>
            </a:r>
            <a:r>
              <a:rPr lang="en-US" sz="1400" dirty="0" err="1">
                <a:solidFill>
                  <a:schemeClr val="bg1"/>
                </a:solidFill>
                <a:latin typeface="Gotham SSm A" panose="02000504050000020004" pitchFamily="2" charset="0"/>
              </a:rPr>
              <a:t>i</a:t>
            </a:r>
            <a:r>
              <a:rPr lang="en-US" sz="1400" dirty="0">
                <a:solidFill>
                  <a:schemeClr val="bg1"/>
                </a:solidFill>
                <a:latin typeface="Gotham SSm A" panose="02000504050000020004" pitchFamily="2" charset="0"/>
              </a:rPr>
              <a:t> beats player j is modeled as a logistic function of their skill difference: P(</a:t>
            </a:r>
            <a:r>
              <a:rPr lang="en-US" sz="1400" dirty="0" err="1">
                <a:solidFill>
                  <a:schemeClr val="bg1"/>
                </a:solidFill>
                <a:latin typeface="Gotham SSm A" panose="02000504050000020004" pitchFamily="2" charset="0"/>
              </a:rPr>
              <a:t>i</a:t>
            </a:r>
            <a:r>
              <a:rPr lang="en-US" sz="1400" dirty="0">
                <a:solidFill>
                  <a:schemeClr val="bg1"/>
                </a:solidFill>
                <a:latin typeface="Gotham SSm A" panose="02000504050000020004" pitchFamily="2" charset="0"/>
              </a:rPr>
              <a:t> beats j) = σ(θᵢ − θⱼ). The notebook addresses five critical methodological corrections over a naïve implementation: </a:t>
            </a:r>
          </a:p>
          <a:p>
            <a:endParaRPr lang="en-US" sz="1400" dirty="0">
              <a:solidFill>
                <a:schemeClr val="bg1"/>
              </a:solidFill>
              <a:latin typeface="Gotham SSm A" panose="02000504050000020004" pitchFamily="2" charset="0"/>
            </a:endParaRPr>
          </a:p>
          <a:p>
            <a:pPr marL="228600" indent="-228600">
              <a:buAutoNum type="arabicParenBoth"/>
            </a:pPr>
            <a:r>
              <a:rPr lang="en-US" sz="1400" dirty="0">
                <a:solidFill>
                  <a:schemeClr val="bg1"/>
                </a:solidFill>
                <a:latin typeface="Gotham SSm A" panose="02000504050000020004" pitchFamily="2" charset="0"/>
              </a:rPr>
              <a:t>Strict temporal holdout ensures the test set (Wimbledon 2023) is never seen during training: that is, only matches occurring before the tournament start date are used.</a:t>
            </a:r>
          </a:p>
          <a:p>
            <a:pPr marL="228600" indent="-228600">
              <a:buAutoNum type="arabicParenBoth"/>
            </a:pPr>
            <a:endParaRPr lang="en-US" sz="1400" dirty="0">
              <a:solidFill>
                <a:schemeClr val="bg1"/>
              </a:solidFill>
              <a:latin typeface="Gotham SSm A" panose="02000504050000020004" pitchFamily="2" charset="0"/>
            </a:endParaRPr>
          </a:p>
          <a:p>
            <a:pPr marL="228600" indent="-228600">
              <a:buAutoNum type="arabicParenBoth"/>
            </a:pPr>
            <a:r>
              <a:rPr lang="en-US" sz="1400" dirty="0">
                <a:solidFill>
                  <a:schemeClr val="bg1"/>
                </a:solidFill>
                <a:latin typeface="Gotham SSm A" panose="02000504050000020004" pitchFamily="2" charset="0"/>
              </a:rPr>
              <a:t>Stable player encoding uses ATP numeric IDs instead of string names, preventing mismatches due to name variations. </a:t>
            </a:r>
          </a:p>
          <a:p>
            <a:pPr marL="228600" indent="-228600">
              <a:buAutoNum type="arabicParenBoth"/>
            </a:pPr>
            <a:endParaRPr lang="en-US" sz="1400" dirty="0">
              <a:solidFill>
                <a:schemeClr val="bg1"/>
              </a:solidFill>
              <a:latin typeface="Gotham SSm A" panose="02000504050000020004" pitchFamily="2" charset="0"/>
            </a:endParaRPr>
          </a:p>
          <a:p>
            <a:pPr marL="228600" indent="-228600">
              <a:buAutoNum type="arabicParenBoth"/>
            </a:pPr>
            <a:r>
              <a:rPr lang="en-US" sz="1400" dirty="0">
                <a:solidFill>
                  <a:schemeClr val="bg1"/>
                </a:solidFill>
                <a:latin typeface="Gotham SSm A" panose="02000504050000020004" pitchFamily="2" charset="0"/>
              </a:rPr>
              <a:t>Dynamic BT identifiability centers skill parameters per time period, resolving the well-known identifiability issue in BT models where only skill differences are estimable. </a:t>
            </a:r>
          </a:p>
          <a:p>
            <a:pPr marL="228600" indent="-228600">
              <a:buAutoNum type="arabicParenBoth"/>
            </a:pPr>
            <a:endParaRPr lang="en-US" sz="1400" dirty="0">
              <a:solidFill>
                <a:schemeClr val="bg1"/>
              </a:solidFill>
              <a:latin typeface="Gotham SSm A" panose="02000504050000020004" pitchFamily="2" charset="0"/>
            </a:endParaRPr>
          </a:p>
          <a:p>
            <a:pPr marL="228600" indent="-228600">
              <a:buAutoNum type="arabicParenBoth"/>
            </a:pPr>
            <a:r>
              <a:rPr lang="en-US" sz="1400" dirty="0">
                <a:solidFill>
                  <a:schemeClr val="bg1"/>
                </a:solidFill>
                <a:latin typeface="Gotham SSm A" panose="02000504050000020004" pitchFamily="2" charset="0"/>
              </a:rPr>
              <a:t>Proper dynamic prediction indexes each match by its own time period rather than using a single "last" period. </a:t>
            </a:r>
          </a:p>
          <a:p>
            <a:pPr marL="228600" indent="-228600">
              <a:buAutoNum type="arabicParenBoth"/>
            </a:pPr>
            <a:endParaRPr lang="en-US" sz="1400" dirty="0">
              <a:solidFill>
                <a:schemeClr val="bg1"/>
              </a:solidFill>
              <a:latin typeface="Gotham SSm A" panose="02000504050000020004" pitchFamily="2" charset="0"/>
            </a:endParaRPr>
          </a:p>
          <a:p>
            <a:pPr marL="228600" indent="-228600">
              <a:buAutoNum type="arabicParenBoth"/>
            </a:pPr>
            <a:r>
              <a:rPr lang="en-US" sz="1400" dirty="0">
                <a:solidFill>
                  <a:schemeClr val="bg1"/>
                </a:solidFill>
                <a:latin typeface="Gotham SSm A" panose="02000504050000020004" pitchFamily="2" charset="0"/>
              </a:rPr>
              <a:t>Symmetric pairwise covariate encoding ensures covariates flip sign appropriately when the player ordering is reversed. The configuration block sets data years (2018–2023), MCMC parameters (800 draws, 800 tuning steps, 4 chains, 0.92 target acceptance), and a minimum match threshold of 8 per player for filtering.</a:t>
            </a:r>
          </a:p>
        </p:txBody>
      </p:sp>
      <p:sp>
        <p:nvSpPr>
          <p:cNvPr id="18" name="TextBox 17">
            <a:extLst>
              <a:ext uri="{FF2B5EF4-FFF2-40B4-BE49-F238E27FC236}">
                <a16:creationId xmlns:a16="http://schemas.microsoft.com/office/drawing/2014/main" id="{89F551B6-AD37-07B4-6124-B7703547F7B1}"/>
              </a:ext>
            </a:extLst>
          </p:cNvPr>
          <p:cNvSpPr txBox="1"/>
          <p:nvPr/>
        </p:nvSpPr>
        <p:spPr>
          <a:xfrm>
            <a:off x="255507" y="1152583"/>
            <a:ext cx="4735593" cy="307777"/>
          </a:xfrm>
          <a:prstGeom prst="rect">
            <a:avLst/>
          </a:prstGeom>
          <a:noFill/>
        </p:spPr>
        <p:txBody>
          <a:bodyPr wrap="square" rtlCol="0">
            <a:spAutoFit/>
          </a:bodyPr>
          <a:lstStyle/>
          <a:p>
            <a:pPr defTabSz="1219170">
              <a:defRPr/>
            </a:pPr>
            <a:r>
              <a:rPr lang="en-US" sz="1400" b="1" dirty="0">
                <a:solidFill>
                  <a:schemeClr val="bg1"/>
                </a:solidFill>
                <a:latin typeface="Montserrat" pitchFamily="2" charset="77"/>
              </a:rPr>
              <a:t>INTRODUCTION &amp; CONFIGURATION</a:t>
            </a:r>
            <a:endParaRPr lang="en-IN" sz="1400" dirty="0">
              <a:solidFill>
                <a:schemeClr val="bg1"/>
              </a:solidFill>
              <a:latin typeface="Montserrat" pitchFamily="2" charset="77"/>
            </a:endParaRPr>
          </a:p>
        </p:txBody>
      </p:sp>
      <p:sp>
        <p:nvSpPr>
          <p:cNvPr id="14" name="TextBox 13">
            <a:extLst>
              <a:ext uri="{FF2B5EF4-FFF2-40B4-BE49-F238E27FC236}">
                <a16:creationId xmlns:a16="http://schemas.microsoft.com/office/drawing/2014/main" id="{E207BAD2-B052-E5CA-91A5-DB050DDE8794}"/>
              </a:ext>
            </a:extLst>
          </p:cNvPr>
          <p:cNvSpPr txBox="1"/>
          <p:nvPr/>
        </p:nvSpPr>
        <p:spPr>
          <a:xfrm>
            <a:off x="6524234" y="315387"/>
            <a:ext cx="2068011" cy="428322"/>
          </a:xfrm>
          <a:prstGeom prst="rect">
            <a:avLst/>
          </a:prstGeom>
          <a:noFill/>
        </p:spPr>
        <p:txBody>
          <a:bodyPr wrap="square" rtlCol="0">
            <a:spAutoFit/>
          </a:bodyPr>
          <a:lstStyle/>
          <a:p>
            <a:pPr algn="ctr">
              <a:lnSpc>
                <a:spcPts val="2920"/>
              </a:lnSpc>
            </a:pPr>
            <a:r>
              <a:rPr lang="en-US" sz="1600" b="1" dirty="0">
                <a:solidFill>
                  <a:schemeClr val="bg1"/>
                </a:solidFill>
                <a:effectLst>
                  <a:outerShdw blurRad="50800" dist="38100" dir="2700000" algn="tl" rotWithShape="0">
                    <a:prstClr val="black">
                      <a:alpha val="40000"/>
                    </a:prstClr>
                  </a:outerShdw>
                </a:effectLst>
                <a:latin typeface="Montserrat" pitchFamily="2" charset="77"/>
              </a:rPr>
              <a:t>Group 4</a:t>
            </a:r>
            <a:endParaRPr lang="en-US" sz="1600" dirty="0">
              <a:solidFill>
                <a:schemeClr val="bg1"/>
              </a:solidFill>
              <a:effectLst>
                <a:outerShdw blurRad="50800" dist="38100" dir="2700000" algn="tl" rotWithShape="0">
                  <a:prstClr val="black">
                    <a:alpha val="40000"/>
                  </a:prstClr>
                </a:outerShdw>
              </a:effectLst>
              <a:latin typeface="Montserrat" pitchFamily="2" charset="77"/>
            </a:endParaRPr>
          </a:p>
        </p:txBody>
      </p:sp>
      <p:sp>
        <p:nvSpPr>
          <p:cNvPr id="3" name="TextBox 2">
            <a:extLst>
              <a:ext uri="{FF2B5EF4-FFF2-40B4-BE49-F238E27FC236}">
                <a16:creationId xmlns:a16="http://schemas.microsoft.com/office/drawing/2014/main" id="{EC32D177-9132-80BE-2581-9A0D906CCF39}"/>
              </a:ext>
            </a:extLst>
          </p:cNvPr>
          <p:cNvSpPr txBox="1"/>
          <p:nvPr/>
        </p:nvSpPr>
        <p:spPr>
          <a:xfrm>
            <a:off x="160074" y="246676"/>
            <a:ext cx="3065726" cy="669029"/>
          </a:xfrm>
          <a:prstGeom prst="rect">
            <a:avLst/>
          </a:prstGeom>
          <a:noFill/>
        </p:spPr>
        <p:txBody>
          <a:bodyPr wrap="square" rtlCol="0">
            <a:spAutoFit/>
          </a:bodyPr>
          <a:lstStyle/>
          <a:p>
            <a:pPr algn="ctr">
              <a:lnSpc>
                <a:spcPts val="2920"/>
              </a:lnSpc>
            </a:pPr>
            <a:r>
              <a:rPr lang="en-US" sz="1000" b="1" dirty="0">
                <a:solidFill>
                  <a:schemeClr val="bg1"/>
                </a:solidFill>
                <a:effectLst>
                  <a:outerShdw blurRad="50800" dist="38100" dir="2700000" algn="tl" rotWithShape="0">
                    <a:prstClr val="black">
                      <a:alpha val="40000"/>
                    </a:prstClr>
                  </a:outerShdw>
                </a:effectLst>
                <a:latin typeface="Montserrat" pitchFamily="2" charset="77"/>
              </a:rPr>
              <a:t>Posterior on the Baseline: Bayesian</a:t>
            </a:r>
          </a:p>
          <a:p>
            <a:pPr algn="ctr">
              <a:lnSpc>
                <a:spcPct val="150000"/>
              </a:lnSpc>
            </a:pPr>
            <a:r>
              <a:rPr lang="en-US" sz="1000" b="1" dirty="0">
                <a:solidFill>
                  <a:schemeClr val="bg1"/>
                </a:solidFill>
                <a:effectLst>
                  <a:outerShdw blurRad="50800" dist="38100" dir="2700000" algn="tl" rotWithShape="0">
                    <a:prstClr val="black">
                      <a:alpha val="40000"/>
                    </a:prstClr>
                  </a:outerShdw>
                </a:effectLst>
                <a:latin typeface="Montserrat" pitchFamily="2" charset="77"/>
              </a:rPr>
              <a:t>Tennis Tournament Predictions</a:t>
            </a:r>
            <a:endParaRPr lang="en-US" sz="1000" dirty="0">
              <a:solidFill>
                <a:schemeClr val="bg1"/>
              </a:solidFill>
              <a:effectLst>
                <a:outerShdw blurRad="50800" dist="38100" dir="2700000" algn="tl" rotWithShape="0">
                  <a:prstClr val="black">
                    <a:alpha val="40000"/>
                  </a:prstClr>
                </a:outerShdw>
              </a:effectLst>
              <a:latin typeface="Montserrat" pitchFamily="2" charset="77"/>
            </a:endParaRPr>
          </a:p>
        </p:txBody>
      </p:sp>
    </p:spTree>
    <p:extLst>
      <p:ext uri="{BB962C8B-B14F-4D97-AF65-F5344CB8AC3E}">
        <p14:creationId xmlns:p14="http://schemas.microsoft.com/office/powerpoint/2010/main" val="1122491692"/>
      </p:ext>
    </p:extLst>
  </p:cSld>
  <p:clrMapOvr>
    <a:masterClrMapping/>
  </p:clrMapOvr>
  <mc:AlternateContent xmlns:mc="http://schemas.openxmlformats.org/markup-compatibility/2006">
    <mc:Choice xmlns:p14="http://schemas.microsoft.com/office/powerpoint/2010/main" Requires="p14">
      <p:transition spd="slow" p14:dur="6000" advClick="0" advTm="11000"/>
    </mc:Choice>
    <mc:Fallback>
      <p:transition spd="slow" advClick="0" advTm="1100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6CC9C8-5C53-5AB0-8090-8378CB9D1085}"/>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2B12511C-0842-D9C1-DFE5-71EFD09DA81C}"/>
              </a:ext>
            </a:extLst>
          </p:cNvPr>
          <p:cNvSpPr/>
          <p:nvPr/>
        </p:nvSpPr>
        <p:spPr>
          <a:xfrm>
            <a:off x="374650" y="1555821"/>
            <a:ext cx="8326330" cy="3754874"/>
          </a:xfrm>
          <a:prstGeom prst="rect">
            <a:avLst/>
          </a:prstGeom>
        </p:spPr>
        <p:txBody>
          <a:bodyPr wrap="square">
            <a:spAutoFit/>
          </a:bodyPr>
          <a:lstStyle/>
          <a:p>
            <a:pPr marL="285750" indent="-285750">
              <a:buFont typeface="Arial" panose="020B0604020202020204" pitchFamily="34" charset="0"/>
              <a:buChar char="•"/>
            </a:pPr>
            <a:r>
              <a:rPr lang="en-US" sz="1400" dirty="0">
                <a:solidFill>
                  <a:schemeClr val="bg1"/>
                </a:solidFill>
                <a:latin typeface="Gotham SSm A" panose="02000504050000020004" pitchFamily="2" charset="0"/>
              </a:rPr>
              <a:t>This function downloads yearly CSV match files from Jeff Sackmann's open-source </a:t>
            </a:r>
            <a:r>
              <a:rPr lang="en-US" sz="1400" dirty="0" err="1">
                <a:solidFill>
                  <a:schemeClr val="bg1"/>
                </a:solidFill>
                <a:latin typeface="Gotham SSm A" panose="02000504050000020004" pitchFamily="2" charset="0"/>
              </a:rPr>
              <a:t>tennis_atp</a:t>
            </a:r>
            <a:r>
              <a:rPr lang="en-US" sz="1400" dirty="0">
                <a:solidFill>
                  <a:schemeClr val="bg1"/>
                </a:solidFill>
                <a:latin typeface="Gotham SSm A" panose="02000504050000020004" pitchFamily="2" charset="0"/>
              </a:rPr>
              <a:t> GitHub repository, which is the gold standard for historical ATP match data. It retains only pre-match observable columns: tournament metadata, player IDs/names/rankings/ages/heights, surface type, and match format (</a:t>
            </a:r>
            <a:r>
              <a:rPr lang="en-US" sz="1400" dirty="0" err="1">
                <a:solidFill>
                  <a:schemeClr val="bg1"/>
                </a:solidFill>
                <a:latin typeface="Gotham SSm A" panose="02000504050000020004" pitchFamily="2" charset="0"/>
              </a:rPr>
              <a:t>best_of</a:t>
            </a:r>
            <a:r>
              <a:rPr lang="en-US" sz="1400" dirty="0">
                <a:solidFill>
                  <a:schemeClr val="bg1"/>
                </a:solidFill>
                <a:latin typeface="Gotham SSm A" panose="02000504050000020004" pitchFamily="2" charset="0"/>
              </a:rPr>
              <a:t>). </a:t>
            </a:r>
          </a:p>
          <a:p>
            <a:pPr marL="285750" indent="-285750">
              <a:buFont typeface="Arial" panose="020B0604020202020204" pitchFamily="34" charset="0"/>
              <a:buChar char="•"/>
            </a:pPr>
            <a:endParaRPr lang="en-US" sz="1400" dirty="0">
              <a:solidFill>
                <a:schemeClr val="bg1"/>
              </a:solidFill>
              <a:latin typeface="Gotham SSm A" panose="02000504050000020004" pitchFamily="2" charset="0"/>
            </a:endParaRPr>
          </a:p>
          <a:p>
            <a:pPr marL="285750" indent="-285750">
              <a:buFont typeface="Arial" panose="020B0604020202020204" pitchFamily="34" charset="0"/>
              <a:buChar char="•"/>
            </a:pPr>
            <a:r>
              <a:rPr lang="en-US" sz="1400" dirty="0">
                <a:solidFill>
                  <a:schemeClr val="bg1"/>
                </a:solidFill>
                <a:latin typeface="Gotham SSm A" panose="02000504050000020004" pitchFamily="2" charset="0"/>
              </a:rPr>
              <a:t>Post-match statistics (e.g., aces, break points) are deliberately excluded because they would constitute data leakage; they are outcomes of the match itself and would not be available at prediction time. </a:t>
            </a:r>
          </a:p>
          <a:p>
            <a:pPr marL="285750" indent="-285750">
              <a:buFont typeface="Arial" panose="020B0604020202020204" pitchFamily="34" charset="0"/>
              <a:buChar char="•"/>
            </a:pPr>
            <a:endParaRPr lang="en-US" sz="1400" dirty="0">
              <a:solidFill>
                <a:schemeClr val="bg1"/>
              </a:solidFill>
              <a:latin typeface="Gotham SSm A" panose="02000504050000020004" pitchFamily="2" charset="0"/>
            </a:endParaRPr>
          </a:p>
          <a:p>
            <a:pPr marL="285750" indent="-285750">
              <a:buFont typeface="Arial" panose="020B0604020202020204" pitchFamily="34" charset="0"/>
              <a:buChar char="•"/>
            </a:pPr>
            <a:r>
              <a:rPr lang="en-US" sz="1400" dirty="0">
                <a:solidFill>
                  <a:schemeClr val="bg1"/>
                </a:solidFill>
                <a:latin typeface="Gotham SSm A" panose="02000504050000020004" pitchFamily="2" charset="0"/>
              </a:rPr>
              <a:t>The function performs several cleaning steps: converting </a:t>
            </a:r>
            <a:r>
              <a:rPr lang="en-US" sz="1400" dirty="0" err="1">
                <a:solidFill>
                  <a:schemeClr val="bg1"/>
                </a:solidFill>
                <a:latin typeface="Gotham SSm A" panose="02000504050000020004" pitchFamily="2" charset="0"/>
              </a:rPr>
              <a:t>tourney_date</a:t>
            </a:r>
            <a:r>
              <a:rPr lang="en-US" sz="1400" dirty="0">
                <a:solidFill>
                  <a:schemeClr val="bg1"/>
                </a:solidFill>
                <a:latin typeface="Gotham SSm A" panose="02000504050000020004" pitchFamily="2" charset="0"/>
              </a:rPr>
              <a:t> from integer format (YYYYMMDD) to proper datetime objects, removing rows with missing critical identifiers, normalizing surface names to a canonical set {Hard, Clay, Grass, Carpet}, and coercing numeric columns. </a:t>
            </a:r>
          </a:p>
          <a:p>
            <a:pPr marL="285750" indent="-285750">
              <a:buFont typeface="Arial" panose="020B0604020202020204" pitchFamily="34" charset="0"/>
              <a:buChar char="•"/>
            </a:pPr>
            <a:endParaRPr lang="en-US" sz="1400" dirty="0">
              <a:solidFill>
                <a:schemeClr val="bg1"/>
              </a:solidFill>
              <a:latin typeface="Gotham SSm A" panose="02000504050000020004" pitchFamily="2" charset="0"/>
            </a:endParaRPr>
          </a:p>
          <a:p>
            <a:pPr marL="285750" indent="-285750">
              <a:buFont typeface="Arial" panose="020B0604020202020204" pitchFamily="34" charset="0"/>
              <a:buChar char="•"/>
            </a:pPr>
            <a:r>
              <a:rPr lang="en-US" sz="1400" dirty="0">
                <a:solidFill>
                  <a:schemeClr val="bg1"/>
                </a:solidFill>
                <a:latin typeface="Gotham SSm A" panose="02000504050000020004" pitchFamily="2" charset="0"/>
              </a:rPr>
              <a:t>An ordinal </a:t>
            </a:r>
            <a:r>
              <a:rPr lang="en-US" sz="1400" dirty="0" err="1">
                <a:solidFill>
                  <a:schemeClr val="bg1"/>
                </a:solidFill>
                <a:latin typeface="Gotham SSm A" panose="02000504050000020004" pitchFamily="2" charset="0"/>
              </a:rPr>
              <a:t>round_num</a:t>
            </a:r>
            <a:r>
              <a:rPr lang="en-US" sz="1400" dirty="0">
                <a:solidFill>
                  <a:schemeClr val="bg1"/>
                </a:solidFill>
                <a:latin typeface="Gotham SSm A" panose="02000504050000020004" pitchFamily="2" charset="0"/>
              </a:rPr>
              <a:t> mapping (RR=0 through F=8) is added for optional tournament-stage analysis. </a:t>
            </a:r>
          </a:p>
          <a:p>
            <a:pPr marL="285750" indent="-285750">
              <a:buFont typeface="Arial" panose="020B0604020202020204" pitchFamily="34" charset="0"/>
              <a:buChar char="•"/>
            </a:pPr>
            <a:endParaRPr lang="en-US" sz="1400" dirty="0">
              <a:solidFill>
                <a:schemeClr val="bg1"/>
              </a:solidFill>
              <a:latin typeface="Gotham SSm A" panose="02000504050000020004" pitchFamily="2" charset="0"/>
            </a:endParaRPr>
          </a:p>
          <a:p>
            <a:pPr marL="285750" indent="-285750">
              <a:buFont typeface="Arial" panose="020B0604020202020204" pitchFamily="34" charset="0"/>
              <a:buChar char="•"/>
            </a:pPr>
            <a:r>
              <a:rPr lang="en-US" sz="1400" dirty="0">
                <a:solidFill>
                  <a:schemeClr val="bg1"/>
                </a:solidFill>
                <a:latin typeface="Gotham SSm A" panose="02000504050000020004" pitchFamily="2" charset="0"/>
              </a:rPr>
              <a:t>The resulting </a:t>
            </a:r>
            <a:r>
              <a:rPr lang="en-US" sz="1400" dirty="0" err="1">
                <a:solidFill>
                  <a:schemeClr val="bg1"/>
                </a:solidFill>
                <a:latin typeface="Gotham SSm A" panose="02000504050000020004" pitchFamily="2" charset="0"/>
              </a:rPr>
              <a:t>DataFrame</a:t>
            </a:r>
            <a:r>
              <a:rPr lang="en-US" sz="1400" dirty="0">
                <a:solidFill>
                  <a:schemeClr val="bg1"/>
                </a:solidFill>
                <a:latin typeface="Gotham SSm A" panose="02000504050000020004" pitchFamily="2" charset="0"/>
              </a:rPr>
              <a:t> is sorted chronologically, which is essential for the temporal split that follows. This chronological ordering ensures that when we later split train/test, the temporal boundary is clean and unambiguous.</a:t>
            </a:r>
          </a:p>
        </p:txBody>
      </p:sp>
      <p:sp>
        <p:nvSpPr>
          <p:cNvPr id="18" name="TextBox 17">
            <a:extLst>
              <a:ext uri="{FF2B5EF4-FFF2-40B4-BE49-F238E27FC236}">
                <a16:creationId xmlns:a16="http://schemas.microsoft.com/office/drawing/2014/main" id="{AE285785-5840-1EA6-2162-F61B6253D0DE}"/>
              </a:ext>
            </a:extLst>
          </p:cNvPr>
          <p:cNvSpPr txBox="1"/>
          <p:nvPr/>
        </p:nvSpPr>
        <p:spPr>
          <a:xfrm>
            <a:off x="255507" y="1152583"/>
            <a:ext cx="4735593" cy="307777"/>
          </a:xfrm>
          <a:prstGeom prst="rect">
            <a:avLst/>
          </a:prstGeom>
          <a:noFill/>
        </p:spPr>
        <p:txBody>
          <a:bodyPr wrap="square" rtlCol="0">
            <a:spAutoFit/>
          </a:bodyPr>
          <a:lstStyle/>
          <a:p>
            <a:pPr defTabSz="1219170">
              <a:defRPr/>
            </a:pPr>
            <a:r>
              <a:rPr lang="en-US" sz="1400" b="1" dirty="0">
                <a:solidFill>
                  <a:schemeClr val="bg1"/>
                </a:solidFill>
                <a:latin typeface="Montserrat" pitchFamily="2" charset="77"/>
              </a:rPr>
              <a:t>Section 2: Data Loading (</a:t>
            </a:r>
            <a:r>
              <a:rPr lang="en-US" sz="1400" b="1" dirty="0" err="1">
                <a:solidFill>
                  <a:schemeClr val="bg1"/>
                </a:solidFill>
                <a:latin typeface="Montserrat" pitchFamily="2" charset="77"/>
              </a:rPr>
              <a:t>load_atp_data</a:t>
            </a:r>
            <a:r>
              <a:rPr lang="en-US" sz="1400" b="1" dirty="0">
                <a:solidFill>
                  <a:schemeClr val="bg1"/>
                </a:solidFill>
                <a:latin typeface="Montserrat" pitchFamily="2" charset="77"/>
              </a:rPr>
              <a:t>)</a:t>
            </a:r>
            <a:endParaRPr lang="en-IN" sz="1400" dirty="0">
              <a:solidFill>
                <a:schemeClr val="bg1"/>
              </a:solidFill>
              <a:latin typeface="Montserrat" pitchFamily="2" charset="77"/>
            </a:endParaRPr>
          </a:p>
        </p:txBody>
      </p:sp>
      <p:sp>
        <p:nvSpPr>
          <p:cNvPr id="14" name="TextBox 13">
            <a:extLst>
              <a:ext uri="{FF2B5EF4-FFF2-40B4-BE49-F238E27FC236}">
                <a16:creationId xmlns:a16="http://schemas.microsoft.com/office/drawing/2014/main" id="{DBA18902-4300-1BF2-FBE7-20B5F03AB7B5}"/>
              </a:ext>
            </a:extLst>
          </p:cNvPr>
          <p:cNvSpPr txBox="1"/>
          <p:nvPr/>
        </p:nvSpPr>
        <p:spPr>
          <a:xfrm>
            <a:off x="6524234" y="315387"/>
            <a:ext cx="2068011" cy="428322"/>
          </a:xfrm>
          <a:prstGeom prst="rect">
            <a:avLst/>
          </a:prstGeom>
          <a:noFill/>
        </p:spPr>
        <p:txBody>
          <a:bodyPr wrap="square" rtlCol="0">
            <a:spAutoFit/>
          </a:bodyPr>
          <a:lstStyle/>
          <a:p>
            <a:pPr algn="ctr">
              <a:lnSpc>
                <a:spcPts val="2920"/>
              </a:lnSpc>
            </a:pPr>
            <a:r>
              <a:rPr lang="en-US" sz="1600" b="1" dirty="0">
                <a:solidFill>
                  <a:schemeClr val="bg1"/>
                </a:solidFill>
                <a:effectLst>
                  <a:outerShdw blurRad="50800" dist="38100" dir="2700000" algn="tl" rotWithShape="0">
                    <a:prstClr val="black">
                      <a:alpha val="40000"/>
                    </a:prstClr>
                  </a:outerShdw>
                </a:effectLst>
                <a:latin typeface="Montserrat" pitchFamily="2" charset="77"/>
              </a:rPr>
              <a:t>Group 4</a:t>
            </a:r>
            <a:endParaRPr lang="en-US" sz="1600" dirty="0">
              <a:solidFill>
                <a:schemeClr val="bg1"/>
              </a:solidFill>
              <a:effectLst>
                <a:outerShdw blurRad="50800" dist="38100" dir="2700000" algn="tl" rotWithShape="0">
                  <a:prstClr val="black">
                    <a:alpha val="40000"/>
                  </a:prstClr>
                </a:outerShdw>
              </a:effectLst>
              <a:latin typeface="Montserrat" pitchFamily="2" charset="77"/>
            </a:endParaRPr>
          </a:p>
        </p:txBody>
      </p:sp>
      <p:sp>
        <p:nvSpPr>
          <p:cNvPr id="3" name="TextBox 2">
            <a:extLst>
              <a:ext uri="{FF2B5EF4-FFF2-40B4-BE49-F238E27FC236}">
                <a16:creationId xmlns:a16="http://schemas.microsoft.com/office/drawing/2014/main" id="{3F7ED162-C94C-3738-CF86-3E8580DD5546}"/>
              </a:ext>
            </a:extLst>
          </p:cNvPr>
          <p:cNvSpPr txBox="1"/>
          <p:nvPr/>
        </p:nvSpPr>
        <p:spPr>
          <a:xfrm>
            <a:off x="160074" y="246676"/>
            <a:ext cx="3065726" cy="669029"/>
          </a:xfrm>
          <a:prstGeom prst="rect">
            <a:avLst/>
          </a:prstGeom>
          <a:noFill/>
        </p:spPr>
        <p:txBody>
          <a:bodyPr wrap="square" rtlCol="0">
            <a:spAutoFit/>
          </a:bodyPr>
          <a:lstStyle/>
          <a:p>
            <a:pPr algn="ctr">
              <a:lnSpc>
                <a:spcPts val="2920"/>
              </a:lnSpc>
            </a:pPr>
            <a:r>
              <a:rPr lang="en-US" sz="1000" b="1" dirty="0">
                <a:solidFill>
                  <a:schemeClr val="bg1"/>
                </a:solidFill>
                <a:effectLst>
                  <a:outerShdw blurRad="50800" dist="38100" dir="2700000" algn="tl" rotWithShape="0">
                    <a:prstClr val="black">
                      <a:alpha val="40000"/>
                    </a:prstClr>
                  </a:outerShdw>
                </a:effectLst>
                <a:latin typeface="Montserrat" pitchFamily="2" charset="77"/>
              </a:rPr>
              <a:t>Posterior on the Baseline: Bayesian</a:t>
            </a:r>
          </a:p>
          <a:p>
            <a:pPr algn="ctr">
              <a:lnSpc>
                <a:spcPct val="150000"/>
              </a:lnSpc>
            </a:pPr>
            <a:r>
              <a:rPr lang="en-US" sz="1000" b="1" dirty="0">
                <a:solidFill>
                  <a:schemeClr val="bg1"/>
                </a:solidFill>
                <a:effectLst>
                  <a:outerShdw blurRad="50800" dist="38100" dir="2700000" algn="tl" rotWithShape="0">
                    <a:prstClr val="black">
                      <a:alpha val="40000"/>
                    </a:prstClr>
                  </a:outerShdw>
                </a:effectLst>
                <a:latin typeface="Montserrat" pitchFamily="2" charset="77"/>
              </a:rPr>
              <a:t>Tennis Tournament Predictions</a:t>
            </a:r>
            <a:endParaRPr lang="en-US" sz="1000" dirty="0">
              <a:solidFill>
                <a:schemeClr val="bg1"/>
              </a:solidFill>
              <a:effectLst>
                <a:outerShdw blurRad="50800" dist="38100" dir="2700000" algn="tl" rotWithShape="0">
                  <a:prstClr val="black">
                    <a:alpha val="40000"/>
                  </a:prstClr>
                </a:outerShdw>
              </a:effectLst>
              <a:latin typeface="Montserrat" pitchFamily="2" charset="77"/>
            </a:endParaRPr>
          </a:p>
        </p:txBody>
      </p:sp>
    </p:spTree>
    <p:extLst>
      <p:ext uri="{BB962C8B-B14F-4D97-AF65-F5344CB8AC3E}">
        <p14:creationId xmlns:p14="http://schemas.microsoft.com/office/powerpoint/2010/main" val="187538612"/>
      </p:ext>
    </p:extLst>
  </p:cSld>
  <p:clrMapOvr>
    <a:masterClrMapping/>
  </p:clrMapOvr>
  <mc:AlternateContent xmlns:mc="http://schemas.openxmlformats.org/markup-compatibility/2006">
    <mc:Choice xmlns:p14="http://schemas.microsoft.com/office/powerpoint/2010/main" Requires="p14">
      <p:transition spd="slow" p14:dur="6000" advClick="0" advTm="11000"/>
    </mc:Choice>
    <mc:Fallback>
      <p:transition spd="slow" advClick="0" advTm="1100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A532D6-F821-6C93-82C7-5CBD6C05157B}"/>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F9706A36-641B-106B-8FB2-D447DECCEB5A}"/>
              </a:ext>
            </a:extLst>
          </p:cNvPr>
          <p:cNvSpPr/>
          <p:nvPr/>
        </p:nvSpPr>
        <p:spPr>
          <a:xfrm>
            <a:off x="374650" y="1555821"/>
            <a:ext cx="8326330" cy="3539430"/>
          </a:xfrm>
          <a:prstGeom prst="rect">
            <a:avLst/>
          </a:prstGeom>
        </p:spPr>
        <p:txBody>
          <a:bodyPr wrap="square">
            <a:spAutoFit/>
          </a:bodyPr>
          <a:lstStyle/>
          <a:p>
            <a:pPr marL="285750" indent="-285750">
              <a:buFont typeface="Arial" panose="020B0604020202020204" pitchFamily="34" charset="0"/>
              <a:buChar char="•"/>
            </a:pPr>
            <a:r>
              <a:rPr lang="en-US" sz="1400" dirty="0">
                <a:solidFill>
                  <a:schemeClr val="bg1"/>
                </a:solidFill>
                <a:latin typeface="Gotham SSm A" panose="02000504050000020004" pitchFamily="2" charset="0"/>
              </a:rPr>
              <a:t>Two critical preprocessing steps happen here: </a:t>
            </a:r>
          </a:p>
          <a:p>
            <a:pPr marL="285750" indent="-285750">
              <a:buFont typeface="Arial" panose="020B0604020202020204" pitchFamily="34" charset="0"/>
              <a:buChar char="•"/>
            </a:pPr>
            <a:endParaRPr lang="en-US" sz="1400" dirty="0">
              <a:solidFill>
                <a:schemeClr val="bg1"/>
              </a:solidFill>
              <a:latin typeface="Gotham SSm A" panose="02000504050000020004" pitchFamily="2" charset="0"/>
            </a:endParaRPr>
          </a:p>
          <a:p>
            <a:pPr marL="800100" lvl="1" indent="-342900">
              <a:buFont typeface="+mj-lt"/>
              <a:buAutoNum type="arabicPeriod"/>
            </a:pPr>
            <a:r>
              <a:rPr lang="en-US" sz="1400" dirty="0">
                <a:solidFill>
                  <a:schemeClr val="bg1"/>
                </a:solidFill>
                <a:latin typeface="Gotham SSm A" panose="02000504050000020004" pitchFamily="2" charset="0"/>
              </a:rPr>
              <a:t>First, </a:t>
            </a:r>
            <a:r>
              <a:rPr lang="en-US" sz="1400" dirty="0" err="1">
                <a:solidFill>
                  <a:schemeClr val="bg1"/>
                </a:solidFill>
                <a:latin typeface="Gotham SSm A" panose="02000504050000020004" pitchFamily="2" charset="0"/>
              </a:rPr>
              <a:t>filter_players_by_min_matches</a:t>
            </a:r>
            <a:r>
              <a:rPr lang="en-US" sz="1400" dirty="0">
                <a:solidFill>
                  <a:schemeClr val="bg1"/>
                </a:solidFill>
                <a:latin typeface="Gotham SSm A" panose="02000504050000020004" pitchFamily="2" charset="0"/>
              </a:rPr>
              <a:t> removes players with fewer than 8 total appearances (as winner or loser) across the entire dataset. This filtering is necessary because Bayesian estimation of a player's skill parameter becomes extremely uncertain with very few observations; such players contribute more noise than signal, inflate the parameter space, and can cause MCMC sampling difficulties (divergences, low effective sample sizes). The threshold of 8 is a pragmatic balance between retaining coverage and ensuring estimation stability. </a:t>
            </a:r>
          </a:p>
          <a:p>
            <a:pPr marL="800100" lvl="1" indent="-342900">
              <a:buFont typeface="+mj-lt"/>
              <a:buAutoNum type="arabicPeriod"/>
            </a:pPr>
            <a:endParaRPr lang="en-US" sz="1400" dirty="0">
              <a:solidFill>
                <a:schemeClr val="bg1"/>
              </a:solidFill>
              <a:latin typeface="Gotham SSm A" panose="02000504050000020004" pitchFamily="2" charset="0"/>
            </a:endParaRPr>
          </a:p>
          <a:p>
            <a:pPr marL="800100" lvl="1" indent="-342900">
              <a:buFont typeface="+mj-lt"/>
              <a:buAutoNum type="arabicPeriod"/>
            </a:pPr>
            <a:r>
              <a:rPr lang="en-US" sz="1400" dirty="0">
                <a:solidFill>
                  <a:schemeClr val="bg1"/>
                </a:solidFill>
                <a:latin typeface="Gotham SSm A" panose="02000504050000020004" pitchFamily="2" charset="0"/>
              </a:rPr>
              <a:t>Second, </a:t>
            </a:r>
            <a:r>
              <a:rPr lang="en-US" sz="1400" dirty="0" err="1">
                <a:solidFill>
                  <a:schemeClr val="bg1"/>
                </a:solidFill>
                <a:latin typeface="Gotham SSm A" panose="02000504050000020004" pitchFamily="2" charset="0"/>
              </a:rPr>
              <a:t>encode_players_by_id</a:t>
            </a:r>
            <a:r>
              <a:rPr lang="en-US" sz="1400" dirty="0">
                <a:solidFill>
                  <a:schemeClr val="bg1"/>
                </a:solidFill>
                <a:latin typeface="Gotham SSm A" panose="02000504050000020004" pitchFamily="2" charset="0"/>
              </a:rPr>
              <a:t> creates a deterministic, integer-based mapping from ATP player IDs to contiguous indices (0, 1, 2, …). This is stored in a </a:t>
            </a:r>
            <a:r>
              <a:rPr lang="en-US" sz="1400" dirty="0" err="1">
                <a:solidFill>
                  <a:schemeClr val="bg1"/>
                </a:solidFill>
                <a:latin typeface="Gotham SSm A" panose="02000504050000020004" pitchFamily="2" charset="0"/>
              </a:rPr>
              <a:t>PlayerEncoding</a:t>
            </a:r>
            <a:r>
              <a:rPr lang="en-US" sz="1400" dirty="0">
                <a:solidFill>
                  <a:schemeClr val="bg1"/>
                </a:solidFill>
                <a:latin typeface="Gotham SSm A" panose="02000504050000020004" pitchFamily="2" charset="0"/>
              </a:rPr>
              <a:t> </a:t>
            </a:r>
            <a:r>
              <a:rPr lang="en-US" sz="1400" dirty="0" err="1">
                <a:solidFill>
                  <a:schemeClr val="bg1"/>
                </a:solidFill>
                <a:latin typeface="Gotham SSm A" panose="02000504050000020004" pitchFamily="2" charset="0"/>
              </a:rPr>
              <a:t>dataclass</a:t>
            </a:r>
            <a:r>
              <a:rPr lang="en-US" sz="1400" dirty="0">
                <a:solidFill>
                  <a:schemeClr val="bg1"/>
                </a:solidFill>
                <a:latin typeface="Gotham SSm A" panose="02000504050000020004" pitchFamily="2" charset="0"/>
              </a:rPr>
              <a:t> containing bidirectional lookups. Using numeric ATP IDs rather than player names is crucial because names can have encoding issues, diacritical variations, or format changes across years (e.g., "Rafael Nadal" vs. "R Nadal"). The contiguous integer indices are required by </a:t>
            </a:r>
            <a:r>
              <a:rPr lang="en-US" sz="1400" dirty="0" err="1">
                <a:solidFill>
                  <a:schemeClr val="bg1"/>
                </a:solidFill>
                <a:latin typeface="Gotham SSm A" panose="02000504050000020004" pitchFamily="2" charset="0"/>
              </a:rPr>
              <a:t>PyMC</a:t>
            </a:r>
            <a:r>
              <a:rPr lang="en-US" sz="1400" dirty="0">
                <a:solidFill>
                  <a:schemeClr val="bg1"/>
                </a:solidFill>
                <a:latin typeface="Gotham SSm A" panose="02000504050000020004" pitchFamily="2" charset="0"/>
              </a:rPr>
              <a:t>/</a:t>
            </a:r>
            <a:r>
              <a:rPr lang="en-US" sz="1400" dirty="0" err="1">
                <a:solidFill>
                  <a:schemeClr val="bg1"/>
                </a:solidFill>
                <a:latin typeface="Gotham SSm A" panose="02000504050000020004" pitchFamily="2" charset="0"/>
              </a:rPr>
              <a:t>PyTensor</a:t>
            </a:r>
            <a:r>
              <a:rPr lang="en-US" sz="1400" dirty="0">
                <a:solidFill>
                  <a:schemeClr val="bg1"/>
                </a:solidFill>
                <a:latin typeface="Gotham SSm A" panose="02000504050000020004" pitchFamily="2" charset="0"/>
              </a:rPr>
              <a:t> for efficient array indexing into the skill parameter vector theta[</a:t>
            </a:r>
            <a:r>
              <a:rPr lang="en-US" sz="1400" dirty="0" err="1">
                <a:solidFill>
                  <a:schemeClr val="bg1"/>
                </a:solidFill>
                <a:latin typeface="Gotham SSm A" panose="02000504050000020004" pitchFamily="2" charset="0"/>
              </a:rPr>
              <a:t>player_idx</a:t>
            </a:r>
            <a:r>
              <a:rPr lang="en-US" sz="1400" dirty="0">
                <a:solidFill>
                  <a:schemeClr val="bg1"/>
                </a:solidFill>
                <a:latin typeface="Gotham SSm A" panose="02000504050000020004" pitchFamily="2" charset="0"/>
              </a:rPr>
              <a:t>]. The encoding is built from all data (train + test), ensuring consistent indices across splits.</a:t>
            </a:r>
          </a:p>
        </p:txBody>
      </p:sp>
      <p:sp>
        <p:nvSpPr>
          <p:cNvPr id="18" name="TextBox 17">
            <a:extLst>
              <a:ext uri="{FF2B5EF4-FFF2-40B4-BE49-F238E27FC236}">
                <a16:creationId xmlns:a16="http://schemas.microsoft.com/office/drawing/2014/main" id="{748C447F-7BFB-9872-F4C3-5F5DF7F34DEF}"/>
              </a:ext>
            </a:extLst>
          </p:cNvPr>
          <p:cNvSpPr txBox="1"/>
          <p:nvPr/>
        </p:nvSpPr>
        <p:spPr>
          <a:xfrm>
            <a:off x="255507" y="1152583"/>
            <a:ext cx="8445473" cy="307777"/>
          </a:xfrm>
          <a:prstGeom prst="rect">
            <a:avLst/>
          </a:prstGeom>
          <a:noFill/>
        </p:spPr>
        <p:txBody>
          <a:bodyPr wrap="square" rtlCol="0">
            <a:spAutoFit/>
          </a:bodyPr>
          <a:lstStyle/>
          <a:p>
            <a:pPr defTabSz="1219170">
              <a:defRPr/>
            </a:pPr>
            <a:r>
              <a:rPr lang="en-US" sz="1400" b="1" dirty="0">
                <a:solidFill>
                  <a:schemeClr val="bg1"/>
                </a:solidFill>
                <a:latin typeface="Montserrat" pitchFamily="2" charset="77"/>
              </a:rPr>
              <a:t>Section 3: Player Encoding &amp; Filtering </a:t>
            </a:r>
            <a:r>
              <a:rPr lang="en-US" sz="1200" b="1" dirty="0">
                <a:solidFill>
                  <a:schemeClr val="bg1"/>
                </a:solidFill>
                <a:latin typeface="Montserrat" pitchFamily="2" charset="77"/>
              </a:rPr>
              <a:t>(</a:t>
            </a:r>
            <a:r>
              <a:rPr lang="en-US" sz="1200" b="1" dirty="0" err="1">
                <a:solidFill>
                  <a:schemeClr val="bg1"/>
                </a:solidFill>
                <a:latin typeface="Montserrat" pitchFamily="2" charset="77"/>
              </a:rPr>
              <a:t>filter_players_by_min_matches</a:t>
            </a:r>
            <a:r>
              <a:rPr lang="en-US" sz="1200" b="1" dirty="0">
                <a:solidFill>
                  <a:schemeClr val="bg1"/>
                </a:solidFill>
                <a:latin typeface="Montserrat" pitchFamily="2" charset="77"/>
              </a:rPr>
              <a:t>, </a:t>
            </a:r>
            <a:r>
              <a:rPr lang="en-US" sz="1200" b="1" dirty="0" err="1">
                <a:solidFill>
                  <a:schemeClr val="bg1"/>
                </a:solidFill>
                <a:latin typeface="Montserrat" pitchFamily="2" charset="77"/>
              </a:rPr>
              <a:t>encode_players_by_id</a:t>
            </a:r>
            <a:r>
              <a:rPr lang="en-US" sz="1200" b="1" dirty="0">
                <a:solidFill>
                  <a:schemeClr val="bg1"/>
                </a:solidFill>
                <a:latin typeface="Montserrat" pitchFamily="2" charset="77"/>
              </a:rPr>
              <a:t>)</a:t>
            </a:r>
            <a:endParaRPr lang="en-IN" sz="1200" dirty="0">
              <a:solidFill>
                <a:schemeClr val="bg1"/>
              </a:solidFill>
              <a:latin typeface="Montserrat" pitchFamily="2" charset="77"/>
            </a:endParaRPr>
          </a:p>
        </p:txBody>
      </p:sp>
      <p:sp>
        <p:nvSpPr>
          <p:cNvPr id="14" name="TextBox 13">
            <a:extLst>
              <a:ext uri="{FF2B5EF4-FFF2-40B4-BE49-F238E27FC236}">
                <a16:creationId xmlns:a16="http://schemas.microsoft.com/office/drawing/2014/main" id="{2A22A471-9501-6D8E-14E0-E862BA6DFF86}"/>
              </a:ext>
            </a:extLst>
          </p:cNvPr>
          <p:cNvSpPr txBox="1"/>
          <p:nvPr/>
        </p:nvSpPr>
        <p:spPr>
          <a:xfrm>
            <a:off x="6524234" y="315387"/>
            <a:ext cx="2068011" cy="428322"/>
          </a:xfrm>
          <a:prstGeom prst="rect">
            <a:avLst/>
          </a:prstGeom>
          <a:noFill/>
        </p:spPr>
        <p:txBody>
          <a:bodyPr wrap="square" rtlCol="0">
            <a:spAutoFit/>
          </a:bodyPr>
          <a:lstStyle/>
          <a:p>
            <a:pPr algn="ctr">
              <a:lnSpc>
                <a:spcPts val="2920"/>
              </a:lnSpc>
            </a:pPr>
            <a:r>
              <a:rPr lang="en-US" sz="1600" b="1" dirty="0">
                <a:solidFill>
                  <a:schemeClr val="bg1"/>
                </a:solidFill>
                <a:effectLst>
                  <a:outerShdw blurRad="50800" dist="38100" dir="2700000" algn="tl" rotWithShape="0">
                    <a:prstClr val="black">
                      <a:alpha val="40000"/>
                    </a:prstClr>
                  </a:outerShdw>
                </a:effectLst>
                <a:latin typeface="Montserrat" pitchFamily="2" charset="77"/>
              </a:rPr>
              <a:t>Group 4</a:t>
            </a:r>
            <a:endParaRPr lang="en-US" sz="1600" dirty="0">
              <a:solidFill>
                <a:schemeClr val="bg1"/>
              </a:solidFill>
              <a:effectLst>
                <a:outerShdw blurRad="50800" dist="38100" dir="2700000" algn="tl" rotWithShape="0">
                  <a:prstClr val="black">
                    <a:alpha val="40000"/>
                  </a:prstClr>
                </a:outerShdw>
              </a:effectLst>
              <a:latin typeface="Montserrat" pitchFamily="2" charset="77"/>
            </a:endParaRPr>
          </a:p>
        </p:txBody>
      </p:sp>
      <p:sp>
        <p:nvSpPr>
          <p:cNvPr id="3" name="TextBox 2">
            <a:extLst>
              <a:ext uri="{FF2B5EF4-FFF2-40B4-BE49-F238E27FC236}">
                <a16:creationId xmlns:a16="http://schemas.microsoft.com/office/drawing/2014/main" id="{60E21981-8E89-37D6-BCCE-E97313A30D0C}"/>
              </a:ext>
            </a:extLst>
          </p:cNvPr>
          <p:cNvSpPr txBox="1"/>
          <p:nvPr/>
        </p:nvSpPr>
        <p:spPr>
          <a:xfrm>
            <a:off x="160074" y="246676"/>
            <a:ext cx="3065726" cy="669029"/>
          </a:xfrm>
          <a:prstGeom prst="rect">
            <a:avLst/>
          </a:prstGeom>
          <a:noFill/>
        </p:spPr>
        <p:txBody>
          <a:bodyPr wrap="square" rtlCol="0">
            <a:spAutoFit/>
          </a:bodyPr>
          <a:lstStyle/>
          <a:p>
            <a:pPr algn="ctr">
              <a:lnSpc>
                <a:spcPts val="2920"/>
              </a:lnSpc>
            </a:pPr>
            <a:r>
              <a:rPr lang="en-US" sz="1000" b="1" dirty="0">
                <a:solidFill>
                  <a:schemeClr val="bg1"/>
                </a:solidFill>
                <a:effectLst>
                  <a:outerShdw blurRad="50800" dist="38100" dir="2700000" algn="tl" rotWithShape="0">
                    <a:prstClr val="black">
                      <a:alpha val="40000"/>
                    </a:prstClr>
                  </a:outerShdw>
                </a:effectLst>
                <a:latin typeface="Montserrat" pitchFamily="2" charset="77"/>
              </a:rPr>
              <a:t>Posterior on the Baseline: Bayesian</a:t>
            </a:r>
          </a:p>
          <a:p>
            <a:pPr algn="ctr">
              <a:lnSpc>
                <a:spcPct val="150000"/>
              </a:lnSpc>
            </a:pPr>
            <a:r>
              <a:rPr lang="en-US" sz="1000" b="1" dirty="0">
                <a:solidFill>
                  <a:schemeClr val="bg1"/>
                </a:solidFill>
                <a:effectLst>
                  <a:outerShdw blurRad="50800" dist="38100" dir="2700000" algn="tl" rotWithShape="0">
                    <a:prstClr val="black">
                      <a:alpha val="40000"/>
                    </a:prstClr>
                  </a:outerShdw>
                </a:effectLst>
                <a:latin typeface="Montserrat" pitchFamily="2" charset="77"/>
              </a:rPr>
              <a:t>Tennis Tournament Predictions</a:t>
            </a:r>
            <a:endParaRPr lang="en-US" sz="1000" dirty="0">
              <a:solidFill>
                <a:schemeClr val="bg1"/>
              </a:solidFill>
              <a:effectLst>
                <a:outerShdw blurRad="50800" dist="38100" dir="2700000" algn="tl" rotWithShape="0">
                  <a:prstClr val="black">
                    <a:alpha val="40000"/>
                  </a:prstClr>
                </a:outerShdw>
              </a:effectLst>
              <a:latin typeface="Montserrat" pitchFamily="2" charset="77"/>
            </a:endParaRPr>
          </a:p>
        </p:txBody>
      </p:sp>
    </p:spTree>
    <p:extLst>
      <p:ext uri="{BB962C8B-B14F-4D97-AF65-F5344CB8AC3E}">
        <p14:creationId xmlns:p14="http://schemas.microsoft.com/office/powerpoint/2010/main" val="985975995"/>
      </p:ext>
    </p:extLst>
  </p:cSld>
  <p:clrMapOvr>
    <a:masterClrMapping/>
  </p:clrMapOvr>
  <mc:AlternateContent xmlns:mc="http://schemas.openxmlformats.org/markup-compatibility/2006">
    <mc:Choice xmlns:p14="http://schemas.microsoft.com/office/powerpoint/2010/main" Requires="p14">
      <p:transition spd="slow" p14:dur="6000" advClick="0" advTm="11000"/>
    </mc:Choice>
    <mc:Fallback>
      <p:transition spd="slow" advClick="0" advTm="1100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081761-0341-3B06-9A7C-D04F96DE73AF}"/>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36656EA3-5438-98D2-660F-FED39D5B3137}"/>
              </a:ext>
            </a:extLst>
          </p:cNvPr>
          <p:cNvSpPr/>
          <p:nvPr/>
        </p:nvSpPr>
        <p:spPr>
          <a:xfrm>
            <a:off x="374650" y="1555821"/>
            <a:ext cx="8326330" cy="3754874"/>
          </a:xfrm>
          <a:prstGeom prst="rect">
            <a:avLst/>
          </a:prstGeom>
        </p:spPr>
        <p:txBody>
          <a:bodyPr wrap="square">
            <a:spAutoFit/>
          </a:bodyPr>
          <a:lstStyle/>
          <a:p>
            <a:pPr marL="285750" indent="-285750">
              <a:buFont typeface="Arial" panose="020B0604020202020204" pitchFamily="34" charset="0"/>
              <a:buChar char="•"/>
            </a:pPr>
            <a:r>
              <a:rPr lang="en-US" sz="1400" dirty="0" err="1">
                <a:solidFill>
                  <a:schemeClr val="bg1"/>
                </a:solidFill>
                <a:latin typeface="Gotham SSm A" panose="02000504050000020004" pitchFamily="2" charset="0"/>
              </a:rPr>
              <a:t>assign_time_periods</a:t>
            </a:r>
            <a:r>
              <a:rPr lang="en-US" sz="1400" dirty="0">
                <a:solidFill>
                  <a:schemeClr val="bg1"/>
                </a:solidFill>
                <a:latin typeface="Gotham SSm A" panose="02000504050000020004" pitchFamily="2" charset="0"/>
              </a:rPr>
              <a:t> discretizes the continuous tournament dates into quarterly periods (Q1–Q4 of each year), creating a period integer index used by the dynamic BT model's random walk. Quarterly granularity balances having enough matches per period for stable estimation against capturing meaningful skill evolution (players' form can shift substantially over a quarter due to injury, surface preferences, etc.). </a:t>
            </a:r>
          </a:p>
          <a:p>
            <a:pPr marL="285750" indent="-285750">
              <a:buFont typeface="Arial" panose="020B0604020202020204" pitchFamily="34" charset="0"/>
              <a:buChar char="•"/>
            </a:pPr>
            <a:endParaRPr lang="en-US" sz="1400" dirty="0">
              <a:solidFill>
                <a:schemeClr val="bg1"/>
              </a:solidFill>
              <a:latin typeface="Gotham SSm A" panose="02000504050000020004" pitchFamily="2" charset="0"/>
            </a:endParaRPr>
          </a:p>
          <a:p>
            <a:pPr marL="285750" indent="-285750">
              <a:buFont typeface="Arial" panose="020B0604020202020204" pitchFamily="34" charset="0"/>
              <a:buChar char="•"/>
            </a:pPr>
            <a:r>
              <a:rPr lang="en-US" sz="1400" dirty="0">
                <a:solidFill>
                  <a:schemeClr val="bg1"/>
                </a:solidFill>
                <a:latin typeface="Gotham SSm A" panose="02000504050000020004" pitchFamily="2" charset="0"/>
              </a:rPr>
              <a:t>The </a:t>
            </a:r>
            <a:r>
              <a:rPr lang="en-US" sz="1400" dirty="0" err="1">
                <a:solidFill>
                  <a:schemeClr val="bg1"/>
                </a:solidFill>
                <a:latin typeface="Gotham SSm A" panose="02000504050000020004" pitchFamily="2" charset="0"/>
              </a:rPr>
              <a:t>temporal_tournament_split</a:t>
            </a:r>
            <a:r>
              <a:rPr lang="en-US" sz="1400" dirty="0">
                <a:solidFill>
                  <a:schemeClr val="bg1"/>
                </a:solidFill>
                <a:latin typeface="Gotham SSm A" panose="02000504050000020004" pitchFamily="2" charset="0"/>
              </a:rPr>
              <a:t> function implements the strict temporal holdout — the most important methodological correction. It identifies all matches from the test tournament (Wimbledon 2023), then sets the training cutoff to the first date of that tournament. Training data includes only matches strictly before this cutoff, preventing any future information from leaking into the model. </a:t>
            </a:r>
          </a:p>
          <a:p>
            <a:pPr marL="285750" indent="-285750">
              <a:buFont typeface="Arial" panose="020B0604020202020204" pitchFamily="34" charset="0"/>
              <a:buChar char="•"/>
            </a:pPr>
            <a:endParaRPr lang="en-US" sz="1400" dirty="0">
              <a:solidFill>
                <a:schemeClr val="bg1"/>
              </a:solidFill>
              <a:latin typeface="Gotham SSm A" panose="02000504050000020004" pitchFamily="2" charset="0"/>
            </a:endParaRPr>
          </a:p>
          <a:p>
            <a:pPr marL="742950" lvl="1" indent="-285750">
              <a:buFont typeface="Arial" panose="020B0604020202020204" pitchFamily="34" charset="0"/>
              <a:buChar char="•"/>
            </a:pPr>
            <a:r>
              <a:rPr lang="en-US" sz="1400" dirty="0">
                <a:solidFill>
                  <a:schemeClr val="bg1"/>
                </a:solidFill>
                <a:latin typeface="Gotham SSm A" panose="02000504050000020004" pitchFamily="2" charset="0"/>
              </a:rPr>
              <a:t>This is fundamentally different from random train/test splits, which would violate temporal causality — a model could "see" a player's post-Wimbledon form when predicting Wimbledon outcomes. </a:t>
            </a:r>
          </a:p>
          <a:p>
            <a:pPr marL="742950" lvl="1" indent="-285750">
              <a:buFont typeface="Arial" panose="020B0604020202020204" pitchFamily="34" charset="0"/>
              <a:buChar char="•"/>
            </a:pPr>
            <a:endParaRPr lang="en-US" sz="1400" dirty="0">
              <a:solidFill>
                <a:schemeClr val="bg1"/>
              </a:solidFill>
              <a:latin typeface="Gotham SSm A" panose="02000504050000020004" pitchFamily="2" charset="0"/>
            </a:endParaRPr>
          </a:p>
          <a:p>
            <a:pPr marL="1200150" lvl="2" indent="-285750">
              <a:buFont typeface="Arial" panose="020B0604020202020204" pitchFamily="34" charset="0"/>
              <a:buChar char="•"/>
            </a:pPr>
            <a:r>
              <a:rPr lang="en-US" sz="1400" dirty="0">
                <a:solidFill>
                  <a:schemeClr val="bg1"/>
                </a:solidFill>
                <a:latin typeface="Gotham SSm A" panose="02000504050000020004" pitchFamily="2" charset="0"/>
              </a:rPr>
              <a:t>Additionally, the function filters the test set to include only players who appeared in training, since the model cannot estimate skill for completely unseen players. This is analogous to the "cold start" problem; handling truly new players would require a separate mechanism (e.g., rank-based priors).</a:t>
            </a:r>
          </a:p>
        </p:txBody>
      </p:sp>
      <p:sp>
        <p:nvSpPr>
          <p:cNvPr id="18" name="TextBox 17">
            <a:extLst>
              <a:ext uri="{FF2B5EF4-FFF2-40B4-BE49-F238E27FC236}">
                <a16:creationId xmlns:a16="http://schemas.microsoft.com/office/drawing/2014/main" id="{7F4392D0-7F0F-F8DD-372B-E17B53821DF5}"/>
              </a:ext>
            </a:extLst>
          </p:cNvPr>
          <p:cNvSpPr txBox="1"/>
          <p:nvPr/>
        </p:nvSpPr>
        <p:spPr>
          <a:xfrm>
            <a:off x="255507" y="1152583"/>
            <a:ext cx="8513843" cy="307777"/>
          </a:xfrm>
          <a:prstGeom prst="rect">
            <a:avLst/>
          </a:prstGeom>
          <a:noFill/>
        </p:spPr>
        <p:txBody>
          <a:bodyPr wrap="square" rtlCol="0">
            <a:spAutoFit/>
          </a:bodyPr>
          <a:lstStyle/>
          <a:p>
            <a:pPr defTabSz="1219170">
              <a:defRPr/>
            </a:pPr>
            <a:r>
              <a:rPr lang="en-US" sz="1400" b="1" dirty="0">
                <a:solidFill>
                  <a:schemeClr val="bg1"/>
                </a:solidFill>
                <a:latin typeface="Montserrat" pitchFamily="2" charset="77"/>
              </a:rPr>
              <a:t>Section 4: Time Indexing &amp; Temporal Split </a:t>
            </a:r>
            <a:r>
              <a:rPr lang="en-US" sz="1200" b="1" dirty="0">
                <a:solidFill>
                  <a:schemeClr val="bg1"/>
                </a:solidFill>
                <a:latin typeface="Montserrat" pitchFamily="2" charset="77"/>
              </a:rPr>
              <a:t>(</a:t>
            </a:r>
            <a:r>
              <a:rPr lang="en-US" sz="1200" b="1" dirty="0" err="1">
                <a:solidFill>
                  <a:schemeClr val="bg1"/>
                </a:solidFill>
                <a:latin typeface="Montserrat" pitchFamily="2" charset="77"/>
              </a:rPr>
              <a:t>assign_time_periods</a:t>
            </a:r>
            <a:r>
              <a:rPr lang="en-US" sz="1200" b="1" dirty="0">
                <a:solidFill>
                  <a:schemeClr val="bg1"/>
                </a:solidFill>
                <a:latin typeface="Montserrat" pitchFamily="2" charset="77"/>
              </a:rPr>
              <a:t>, </a:t>
            </a:r>
            <a:r>
              <a:rPr lang="en-US" sz="1200" b="1" dirty="0" err="1">
                <a:solidFill>
                  <a:schemeClr val="bg1"/>
                </a:solidFill>
                <a:latin typeface="Montserrat" pitchFamily="2" charset="77"/>
              </a:rPr>
              <a:t>temporal_tournament_split</a:t>
            </a:r>
            <a:r>
              <a:rPr lang="en-US" sz="1200" b="1" dirty="0">
                <a:solidFill>
                  <a:schemeClr val="bg1"/>
                </a:solidFill>
                <a:latin typeface="Montserrat" pitchFamily="2" charset="77"/>
              </a:rPr>
              <a:t>)</a:t>
            </a:r>
            <a:endParaRPr lang="en-IN" sz="1200" dirty="0">
              <a:solidFill>
                <a:schemeClr val="bg1"/>
              </a:solidFill>
              <a:latin typeface="Montserrat" pitchFamily="2" charset="77"/>
            </a:endParaRPr>
          </a:p>
        </p:txBody>
      </p:sp>
      <p:sp>
        <p:nvSpPr>
          <p:cNvPr id="14" name="TextBox 13">
            <a:extLst>
              <a:ext uri="{FF2B5EF4-FFF2-40B4-BE49-F238E27FC236}">
                <a16:creationId xmlns:a16="http://schemas.microsoft.com/office/drawing/2014/main" id="{EBD833C7-FEA4-296C-86BE-6A8BDACF9655}"/>
              </a:ext>
            </a:extLst>
          </p:cNvPr>
          <p:cNvSpPr txBox="1"/>
          <p:nvPr/>
        </p:nvSpPr>
        <p:spPr>
          <a:xfrm>
            <a:off x="6524234" y="315387"/>
            <a:ext cx="2068011" cy="428322"/>
          </a:xfrm>
          <a:prstGeom prst="rect">
            <a:avLst/>
          </a:prstGeom>
          <a:noFill/>
        </p:spPr>
        <p:txBody>
          <a:bodyPr wrap="square" rtlCol="0">
            <a:spAutoFit/>
          </a:bodyPr>
          <a:lstStyle/>
          <a:p>
            <a:pPr algn="ctr">
              <a:lnSpc>
                <a:spcPts val="2920"/>
              </a:lnSpc>
            </a:pPr>
            <a:r>
              <a:rPr lang="en-US" sz="1600" b="1" dirty="0">
                <a:solidFill>
                  <a:schemeClr val="bg1"/>
                </a:solidFill>
                <a:effectLst>
                  <a:outerShdw blurRad="50800" dist="38100" dir="2700000" algn="tl" rotWithShape="0">
                    <a:prstClr val="black">
                      <a:alpha val="40000"/>
                    </a:prstClr>
                  </a:outerShdw>
                </a:effectLst>
                <a:latin typeface="Montserrat" pitchFamily="2" charset="77"/>
              </a:rPr>
              <a:t>Group 4</a:t>
            </a:r>
            <a:endParaRPr lang="en-US" sz="1600" dirty="0">
              <a:solidFill>
                <a:schemeClr val="bg1"/>
              </a:solidFill>
              <a:effectLst>
                <a:outerShdw blurRad="50800" dist="38100" dir="2700000" algn="tl" rotWithShape="0">
                  <a:prstClr val="black">
                    <a:alpha val="40000"/>
                  </a:prstClr>
                </a:outerShdw>
              </a:effectLst>
              <a:latin typeface="Montserrat" pitchFamily="2" charset="77"/>
            </a:endParaRPr>
          </a:p>
        </p:txBody>
      </p:sp>
      <p:sp>
        <p:nvSpPr>
          <p:cNvPr id="3" name="TextBox 2">
            <a:extLst>
              <a:ext uri="{FF2B5EF4-FFF2-40B4-BE49-F238E27FC236}">
                <a16:creationId xmlns:a16="http://schemas.microsoft.com/office/drawing/2014/main" id="{277BA5B6-1C16-1AB0-0307-766ED5106811}"/>
              </a:ext>
            </a:extLst>
          </p:cNvPr>
          <p:cNvSpPr txBox="1"/>
          <p:nvPr/>
        </p:nvSpPr>
        <p:spPr>
          <a:xfrm>
            <a:off x="160074" y="246676"/>
            <a:ext cx="3065726" cy="669029"/>
          </a:xfrm>
          <a:prstGeom prst="rect">
            <a:avLst/>
          </a:prstGeom>
          <a:noFill/>
        </p:spPr>
        <p:txBody>
          <a:bodyPr wrap="square" rtlCol="0">
            <a:spAutoFit/>
          </a:bodyPr>
          <a:lstStyle/>
          <a:p>
            <a:pPr algn="ctr">
              <a:lnSpc>
                <a:spcPts val="2920"/>
              </a:lnSpc>
            </a:pPr>
            <a:r>
              <a:rPr lang="en-US" sz="1000" b="1" dirty="0">
                <a:solidFill>
                  <a:schemeClr val="bg1"/>
                </a:solidFill>
                <a:effectLst>
                  <a:outerShdw blurRad="50800" dist="38100" dir="2700000" algn="tl" rotWithShape="0">
                    <a:prstClr val="black">
                      <a:alpha val="40000"/>
                    </a:prstClr>
                  </a:outerShdw>
                </a:effectLst>
                <a:latin typeface="Montserrat" pitchFamily="2" charset="77"/>
              </a:rPr>
              <a:t>Posterior on the Baseline: Bayesian</a:t>
            </a:r>
          </a:p>
          <a:p>
            <a:pPr algn="ctr">
              <a:lnSpc>
                <a:spcPct val="150000"/>
              </a:lnSpc>
            </a:pPr>
            <a:r>
              <a:rPr lang="en-US" sz="1000" b="1" dirty="0">
                <a:solidFill>
                  <a:schemeClr val="bg1"/>
                </a:solidFill>
                <a:effectLst>
                  <a:outerShdw blurRad="50800" dist="38100" dir="2700000" algn="tl" rotWithShape="0">
                    <a:prstClr val="black">
                      <a:alpha val="40000"/>
                    </a:prstClr>
                  </a:outerShdw>
                </a:effectLst>
                <a:latin typeface="Montserrat" pitchFamily="2" charset="77"/>
              </a:rPr>
              <a:t>Tennis Tournament Predictions</a:t>
            </a:r>
            <a:endParaRPr lang="en-US" sz="1000" dirty="0">
              <a:solidFill>
                <a:schemeClr val="bg1"/>
              </a:solidFill>
              <a:effectLst>
                <a:outerShdw blurRad="50800" dist="38100" dir="2700000" algn="tl" rotWithShape="0">
                  <a:prstClr val="black">
                    <a:alpha val="40000"/>
                  </a:prstClr>
                </a:outerShdw>
              </a:effectLst>
              <a:latin typeface="Montserrat" pitchFamily="2" charset="77"/>
            </a:endParaRPr>
          </a:p>
        </p:txBody>
      </p:sp>
    </p:spTree>
    <p:extLst>
      <p:ext uri="{BB962C8B-B14F-4D97-AF65-F5344CB8AC3E}">
        <p14:creationId xmlns:p14="http://schemas.microsoft.com/office/powerpoint/2010/main" val="3241910121"/>
      </p:ext>
    </p:extLst>
  </p:cSld>
  <p:clrMapOvr>
    <a:masterClrMapping/>
  </p:clrMapOvr>
  <mc:AlternateContent xmlns:mc="http://schemas.openxmlformats.org/markup-compatibility/2006">
    <mc:Choice xmlns:p14="http://schemas.microsoft.com/office/powerpoint/2010/main" Requires="p14">
      <p:transition spd="slow" p14:dur="6000" advClick="0" advTm="11000"/>
    </mc:Choice>
    <mc:Fallback>
      <p:transition spd="slow" advClick="0" advTm="1100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338F36-9AEF-1E1C-28F3-0F5F54430209}"/>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54F8AF0A-BD98-352F-9F5F-CA800CFCBEAB}"/>
              </a:ext>
            </a:extLst>
          </p:cNvPr>
          <p:cNvSpPr/>
          <p:nvPr/>
        </p:nvSpPr>
        <p:spPr>
          <a:xfrm>
            <a:off x="374650" y="1555821"/>
            <a:ext cx="8326330" cy="4401205"/>
          </a:xfrm>
          <a:prstGeom prst="rect">
            <a:avLst/>
          </a:prstGeom>
        </p:spPr>
        <p:txBody>
          <a:bodyPr wrap="square">
            <a:spAutoFit/>
          </a:bodyPr>
          <a:lstStyle/>
          <a:p>
            <a:pPr marL="285750" indent="-285750">
              <a:buFont typeface="Arial" panose="020B0604020202020204" pitchFamily="34" charset="0"/>
              <a:buChar char="•"/>
            </a:pPr>
            <a:r>
              <a:rPr lang="en-US" sz="1400" dirty="0">
                <a:solidFill>
                  <a:schemeClr val="bg1"/>
                </a:solidFill>
                <a:latin typeface="Gotham SSm A" panose="02000504050000020004" pitchFamily="2" charset="0"/>
              </a:rPr>
              <a:t>This is perhaps the most nuanced preprocessing step. Each original match row (winner/loser) is expanded into two symmetric rows: (p1=winner, p2=loser, y=1) and (p1=loser, p2=winner, y=0). This </a:t>
            </a:r>
            <a:r>
              <a:rPr lang="en-US" sz="1400" dirty="0" err="1">
                <a:solidFill>
                  <a:schemeClr val="bg1"/>
                </a:solidFill>
                <a:latin typeface="Gotham SSm A" panose="02000504050000020004" pitchFamily="2" charset="0"/>
              </a:rPr>
              <a:t>symmetrization</a:t>
            </a:r>
            <a:r>
              <a:rPr lang="en-US" sz="1400" dirty="0">
                <a:solidFill>
                  <a:schemeClr val="bg1"/>
                </a:solidFill>
                <a:latin typeface="Gotham SSm A" panose="02000504050000020004" pitchFamily="2" charset="0"/>
              </a:rPr>
              <a:t> is essential for the BT logistic likelihood: P(y=1) = σ(θ_p1 − θ_p2 + X·β). Without it, covariates like </a:t>
            </a:r>
            <a:r>
              <a:rPr lang="en-US" sz="1400" dirty="0" err="1">
                <a:solidFill>
                  <a:schemeClr val="bg1"/>
                </a:solidFill>
                <a:latin typeface="Gotham SSm A" panose="02000504050000020004" pitchFamily="2" charset="0"/>
              </a:rPr>
              <a:t>rank_diff</a:t>
            </a:r>
            <a:r>
              <a:rPr lang="en-US" sz="1400" dirty="0">
                <a:solidFill>
                  <a:schemeClr val="bg1"/>
                </a:solidFill>
                <a:latin typeface="Gotham SSm A" panose="02000504050000020004" pitchFamily="2" charset="0"/>
              </a:rPr>
              <a:t> would have a built-in positive bias (the winner's rank difference is always favorable), confounding the covariate effect with the outcome. </a:t>
            </a:r>
          </a:p>
          <a:p>
            <a:pPr marL="285750" indent="-285750">
              <a:buFont typeface="Arial" panose="020B0604020202020204" pitchFamily="34" charset="0"/>
              <a:buChar char="•"/>
            </a:pPr>
            <a:endParaRPr lang="en-US" sz="1400" dirty="0">
              <a:solidFill>
                <a:schemeClr val="bg1"/>
              </a:solidFill>
              <a:latin typeface="Gotham SSm A" panose="02000504050000020004" pitchFamily="2" charset="0"/>
            </a:endParaRPr>
          </a:p>
          <a:p>
            <a:pPr marL="742950" lvl="1" indent="-285750">
              <a:buFont typeface="Arial" panose="020B0604020202020204" pitchFamily="34" charset="0"/>
              <a:buChar char="•"/>
            </a:pPr>
            <a:r>
              <a:rPr lang="en-US" sz="1400" dirty="0">
                <a:solidFill>
                  <a:schemeClr val="bg1"/>
                </a:solidFill>
                <a:latin typeface="Gotham SSm A" panose="02000504050000020004" pitchFamily="2" charset="0"/>
              </a:rPr>
              <a:t>By including both orderings, the covariate coefficients are estimated from genuine predictive variation rather than tautological outcome information. </a:t>
            </a:r>
          </a:p>
          <a:p>
            <a:pPr marL="742950" lvl="1" indent="-285750">
              <a:buFont typeface="Arial" panose="020B0604020202020204" pitchFamily="34" charset="0"/>
              <a:buChar char="•"/>
            </a:pPr>
            <a:endParaRPr lang="en-US" sz="1400" dirty="0">
              <a:solidFill>
                <a:schemeClr val="bg1"/>
              </a:solidFill>
              <a:latin typeface="Gotham SSm A" panose="02000504050000020004" pitchFamily="2" charset="0"/>
            </a:endParaRPr>
          </a:p>
          <a:p>
            <a:pPr marL="1200150" lvl="2" indent="-285750">
              <a:buFont typeface="Arial" panose="020B0604020202020204" pitchFamily="34" charset="0"/>
              <a:buChar char="•"/>
            </a:pPr>
            <a:r>
              <a:rPr lang="en-US" sz="1400" dirty="0">
                <a:solidFill>
                  <a:schemeClr val="bg1"/>
                </a:solidFill>
                <a:latin typeface="Gotham SSm A" panose="02000504050000020004" pitchFamily="2" charset="0"/>
              </a:rPr>
              <a:t>Notice how player-difference covariates (</a:t>
            </a:r>
            <a:r>
              <a:rPr lang="en-US" sz="1400" dirty="0" err="1">
                <a:solidFill>
                  <a:schemeClr val="bg1"/>
                </a:solidFill>
                <a:latin typeface="Gotham SSm A" panose="02000504050000020004" pitchFamily="2" charset="0"/>
              </a:rPr>
              <a:t>rank_diff</a:t>
            </a:r>
            <a:r>
              <a:rPr lang="en-US" sz="1400" dirty="0">
                <a:solidFill>
                  <a:schemeClr val="bg1"/>
                </a:solidFill>
                <a:latin typeface="Gotham SSm A" panose="02000504050000020004" pitchFamily="2" charset="0"/>
              </a:rPr>
              <a:t>, </a:t>
            </a:r>
            <a:r>
              <a:rPr lang="en-US" sz="1400" dirty="0" err="1">
                <a:solidFill>
                  <a:schemeClr val="bg1"/>
                </a:solidFill>
                <a:latin typeface="Gotham SSm A" panose="02000504050000020004" pitchFamily="2" charset="0"/>
              </a:rPr>
              <a:t>rank_points_diff</a:t>
            </a:r>
            <a:r>
              <a:rPr lang="en-US" sz="1400" dirty="0">
                <a:solidFill>
                  <a:schemeClr val="bg1"/>
                </a:solidFill>
                <a:latin typeface="Gotham SSm A" panose="02000504050000020004" pitchFamily="2" charset="0"/>
              </a:rPr>
              <a:t>, </a:t>
            </a:r>
            <a:r>
              <a:rPr lang="en-US" sz="1400" dirty="0" err="1">
                <a:solidFill>
                  <a:schemeClr val="bg1"/>
                </a:solidFill>
                <a:latin typeface="Gotham SSm A" panose="02000504050000020004" pitchFamily="2" charset="0"/>
              </a:rPr>
              <a:t>age_diff</a:t>
            </a:r>
            <a:r>
              <a:rPr lang="en-US" sz="1400" dirty="0">
                <a:solidFill>
                  <a:schemeClr val="bg1"/>
                </a:solidFill>
                <a:latin typeface="Gotham SSm A" panose="02000504050000020004" pitchFamily="2" charset="0"/>
              </a:rPr>
              <a:t>, </a:t>
            </a:r>
            <a:r>
              <a:rPr lang="en-US" sz="1400" dirty="0" err="1">
                <a:solidFill>
                  <a:schemeClr val="bg1"/>
                </a:solidFill>
                <a:latin typeface="Gotham SSm A" panose="02000504050000020004" pitchFamily="2" charset="0"/>
              </a:rPr>
              <a:t>height_diff</a:t>
            </a:r>
            <a:r>
              <a:rPr lang="en-US" sz="1400" dirty="0">
                <a:solidFill>
                  <a:schemeClr val="bg1"/>
                </a:solidFill>
                <a:latin typeface="Gotham SSm A" panose="02000504050000020004" pitchFamily="2" charset="0"/>
              </a:rPr>
              <a:t>) have their signs flipped in row B — this maintains the semantic consistency that positive values mean "p1 is advantaged." </a:t>
            </a:r>
          </a:p>
          <a:p>
            <a:pPr marL="1200150" lvl="2" indent="-285750">
              <a:buFont typeface="Arial" panose="020B0604020202020204" pitchFamily="34" charset="0"/>
              <a:buChar char="•"/>
            </a:pPr>
            <a:endParaRPr lang="en-US" sz="1400" dirty="0">
              <a:solidFill>
                <a:schemeClr val="bg1"/>
              </a:solidFill>
              <a:latin typeface="Gotham SSm A" panose="02000504050000020004" pitchFamily="2" charset="0"/>
            </a:endParaRPr>
          </a:p>
          <a:p>
            <a:pPr marL="285750" indent="-285750">
              <a:buFont typeface="Arial" panose="020B0604020202020204" pitchFamily="34" charset="0"/>
              <a:buChar char="•"/>
            </a:pPr>
            <a:r>
              <a:rPr lang="en-US" sz="1400" dirty="0">
                <a:solidFill>
                  <a:schemeClr val="bg1"/>
                </a:solidFill>
                <a:latin typeface="Gotham SSm A" panose="02000504050000020004" pitchFamily="2" charset="0"/>
              </a:rPr>
              <a:t>Context covariates (surface dummies, </a:t>
            </a:r>
            <a:r>
              <a:rPr lang="en-US" sz="1400" dirty="0" err="1">
                <a:solidFill>
                  <a:schemeClr val="bg1"/>
                </a:solidFill>
                <a:latin typeface="Gotham SSm A" panose="02000504050000020004" pitchFamily="2" charset="0"/>
              </a:rPr>
              <a:t>best_of</a:t>
            </a:r>
            <a:r>
              <a:rPr lang="en-US" sz="1400" dirty="0">
                <a:solidFill>
                  <a:schemeClr val="bg1"/>
                </a:solidFill>
                <a:latin typeface="Gotham SSm A" panose="02000504050000020004" pitchFamily="2" charset="0"/>
              </a:rPr>
              <a:t>) remain unchanged because they describe the match environment, not a player comparison. Missing numeric values are imputed using training-set medians only (via _</a:t>
            </a:r>
            <a:r>
              <a:rPr lang="en-US" sz="1400" dirty="0" err="1">
                <a:solidFill>
                  <a:schemeClr val="bg1"/>
                </a:solidFill>
                <a:latin typeface="Gotham SSm A" panose="02000504050000020004" pitchFamily="2" charset="0"/>
              </a:rPr>
              <a:t>safe_fill_by_median</a:t>
            </a:r>
            <a:r>
              <a:rPr lang="en-US" sz="1400" dirty="0">
                <a:solidFill>
                  <a:schemeClr val="bg1"/>
                </a:solidFill>
                <a:latin typeface="Gotham SSm A" panose="02000504050000020004" pitchFamily="2" charset="0"/>
              </a:rPr>
              <a:t> with a reference </a:t>
            </a:r>
            <a:r>
              <a:rPr lang="en-US" sz="1400" dirty="0" err="1">
                <a:solidFill>
                  <a:schemeClr val="bg1"/>
                </a:solidFill>
                <a:latin typeface="Gotham SSm A" panose="02000504050000020004" pitchFamily="2" charset="0"/>
              </a:rPr>
              <a:t>DataFrame</a:t>
            </a:r>
            <a:r>
              <a:rPr lang="en-US" sz="1400" dirty="0">
                <a:solidFill>
                  <a:schemeClr val="bg1"/>
                </a:solidFill>
                <a:latin typeface="Gotham SSm A" panose="02000504050000020004" pitchFamily="2" charset="0"/>
              </a:rPr>
              <a:t>), preventing test-set information from influencing imputation — another subtle but important anti-leakage measure. </a:t>
            </a:r>
          </a:p>
          <a:p>
            <a:pPr marL="285750" indent="-285750">
              <a:buFont typeface="Arial" panose="020B0604020202020204" pitchFamily="34" charset="0"/>
              <a:buChar char="•"/>
            </a:pPr>
            <a:endParaRPr lang="en-US" sz="1400" dirty="0">
              <a:solidFill>
                <a:schemeClr val="bg1"/>
              </a:solidFill>
              <a:latin typeface="Gotham SSm A" panose="02000504050000020004" pitchFamily="2" charset="0"/>
            </a:endParaRPr>
          </a:p>
          <a:p>
            <a:pPr marL="285750" indent="-285750">
              <a:buFont typeface="Arial" panose="020B0604020202020204" pitchFamily="34" charset="0"/>
              <a:buChar char="•"/>
            </a:pPr>
            <a:r>
              <a:rPr lang="en-US" sz="1400" dirty="0">
                <a:solidFill>
                  <a:schemeClr val="bg1"/>
                </a:solidFill>
                <a:latin typeface="Gotham SSm A" panose="02000504050000020004" pitchFamily="2" charset="0"/>
              </a:rPr>
              <a:t>The surface encoding uses one-hot dummies with Hard as the reference category (omitted), which is standard for categorical variables in regression.</a:t>
            </a:r>
          </a:p>
        </p:txBody>
      </p:sp>
      <p:sp>
        <p:nvSpPr>
          <p:cNvPr id="18" name="TextBox 17">
            <a:extLst>
              <a:ext uri="{FF2B5EF4-FFF2-40B4-BE49-F238E27FC236}">
                <a16:creationId xmlns:a16="http://schemas.microsoft.com/office/drawing/2014/main" id="{4DC8DD58-7AEA-C0EB-BB59-DF97F34FCF61}"/>
              </a:ext>
            </a:extLst>
          </p:cNvPr>
          <p:cNvSpPr txBox="1"/>
          <p:nvPr/>
        </p:nvSpPr>
        <p:spPr>
          <a:xfrm>
            <a:off x="255507" y="1152583"/>
            <a:ext cx="8259843" cy="307777"/>
          </a:xfrm>
          <a:prstGeom prst="rect">
            <a:avLst/>
          </a:prstGeom>
          <a:noFill/>
        </p:spPr>
        <p:txBody>
          <a:bodyPr wrap="square" rtlCol="0">
            <a:spAutoFit/>
          </a:bodyPr>
          <a:lstStyle/>
          <a:p>
            <a:pPr defTabSz="1219170">
              <a:defRPr/>
            </a:pPr>
            <a:r>
              <a:rPr lang="en-US" sz="1400" b="1" dirty="0">
                <a:solidFill>
                  <a:schemeClr val="bg1"/>
                </a:solidFill>
                <a:latin typeface="Montserrat" pitchFamily="2" charset="77"/>
              </a:rPr>
              <a:t>Section 5: Pairwise Dataset Construction (</a:t>
            </a:r>
            <a:r>
              <a:rPr lang="en-US" sz="1400" b="1" dirty="0" err="1">
                <a:solidFill>
                  <a:schemeClr val="bg1"/>
                </a:solidFill>
                <a:latin typeface="Montserrat" pitchFamily="2" charset="77"/>
              </a:rPr>
              <a:t>build_pairwise_dataset</a:t>
            </a:r>
            <a:r>
              <a:rPr lang="en-US" sz="1400" b="1" dirty="0">
                <a:solidFill>
                  <a:schemeClr val="bg1"/>
                </a:solidFill>
                <a:latin typeface="Montserrat" pitchFamily="2" charset="77"/>
              </a:rPr>
              <a:t>)</a:t>
            </a:r>
          </a:p>
        </p:txBody>
      </p:sp>
      <p:sp>
        <p:nvSpPr>
          <p:cNvPr id="14" name="TextBox 13">
            <a:extLst>
              <a:ext uri="{FF2B5EF4-FFF2-40B4-BE49-F238E27FC236}">
                <a16:creationId xmlns:a16="http://schemas.microsoft.com/office/drawing/2014/main" id="{03BA451C-0741-CAFC-E81B-D6ED9769DFEA}"/>
              </a:ext>
            </a:extLst>
          </p:cNvPr>
          <p:cNvSpPr txBox="1"/>
          <p:nvPr/>
        </p:nvSpPr>
        <p:spPr>
          <a:xfrm>
            <a:off x="6524234" y="315387"/>
            <a:ext cx="2068011" cy="428322"/>
          </a:xfrm>
          <a:prstGeom prst="rect">
            <a:avLst/>
          </a:prstGeom>
          <a:noFill/>
        </p:spPr>
        <p:txBody>
          <a:bodyPr wrap="square" rtlCol="0">
            <a:spAutoFit/>
          </a:bodyPr>
          <a:lstStyle/>
          <a:p>
            <a:pPr algn="ctr">
              <a:lnSpc>
                <a:spcPts val="2920"/>
              </a:lnSpc>
            </a:pPr>
            <a:r>
              <a:rPr lang="en-US" sz="1600" b="1" dirty="0">
                <a:solidFill>
                  <a:schemeClr val="bg1"/>
                </a:solidFill>
                <a:effectLst>
                  <a:outerShdw blurRad="50800" dist="38100" dir="2700000" algn="tl" rotWithShape="0">
                    <a:prstClr val="black">
                      <a:alpha val="40000"/>
                    </a:prstClr>
                  </a:outerShdw>
                </a:effectLst>
                <a:latin typeface="Montserrat" pitchFamily="2" charset="77"/>
              </a:rPr>
              <a:t>Group 4</a:t>
            </a:r>
            <a:endParaRPr lang="en-US" sz="1600" dirty="0">
              <a:solidFill>
                <a:schemeClr val="bg1"/>
              </a:solidFill>
              <a:effectLst>
                <a:outerShdw blurRad="50800" dist="38100" dir="2700000" algn="tl" rotWithShape="0">
                  <a:prstClr val="black">
                    <a:alpha val="40000"/>
                  </a:prstClr>
                </a:outerShdw>
              </a:effectLst>
              <a:latin typeface="Montserrat" pitchFamily="2" charset="77"/>
            </a:endParaRPr>
          </a:p>
        </p:txBody>
      </p:sp>
      <p:sp>
        <p:nvSpPr>
          <p:cNvPr id="3" name="TextBox 2">
            <a:extLst>
              <a:ext uri="{FF2B5EF4-FFF2-40B4-BE49-F238E27FC236}">
                <a16:creationId xmlns:a16="http://schemas.microsoft.com/office/drawing/2014/main" id="{95BE39D5-5AAF-B549-C025-D3C73C261925}"/>
              </a:ext>
            </a:extLst>
          </p:cNvPr>
          <p:cNvSpPr txBox="1"/>
          <p:nvPr/>
        </p:nvSpPr>
        <p:spPr>
          <a:xfrm>
            <a:off x="160074" y="246676"/>
            <a:ext cx="3065726" cy="669029"/>
          </a:xfrm>
          <a:prstGeom prst="rect">
            <a:avLst/>
          </a:prstGeom>
          <a:noFill/>
        </p:spPr>
        <p:txBody>
          <a:bodyPr wrap="square" rtlCol="0">
            <a:spAutoFit/>
          </a:bodyPr>
          <a:lstStyle/>
          <a:p>
            <a:pPr algn="ctr">
              <a:lnSpc>
                <a:spcPts val="2920"/>
              </a:lnSpc>
            </a:pPr>
            <a:r>
              <a:rPr lang="en-US" sz="1000" b="1" dirty="0">
                <a:solidFill>
                  <a:schemeClr val="bg1"/>
                </a:solidFill>
                <a:effectLst>
                  <a:outerShdw blurRad="50800" dist="38100" dir="2700000" algn="tl" rotWithShape="0">
                    <a:prstClr val="black">
                      <a:alpha val="40000"/>
                    </a:prstClr>
                  </a:outerShdw>
                </a:effectLst>
                <a:latin typeface="Montserrat" pitchFamily="2" charset="77"/>
              </a:rPr>
              <a:t>Posterior on the Baseline: Bayesian</a:t>
            </a:r>
          </a:p>
          <a:p>
            <a:pPr algn="ctr">
              <a:lnSpc>
                <a:spcPct val="150000"/>
              </a:lnSpc>
            </a:pPr>
            <a:r>
              <a:rPr lang="en-US" sz="1000" b="1" dirty="0">
                <a:solidFill>
                  <a:schemeClr val="bg1"/>
                </a:solidFill>
                <a:effectLst>
                  <a:outerShdw blurRad="50800" dist="38100" dir="2700000" algn="tl" rotWithShape="0">
                    <a:prstClr val="black">
                      <a:alpha val="40000"/>
                    </a:prstClr>
                  </a:outerShdw>
                </a:effectLst>
                <a:latin typeface="Montserrat" pitchFamily="2" charset="77"/>
              </a:rPr>
              <a:t>Tennis Tournament Predictions</a:t>
            </a:r>
            <a:endParaRPr lang="en-US" sz="1000" dirty="0">
              <a:solidFill>
                <a:schemeClr val="bg1"/>
              </a:solidFill>
              <a:effectLst>
                <a:outerShdw blurRad="50800" dist="38100" dir="2700000" algn="tl" rotWithShape="0">
                  <a:prstClr val="black">
                    <a:alpha val="40000"/>
                  </a:prstClr>
                </a:outerShdw>
              </a:effectLst>
              <a:latin typeface="Montserrat" pitchFamily="2" charset="77"/>
            </a:endParaRPr>
          </a:p>
        </p:txBody>
      </p:sp>
    </p:spTree>
    <p:extLst>
      <p:ext uri="{BB962C8B-B14F-4D97-AF65-F5344CB8AC3E}">
        <p14:creationId xmlns:p14="http://schemas.microsoft.com/office/powerpoint/2010/main" val="263621610"/>
      </p:ext>
    </p:extLst>
  </p:cSld>
  <p:clrMapOvr>
    <a:masterClrMapping/>
  </p:clrMapOvr>
  <mc:AlternateContent xmlns:mc="http://schemas.openxmlformats.org/markup-compatibility/2006">
    <mc:Choice xmlns:p14="http://schemas.microsoft.com/office/powerpoint/2010/main" Requires="p14">
      <p:transition spd="slow" p14:dur="6000" advClick="0" advTm="11000"/>
    </mc:Choice>
    <mc:Fallback>
      <p:transition spd="slow" advClick="0" advTm="1100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EFF261-9C84-AE62-5A36-33079D25A7E6}"/>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1EB4C52-11D6-6617-72C4-6101F638D903}"/>
              </a:ext>
            </a:extLst>
          </p:cNvPr>
          <p:cNvSpPr/>
          <p:nvPr/>
        </p:nvSpPr>
        <p:spPr>
          <a:xfrm>
            <a:off x="374650" y="1555821"/>
            <a:ext cx="8326330" cy="3970318"/>
          </a:xfrm>
          <a:prstGeom prst="rect">
            <a:avLst/>
          </a:prstGeom>
        </p:spPr>
        <p:txBody>
          <a:bodyPr wrap="square">
            <a:spAutoFit/>
          </a:bodyPr>
          <a:lstStyle/>
          <a:p>
            <a:pPr marL="285750" indent="-285750">
              <a:buFont typeface="Arial" panose="020B0604020202020204" pitchFamily="34" charset="0"/>
              <a:buChar char="•"/>
            </a:pPr>
            <a:r>
              <a:rPr lang="en-US" sz="1400" dirty="0">
                <a:solidFill>
                  <a:schemeClr val="bg1"/>
                </a:solidFill>
                <a:latin typeface="Gotham SSm A" panose="02000504050000020004" pitchFamily="2" charset="0"/>
              </a:rPr>
              <a:t>Continuous covariates are z-score standardized: </a:t>
            </a:r>
            <a:r>
              <a:rPr lang="en-US" sz="1400" dirty="0" err="1">
                <a:solidFill>
                  <a:schemeClr val="bg1"/>
                </a:solidFill>
                <a:latin typeface="Gotham SSm A" panose="02000504050000020004" pitchFamily="2" charset="0"/>
              </a:rPr>
              <a:t>x_standardized</a:t>
            </a:r>
            <a:r>
              <a:rPr lang="en-US" sz="1400" dirty="0">
                <a:solidFill>
                  <a:schemeClr val="bg1"/>
                </a:solidFill>
                <a:latin typeface="Gotham SSm A" panose="02000504050000020004" pitchFamily="2" charset="0"/>
              </a:rPr>
              <a:t> = (x − </a:t>
            </a:r>
            <a:r>
              <a:rPr lang="en-US" sz="1400" dirty="0" err="1">
                <a:solidFill>
                  <a:schemeClr val="bg1"/>
                </a:solidFill>
                <a:latin typeface="Gotham SSm A" panose="02000504050000020004" pitchFamily="2" charset="0"/>
              </a:rPr>
              <a:t>μ_train</a:t>
            </a:r>
            <a:r>
              <a:rPr lang="en-US" sz="1400" dirty="0">
                <a:solidFill>
                  <a:schemeClr val="bg1"/>
                </a:solidFill>
                <a:latin typeface="Gotham SSm A" panose="02000504050000020004" pitchFamily="2" charset="0"/>
              </a:rPr>
              <a:t>) / </a:t>
            </a:r>
            <a:r>
              <a:rPr lang="en-US" sz="1400" dirty="0" err="1">
                <a:solidFill>
                  <a:schemeClr val="bg1"/>
                </a:solidFill>
                <a:latin typeface="Gotham SSm A" panose="02000504050000020004" pitchFamily="2" charset="0"/>
              </a:rPr>
              <a:t>σ_train</a:t>
            </a:r>
            <a:r>
              <a:rPr lang="en-US" sz="1400" dirty="0">
                <a:solidFill>
                  <a:schemeClr val="bg1"/>
                </a:solidFill>
                <a:latin typeface="Gotham SSm A" panose="02000504050000020004" pitchFamily="2" charset="0"/>
              </a:rPr>
              <a:t>. Critically, both the mean μ and standard deviation σ are computed exclusively from the training set and then applied to both train and test data. This prevents test-set statistics from influencing the feature scaling; a common but subtle form of data leakage in machine learning pipelines. </a:t>
            </a:r>
          </a:p>
          <a:p>
            <a:pPr marL="285750" indent="-285750">
              <a:buFont typeface="Arial" panose="020B0604020202020204" pitchFamily="34" charset="0"/>
              <a:buChar char="•"/>
            </a:pPr>
            <a:endParaRPr lang="en-US" sz="1400" dirty="0">
              <a:solidFill>
                <a:schemeClr val="bg1"/>
              </a:solidFill>
              <a:latin typeface="Gotham SSm A" panose="02000504050000020004" pitchFamily="2" charset="0"/>
            </a:endParaRPr>
          </a:p>
          <a:p>
            <a:pPr marL="285750" indent="-285750">
              <a:buFont typeface="Arial" panose="020B0604020202020204" pitchFamily="34" charset="0"/>
              <a:buChar char="•"/>
            </a:pPr>
            <a:r>
              <a:rPr lang="en-US" sz="1400" dirty="0">
                <a:solidFill>
                  <a:schemeClr val="bg1"/>
                </a:solidFill>
                <a:latin typeface="Gotham SSm A" panose="02000504050000020004" pitchFamily="2" charset="0"/>
              </a:rPr>
              <a:t>Standardization serves multiple purposes in Bayesian modeling: </a:t>
            </a:r>
          </a:p>
          <a:p>
            <a:pPr marL="285750" indent="-285750">
              <a:buFont typeface="Arial" panose="020B0604020202020204" pitchFamily="34" charset="0"/>
              <a:buChar char="•"/>
            </a:pPr>
            <a:endParaRPr lang="en-US" sz="1400" dirty="0">
              <a:solidFill>
                <a:schemeClr val="bg1"/>
              </a:solidFill>
              <a:latin typeface="Gotham SSm A" panose="02000504050000020004" pitchFamily="2" charset="0"/>
            </a:endParaRPr>
          </a:p>
          <a:p>
            <a:pPr marL="800100" lvl="1" indent="-342900">
              <a:buFont typeface="+mj-lt"/>
              <a:buAutoNum type="arabicPeriod"/>
            </a:pPr>
            <a:r>
              <a:rPr lang="en-US" sz="1400" dirty="0">
                <a:solidFill>
                  <a:schemeClr val="bg1"/>
                </a:solidFill>
                <a:latin typeface="Gotham SSm A" panose="02000504050000020004" pitchFamily="2" charset="0"/>
              </a:rPr>
              <a:t>It puts all covariates on comparable scales, making the prior Normal(0, 0.5) on regression coefficients meaningful and roughly equally regularizing across covariates. </a:t>
            </a:r>
          </a:p>
          <a:p>
            <a:pPr marL="800100" lvl="1" indent="-342900">
              <a:buFont typeface="+mj-lt"/>
              <a:buAutoNum type="arabicPeriod"/>
            </a:pPr>
            <a:endParaRPr lang="en-US" sz="1400" dirty="0">
              <a:solidFill>
                <a:schemeClr val="bg1"/>
              </a:solidFill>
              <a:latin typeface="Gotham SSm A" panose="02000504050000020004" pitchFamily="2" charset="0"/>
            </a:endParaRPr>
          </a:p>
          <a:p>
            <a:pPr marL="800100" lvl="1" indent="-342900">
              <a:buFont typeface="+mj-lt"/>
              <a:buAutoNum type="arabicPeriod"/>
            </a:pPr>
            <a:r>
              <a:rPr lang="en-US" sz="1400" dirty="0">
                <a:solidFill>
                  <a:schemeClr val="bg1"/>
                </a:solidFill>
                <a:latin typeface="Gotham SSm A" panose="02000504050000020004" pitchFamily="2" charset="0"/>
              </a:rPr>
              <a:t>It improves MCMC sampling geometry: when covariates have wildly different scales, the posterior can have pathological curvature that causes the NUTS sampler to take very small steps or produce divergences. </a:t>
            </a:r>
          </a:p>
          <a:p>
            <a:pPr marL="800100" lvl="1" indent="-342900">
              <a:buFont typeface="+mj-lt"/>
              <a:buAutoNum type="arabicPeriod"/>
            </a:pPr>
            <a:endParaRPr lang="en-US" sz="1400" dirty="0">
              <a:solidFill>
                <a:schemeClr val="bg1"/>
              </a:solidFill>
              <a:latin typeface="Gotham SSm A" panose="02000504050000020004" pitchFamily="2" charset="0"/>
            </a:endParaRPr>
          </a:p>
          <a:p>
            <a:pPr marL="800100" lvl="1" indent="-342900">
              <a:buFont typeface="+mj-lt"/>
              <a:buAutoNum type="arabicPeriod"/>
            </a:pPr>
            <a:r>
              <a:rPr lang="en-US" sz="1400" dirty="0">
                <a:solidFill>
                  <a:schemeClr val="bg1"/>
                </a:solidFill>
                <a:latin typeface="Gotham SSm A" panose="02000504050000020004" pitchFamily="2" charset="0"/>
              </a:rPr>
              <a:t>It aids interpretability: a one-unit change in the standardized covariate corresponds to a one-standard-deviation change in the original, making coefficient magnitudes directly comparable. The edge case where σ = 0 (constant feature) is handled by defaulting to σ = 1, which preserves the centered value without division-by-zero errors.</a:t>
            </a:r>
          </a:p>
        </p:txBody>
      </p:sp>
      <p:sp>
        <p:nvSpPr>
          <p:cNvPr id="18" name="TextBox 17">
            <a:extLst>
              <a:ext uri="{FF2B5EF4-FFF2-40B4-BE49-F238E27FC236}">
                <a16:creationId xmlns:a16="http://schemas.microsoft.com/office/drawing/2014/main" id="{E42DAA8A-0713-B011-6D16-A92014B50C43}"/>
              </a:ext>
            </a:extLst>
          </p:cNvPr>
          <p:cNvSpPr txBox="1"/>
          <p:nvPr/>
        </p:nvSpPr>
        <p:spPr>
          <a:xfrm>
            <a:off x="255507" y="1152583"/>
            <a:ext cx="8259843" cy="307777"/>
          </a:xfrm>
          <a:prstGeom prst="rect">
            <a:avLst/>
          </a:prstGeom>
          <a:noFill/>
        </p:spPr>
        <p:txBody>
          <a:bodyPr wrap="square" rtlCol="0">
            <a:spAutoFit/>
          </a:bodyPr>
          <a:lstStyle/>
          <a:p>
            <a:pPr defTabSz="1219170">
              <a:defRPr/>
            </a:pPr>
            <a:r>
              <a:rPr lang="en-US" sz="1400" b="1" dirty="0">
                <a:solidFill>
                  <a:schemeClr val="bg1"/>
                </a:solidFill>
                <a:latin typeface="Montserrat" pitchFamily="2" charset="77"/>
              </a:rPr>
              <a:t>Section 6: Feature Standardization (</a:t>
            </a:r>
            <a:r>
              <a:rPr lang="en-US" sz="1400" b="1" dirty="0" err="1">
                <a:solidFill>
                  <a:schemeClr val="bg1"/>
                </a:solidFill>
                <a:latin typeface="Montserrat" pitchFamily="2" charset="77"/>
              </a:rPr>
              <a:t>standardize_covariates</a:t>
            </a:r>
            <a:r>
              <a:rPr lang="en-US" sz="1400" b="1" dirty="0">
                <a:solidFill>
                  <a:schemeClr val="bg1"/>
                </a:solidFill>
                <a:latin typeface="Montserrat" pitchFamily="2" charset="77"/>
              </a:rPr>
              <a:t>)</a:t>
            </a:r>
          </a:p>
        </p:txBody>
      </p:sp>
      <p:sp>
        <p:nvSpPr>
          <p:cNvPr id="14" name="TextBox 13">
            <a:extLst>
              <a:ext uri="{FF2B5EF4-FFF2-40B4-BE49-F238E27FC236}">
                <a16:creationId xmlns:a16="http://schemas.microsoft.com/office/drawing/2014/main" id="{1076ABF8-6B0B-40AA-461B-AD599AD59BAB}"/>
              </a:ext>
            </a:extLst>
          </p:cNvPr>
          <p:cNvSpPr txBox="1"/>
          <p:nvPr/>
        </p:nvSpPr>
        <p:spPr>
          <a:xfrm>
            <a:off x="6524234" y="315387"/>
            <a:ext cx="2068011" cy="428322"/>
          </a:xfrm>
          <a:prstGeom prst="rect">
            <a:avLst/>
          </a:prstGeom>
          <a:noFill/>
        </p:spPr>
        <p:txBody>
          <a:bodyPr wrap="square" rtlCol="0">
            <a:spAutoFit/>
          </a:bodyPr>
          <a:lstStyle/>
          <a:p>
            <a:pPr algn="ctr">
              <a:lnSpc>
                <a:spcPts val="2920"/>
              </a:lnSpc>
            </a:pPr>
            <a:r>
              <a:rPr lang="en-US" sz="1600" b="1" dirty="0">
                <a:solidFill>
                  <a:schemeClr val="bg1"/>
                </a:solidFill>
                <a:effectLst>
                  <a:outerShdw blurRad="50800" dist="38100" dir="2700000" algn="tl" rotWithShape="0">
                    <a:prstClr val="black">
                      <a:alpha val="40000"/>
                    </a:prstClr>
                  </a:outerShdw>
                </a:effectLst>
                <a:latin typeface="Montserrat" pitchFamily="2" charset="77"/>
              </a:rPr>
              <a:t>Group 4</a:t>
            </a:r>
            <a:endParaRPr lang="en-US" sz="1600" dirty="0">
              <a:solidFill>
                <a:schemeClr val="bg1"/>
              </a:solidFill>
              <a:effectLst>
                <a:outerShdw blurRad="50800" dist="38100" dir="2700000" algn="tl" rotWithShape="0">
                  <a:prstClr val="black">
                    <a:alpha val="40000"/>
                  </a:prstClr>
                </a:outerShdw>
              </a:effectLst>
              <a:latin typeface="Montserrat" pitchFamily="2" charset="77"/>
            </a:endParaRPr>
          </a:p>
        </p:txBody>
      </p:sp>
      <p:sp>
        <p:nvSpPr>
          <p:cNvPr id="3" name="TextBox 2">
            <a:extLst>
              <a:ext uri="{FF2B5EF4-FFF2-40B4-BE49-F238E27FC236}">
                <a16:creationId xmlns:a16="http://schemas.microsoft.com/office/drawing/2014/main" id="{DD9A5F05-ACE5-CC41-E9DF-B04946B3E380}"/>
              </a:ext>
            </a:extLst>
          </p:cNvPr>
          <p:cNvSpPr txBox="1"/>
          <p:nvPr/>
        </p:nvSpPr>
        <p:spPr>
          <a:xfrm>
            <a:off x="160074" y="246676"/>
            <a:ext cx="3065726" cy="669029"/>
          </a:xfrm>
          <a:prstGeom prst="rect">
            <a:avLst/>
          </a:prstGeom>
          <a:noFill/>
        </p:spPr>
        <p:txBody>
          <a:bodyPr wrap="square" rtlCol="0">
            <a:spAutoFit/>
          </a:bodyPr>
          <a:lstStyle/>
          <a:p>
            <a:pPr algn="ctr">
              <a:lnSpc>
                <a:spcPts val="2920"/>
              </a:lnSpc>
            </a:pPr>
            <a:r>
              <a:rPr lang="en-US" sz="1000" b="1" dirty="0">
                <a:solidFill>
                  <a:schemeClr val="bg1"/>
                </a:solidFill>
                <a:effectLst>
                  <a:outerShdw blurRad="50800" dist="38100" dir="2700000" algn="tl" rotWithShape="0">
                    <a:prstClr val="black">
                      <a:alpha val="40000"/>
                    </a:prstClr>
                  </a:outerShdw>
                </a:effectLst>
                <a:latin typeface="Montserrat" pitchFamily="2" charset="77"/>
              </a:rPr>
              <a:t>Posterior on the Baseline: Bayesian</a:t>
            </a:r>
          </a:p>
          <a:p>
            <a:pPr algn="ctr">
              <a:lnSpc>
                <a:spcPct val="150000"/>
              </a:lnSpc>
            </a:pPr>
            <a:r>
              <a:rPr lang="en-US" sz="1000" b="1" dirty="0">
                <a:solidFill>
                  <a:schemeClr val="bg1"/>
                </a:solidFill>
                <a:effectLst>
                  <a:outerShdw blurRad="50800" dist="38100" dir="2700000" algn="tl" rotWithShape="0">
                    <a:prstClr val="black">
                      <a:alpha val="40000"/>
                    </a:prstClr>
                  </a:outerShdw>
                </a:effectLst>
                <a:latin typeface="Montserrat" pitchFamily="2" charset="77"/>
              </a:rPr>
              <a:t>Tennis Tournament Predictions</a:t>
            </a:r>
            <a:endParaRPr lang="en-US" sz="1000" dirty="0">
              <a:solidFill>
                <a:schemeClr val="bg1"/>
              </a:solidFill>
              <a:effectLst>
                <a:outerShdw blurRad="50800" dist="38100" dir="2700000" algn="tl" rotWithShape="0">
                  <a:prstClr val="black">
                    <a:alpha val="40000"/>
                  </a:prstClr>
                </a:outerShdw>
              </a:effectLst>
              <a:latin typeface="Montserrat" pitchFamily="2" charset="77"/>
            </a:endParaRPr>
          </a:p>
        </p:txBody>
      </p:sp>
    </p:spTree>
    <p:extLst>
      <p:ext uri="{BB962C8B-B14F-4D97-AF65-F5344CB8AC3E}">
        <p14:creationId xmlns:p14="http://schemas.microsoft.com/office/powerpoint/2010/main" val="1433898631"/>
      </p:ext>
    </p:extLst>
  </p:cSld>
  <p:clrMapOvr>
    <a:masterClrMapping/>
  </p:clrMapOvr>
  <mc:AlternateContent xmlns:mc="http://schemas.openxmlformats.org/markup-compatibility/2006">
    <mc:Choice xmlns:p14="http://schemas.microsoft.com/office/powerpoint/2010/main" Requires="p14">
      <p:transition spd="slow" p14:dur="6000" advClick="0" advTm="11000"/>
    </mc:Choice>
    <mc:Fallback>
      <p:transition spd="slow" advClick="0" advTm="1100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38220F-1E07-8471-BA57-C7505BC58475}"/>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F5B2211E-A083-74DE-7DF6-AC01574BF380}"/>
              </a:ext>
            </a:extLst>
          </p:cNvPr>
          <p:cNvSpPr/>
          <p:nvPr/>
        </p:nvSpPr>
        <p:spPr>
          <a:xfrm>
            <a:off x="374650" y="1555821"/>
            <a:ext cx="8326330" cy="4401205"/>
          </a:xfrm>
          <a:prstGeom prst="rect">
            <a:avLst/>
          </a:prstGeom>
        </p:spPr>
        <p:txBody>
          <a:bodyPr wrap="square">
            <a:spAutoFit/>
          </a:bodyPr>
          <a:lstStyle/>
          <a:p>
            <a:pPr marL="285750" indent="-285750">
              <a:buFont typeface="Arial" panose="020B0604020202020204" pitchFamily="34" charset="0"/>
              <a:buChar char="•"/>
            </a:pPr>
            <a:r>
              <a:rPr lang="en-US" sz="1400" dirty="0">
                <a:solidFill>
                  <a:schemeClr val="bg1"/>
                </a:solidFill>
                <a:latin typeface="Gotham SSm A" panose="02000504050000020004" pitchFamily="2" charset="0"/>
              </a:rPr>
              <a:t>This is the simplest BT model: a single, time-invariant skill parameter per player. </a:t>
            </a:r>
          </a:p>
          <a:p>
            <a:pPr marL="285750" indent="-285750">
              <a:buFont typeface="Arial" panose="020B0604020202020204" pitchFamily="34" charset="0"/>
              <a:buChar char="•"/>
            </a:pPr>
            <a:endParaRPr lang="en-US" sz="1400" dirty="0">
              <a:solidFill>
                <a:schemeClr val="bg1"/>
              </a:solidFill>
              <a:latin typeface="Gotham SSm A" panose="02000504050000020004" pitchFamily="2" charset="0"/>
            </a:endParaRPr>
          </a:p>
          <a:p>
            <a:pPr marL="285750" indent="-285750">
              <a:buFont typeface="Arial" panose="020B0604020202020204" pitchFamily="34" charset="0"/>
              <a:buChar char="•"/>
            </a:pPr>
            <a:r>
              <a:rPr lang="en-US" sz="1400" dirty="0">
                <a:solidFill>
                  <a:schemeClr val="bg1"/>
                </a:solidFill>
                <a:latin typeface="Gotham SSm A" panose="02000504050000020004" pitchFamily="2" charset="0"/>
              </a:rPr>
              <a:t>The key modeling choice is </a:t>
            </a:r>
            <a:r>
              <a:rPr lang="en-US" sz="1400" dirty="0" err="1">
                <a:solidFill>
                  <a:schemeClr val="bg1"/>
                </a:solidFill>
                <a:latin typeface="Gotham SSm A" panose="02000504050000020004" pitchFamily="2" charset="0"/>
              </a:rPr>
              <a:t>pm.ZeroSumNormal</a:t>
            </a:r>
            <a:r>
              <a:rPr lang="en-US" sz="1400" dirty="0">
                <a:solidFill>
                  <a:schemeClr val="bg1"/>
                </a:solidFill>
                <a:latin typeface="Gotham SSm A" panose="02000504050000020004" pitchFamily="2" charset="0"/>
              </a:rPr>
              <a:t>("theta", sigma=1.0, shape=</a:t>
            </a:r>
            <a:r>
              <a:rPr lang="en-US" sz="1400" dirty="0" err="1">
                <a:solidFill>
                  <a:schemeClr val="bg1"/>
                </a:solidFill>
                <a:latin typeface="Gotham SSm A" panose="02000504050000020004" pitchFamily="2" charset="0"/>
              </a:rPr>
              <a:t>n_players</a:t>
            </a:r>
            <a:r>
              <a:rPr lang="en-US" sz="1400" dirty="0">
                <a:solidFill>
                  <a:schemeClr val="bg1"/>
                </a:solidFill>
                <a:latin typeface="Gotham SSm A" panose="02000504050000020004" pitchFamily="2" charset="0"/>
              </a:rPr>
              <a:t>), which uses </a:t>
            </a:r>
            <a:r>
              <a:rPr lang="en-US" sz="1400" dirty="0" err="1">
                <a:solidFill>
                  <a:schemeClr val="bg1"/>
                </a:solidFill>
                <a:latin typeface="Gotham SSm A" panose="02000504050000020004" pitchFamily="2" charset="0"/>
              </a:rPr>
              <a:t>PyMC's</a:t>
            </a:r>
            <a:r>
              <a:rPr lang="en-US" sz="1400" dirty="0">
                <a:solidFill>
                  <a:schemeClr val="bg1"/>
                </a:solidFill>
                <a:latin typeface="Gotham SSm A" panose="02000504050000020004" pitchFamily="2" charset="0"/>
              </a:rPr>
              <a:t> built-in zero-sum constraint. </a:t>
            </a:r>
          </a:p>
          <a:p>
            <a:pPr marL="285750" indent="-285750">
              <a:buFont typeface="Arial" panose="020B0604020202020204" pitchFamily="34" charset="0"/>
              <a:buChar char="•"/>
            </a:pPr>
            <a:endParaRPr lang="en-US" sz="1400" dirty="0">
              <a:solidFill>
                <a:schemeClr val="bg1"/>
              </a:solidFill>
              <a:latin typeface="Gotham SSm A" panose="02000504050000020004" pitchFamily="2" charset="0"/>
            </a:endParaRPr>
          </a:p>
          <a:p>
            <a:pPr marL="285750" indent="-285750">
              <a:buFont typeface="Arial" panose="020B0604020202020204" pitchFamily="34" charset="0"/>
              <a:buChar char="•"/>
            </a:pPr>
            <a:r>
              <a:rPr lang="en-US" sz="1400" dirty="0">
                <a:solidFill>
                  <a:schemeClr val="bg1"/>
                </a:solidFill>
                <a:latin typeface="Gotham SSm A" panose="02000504050000020004" pitchFamily="2" charset="0"/>
              </a:rPr>
              <a:t>In the standard BT model, only skill differences θᵢ − θⱼ are identifiable (adding a constant to all skills doesn't change any probability), creating a "ridge" in the posterior that MCMC cannot efficiently explore. </a:t>
            </a:r>
          </a:p>
          <a:p>
            <a:pPr marL="285750" indent="-285750">
              <a:buFont typeface="Arial" panose="020B0604020202020204" pitchFamily="34" charset="0"/>
              <a:buChar char="•"/>
            </a:pPr>
            <a:endParaRPr lang="en-US" sz="1400" dirty="0">
              <a:solidFill>
                <a:schemeClr val="bg1"/>
              </a:solidFill>
              <a:latin typeface="Gotham SSm A" panose="02000504050000020004" pitchFamily="2" charset="0"/>
            </a:endParaRPr>
          </a:p>
          <a:p>
            <a:pPr marL="285750" indent="-285750">
              <a:buFont typeface="Arial" panose="020B0604020202020204" pitchFamily="34" charset="0"/>
              <a:buChar char="•"/>
            </a:pPr>
            <a:r>
              <a:rPr lang="en-US" sz="1400" dirty="0">
                <a:solidFill>
                  <a:schemeClr val="bg1"/>
                </a:solidFill>
                <a:latin typeface="Gotham SSm A" panose="02000504050000020004" pitchFamily="2" charset="0"/>
              </a:rPr>
              <a:t>The </a:t>
            </a:r>
            <a:r>
              <a:rPr lang="en-US" sz="1400" dirty="0" err="1">
                <a:solidFill>
                  <a:schemeClr val="bg1"/>
                </a:solidFill>
                <a:latin typeface="Gotham SSm A" panose="02000504050000020004" pitchFamily="2" charset="0"/>
              </a:rPr>
              <a:t>ZeroSumNormal</a:t>
            </a:r>
            <a:r>
              <a:rPr lang="en-US" sz="1400" dirty="0">
                <a:solidFill>
                  <a:schemeClr val="bg1"/>
                </a:solidFill>
                <a:latin typeface="Gotham SSm A" panose="02000504050000020004" pitchFamily="2" charset="0"/>
              </a:rPr>
              <a:t> prior enforces </a:t>
            </a:r>
            <a:r>
              <a:rPr lang="en-US" sz="1400" dirty="0" err="1">
                <a:solidFill>
                  <a:schemeClr val="bg1"/>
                </a:solidFill>
                <a:latin typeface="Gotham SSm A" panose="02000504050000020004" pitchFamily="2" charset="0"/>
              </a:rPr>
              <a:t>Σθ</a:t>
            </a:r>
            <a:r>
              <a:rPr lang="en-US" sz="1400" dirty="0">
                <a:solidFill>
                  <a:schemeClr val="bg1"/>
                </a:solidFill>
                <a:latin typeface="Gotham SSm A" panose="02000504050000020004" pitchFamily="2" charset="0"/>
              </a:rPr>
              <a:t>ᵢ = 0, breaking this degeneracy while placing a Normal(0, 1) marginal prior on each skill; this is more principled than the common hack of fixing one player's skill to zero, which asymmetrically constrains the model. </a:t>
            </a:r>
          </a:p>
          <a:p>
            <a:pPr marL="285750" indent="-285750">
              <a:buFont typeface="Arial" panose="020B0604020202020204" pitchFamily="34" charset="0"/>
              <a:buChar char="•"/>
            </a:pPr>
            <a:endParaRPr lang="en-US" sz="1400" dirty="0">
              <a:solidFill>
                <a:schemeClr val="bg1"/>
              </a:solidFill>
              <a:latin typeface="Gotham SSm A" panose="02000504050000020004" pitchFamily="2" charset="0"/>
            </a:endParaRPr>
          </a:p>
          <a:p>
            <a:pPr marL="285750" indent="-285750">
              <a:buFont typeface="Arial" panose="020B0604020202020204" pitchFamily="34" charset="0"/>
              <a:buChar char="•"/>
            </a:pPr>
            <a:r>
              <a:rPr lang="en-US" sz="1400" dirty="0">
                <a:solidFill>
                  <a:schemeClr val="bg1"/>
                </a:solidFill>
                <a:latin typeface="Gotham SSm A" panose="02000504050000020004" pitchFamily="2" charset="0"/>
              </a:rPr>
              <a:t>The likelihood is Bernoulli(</a:t>
            </a:r>
            <a:r>
              <a:rPr lang="en-US" sz="1400" dirty="0" err="1">
                <a:solidFill>
                  <a:schemeClr val="bg1"/>
                </a:solidFill>
                <a:latin typeface="Gotham SSm A" panose="02000504050000020004" pitchFamily="2" charset="0"/>
              </a:rPr>
              <a:t>logit_p</a:t>
            </a:r>
            <a:r>
              <a:rPr lang="en-US" sz="1400" dirty="0">
                <a:solidFill>
                  <a:schemeClr val="bg1"/>
                </a:solidFill>
                <a:latin typeface="Gotham SSm A" panose="02000504050000020004" pitchFamily="2" charset="0"/>
              </a:rPr>
              <a:t> = θ[p1] − θ[p2]), the canonical BT specification. </a:t>
            </a:r>
          </a:p>
          <a:p>
            <a:pPr marL="285750" indent="-285750">
              <a:buFont typeface="Arial" panose="020B0604020202020204" pitchFamily="34" charset="0"/>
              <a:buChar char="•"/>
            </a:pPr>
            <a:endParaRPr lang="en-US" sz="1400" dirty="0">
              <a:solidFill>
                <a:schemeClr val="bg1"/>
              </a:solidFill>
              <a:latin typeface="Gotham SSm A" panose="02000504050000020004" pitchFamily="2" charset="0"/>
            </a:endParaRPr>
          </a:p>
          <a:p>
            <a:pPr marL="285750" indent="-285750">
              <a:buFont typeface="Arial" panose="020B0604020202020204" pitchFamily="34" charset="0"/>
              <a:buChar char="•"/>
            </a:pPr>
            <a:r>
              <a:rPr lang="en-US" sz="1400" dirty="0">
                <a:solidFill>
                  <a:schemeClr val="bg1"/>
                </a:solidFill>
                <a:latin typeface="Gotham SSm A" panose="02000504050000020004" pitchFamily="2" charset="0"/>
              </a:rPr>
              <a:t>Two fitting methods are provided: full MCMC via NUTS (using the </a:t>
            </a:r>
            <a:r>
              <a:rPr lang="en-US" sz="1400" dirty="0" err="1">
                <a:solidFill>
                  <a:schemeClr val="bg1"/>
                </a:solidFill>
                <a:latin typeface="Gotham SSm A" panose="02000504050000020004" pitchFamily="2" charset="0"/>
              </a:rPr>
              <a:t>numpyro</a:t>
            </a:r>
            <a:r>
              <a:rPr lang="en-US" sz="1400" dirty="0">
                <a:solidFill>
                  <a:schemeClr val="bg1"/>
                </a:solidFill>
                <a:latin typeface="Gotham SSm A" panose="02000504050000020004" pitchFamily="2" charset="0"/>
              </a:rPr>
              <a:t> backend for JAX-accelerated sampling) and Variational Inference (ADVI), which approximates the posterior with a mean-field Gaussian. </a:t>
            </a:r>
          </a:p>
          <a:p>
            <a:pPr marL="285750" indent="-285750">
              <a:buFont typeface="Arial" panose="020B0604020202020204" pitchFamily="34" charset="0"/>
              <a:buChar char="•"/>
            </a:pPr>
            <a:endParaRPr lang="en-US" sz="1400" dirty="0">
              <a:solidFill>
                <a:schemeClr val="bg1"/>
              </a:solidFill>
              <a:latin typeface="Gotham SSm A" panose="02000504050000020004" pitchFamily="2" charset="0"/>
            </a:endParaRPr>
          </a:p>
          <a:p>
            <a:pPr marL="285750" indent="-285750">
              <a:buFont typeface="Arial" panose="020B0604020202020204" pitchFamily="34" charset="0"/>
              <a:buChar char="•"/>
            </a:pPr>
            <a:r>
              <a:rPr lang="en-US" sz="1400" dirty="0">
                <a:solidFill>
                  <a:schemeClr val="bg1"/>
                </a:solidFill>
                <a:latin typeface="Gotham SSm A" panose="02000504050000020004" pitchFamily="2" charset="0"/>
              </a:rPr>
              <a:t>MCMC provides exact posterior samples but is computationally expensive; ADVI is fast but may underestimate posterior uncertainty, especially for multimodal or highly correlated posteriors. Comparing both serves as a diagnostic — if they disagree substantially, the VI approximation may be poor.</a:t>
            </a:r>
          </a:p>
        </p:txBody>
      </p:sp>
      <p:sp>
        <p:nvSpPr>
          <p:cNvPr id="18" name="TextBox 17">
            <a:extLst>
              <a:ext uri="{FF2B5EF4-FFF2-40B4-BE49-F238E27FC236}">
                <a16:creationId xmlns:a16="http://schemas.microsoft.com/office/drawing/2014/main" id="{D5D1C41A-717A-4EC8-63A8-438C63722304}"/>
              </a:ext>
            </a:extLst>
          </p:cNvPr>
          <p:cNvSpPr txBox="1"/>
          <p:nvPr/>
        </p:nvSpPr>
        <p:spPr>
          <a:xfrm>
            <a:off x="255507" y="1152583"/>
            <a:ext cx="8259843" cy="307777"/>
          </a:xfrm>
          <a:prstGeom prst="rect">
            <a:avLst/>
          </a:prstGeom>
          <a:noFill/>
        </p:spPr>
        <p:txBody>
          <a:bodyPr wrap="square" rtlCol="0">
            <a:spAutoFit/>
          </a:bodyPr>
          <a:lstStyle/>
          <a:p>
            <a:pPr defTabSz="1219170">
              <a:defRPr/>
            </a:pPr>
            <a:r>
              <a:rPr lang="en-US" sz="1400" b="1" dirty="0">
                <a:solidFill>
                  <a:schemeClr val="bg1"/>
                </a:solidFill>
                <a:latin typeface="Montserrat" pitchFamily="2" charset="77"/>
              </a:rPr>
              <a:t>Section 7: Static Bradley–Terry Model (</a:t>
            </a:r>
            <a:r>
              <a:rPr lang="en-US" sz="1400" b="1" dirty="0" err="1">
                <a:solidFill>
                  <a:schemeClr val="bg1"/>
                </a:solidFill>
                <a:latin typeface="Montserrat" pitchFamily="2" charset="77"/>
              </a:rPr>
              <a:t>build_static_bt_model</a:t>
            </a:r>
            <a:r>
              <a:rPr lang="en-US" sz="1400" b="1" dirty="0">
                <a:solidFill>
                  <a:schemeClr val="bg1"/>
                </a:solidFill>
                <a:latin typeface="Montserrat" pitchFamily="2" charset="77"/>
              </a:rPr>
              <a:t>)</a:t>
            </a:r>
          </a:p>
        </p:txBody>
      </p:sp>
      <p:sp>
        <p:nvSpPr>
          <p:cNvPr id="14" name="TextBox 13">
            <a:extLst>
              <a:ext uri="{FF2B5EF4-FFF2-40B4-BE49-F238E27FC236}">
                <a16:creationId xmlns:a16="http://schemas.microsoft.com/office/drawing/2014/main" id="{115BAB87-28C4-718F-C0D9-7B62C57A3F29}"/>
              </a:ext>
            </a:extLst>
          </p:cNvPr>
          <p:cNvSpPr txBox="1"/>
          <p:nvPr/>
        </p:nvSpPr>
        <p:spPr>
          <a:xfrm>
            <a:off x="6524234" y="315387"/>
            <a:ext cx="2068011" cy="428322"/>
          </a:xfrm>
          <a:prstGeom prst="rect">
            <a:avLst/>
          </a:prstGeom>
          <a:noFill/>
        </p:spPr>
        <p:txBody>
          <a:bodyPr wrap="square" rtlCol="0">
            <a:spAutoFit/>
          </a:bodyPr>
          <a:lstStyle/>
          <a:p>
            <a:pPr algn="ctr">
              <a:lnSpc>
                <a:spcPts val="2920"/>
              </a:lnSpc>
            </a:pPr>
            <a:r>
              <a:rPr lang="en-US" sz="1600" b="1" dirty="0">
                <a:solidFill>
                  <a:schemeClr val="bg1"/>
                </a:solidFill>
                <a:effectLst>
                  <a:outerShdw blurRad="50800" dist="38100" dir="2700000" algn="tl" rotWithShape="0">
                    <a:prstClr val="black">
                      <a:alpha val="40000"/>
                    </a:prstClr>
                  </a:outerShdw>
                </a:effectLst>
                <a:latin typeface="Montserrat" pitchFamily="2" charset="77"/>
              </a:rPr>
              <a:t>Group 4</a:t>
            </a:r>
            <a:endParaRPr lang="en-US" sz="1600" dirty="0">
              <a:solidFill>
                <a:schemeClr val="bg1"/>
              </a:solidFill>
              <a:effectLst>
                <a:outerShdw blurRad="50800" dist="38100" dir="2700000" algn="tl" rotWithShape="0">
                  <a:prstClr val="black">
                    <a:alpha val="40000"/>
                  </a:prstClr>
                </a:outerShdw>
              </a:effectLst>
              <a:latin typeface="Montserrat" pitchFamily="2" charset="77"/>
            </a:endParaRPr>
          </a:p>
        </p:txBody>
      </p:sp>
      <p:sp>
        <p:nvSpPr>
          <p:cNvPr id="3" name="TextBox 2">
            <a:extLst>
              <a:ext uri="{FF2B5EF4-FFF2-40B4-BE49-F238E27FC236}">
                <a16:creationId xmlns:a16="http://schemas.microsoft.com/office/drawing/2014/main" id="{34C2C442-765F-5322-4F96-867C7ACA45C8}"/>
              </a:ext>
            </a:extLst>
          </p:cNvPr>
          <p:cNvSpPr txBox="1"/>
          <p:nvPr/>
        </p:nvSpPr>
        <p:spPr>
          <a:xfrm>
            <a:off x="160074" y="246676"/>
            <a:ext cx="3065726" cy="669029"/>
          </a:xfrm>
          <a:prstGeom prst="rect">
            <a:avLst/>
          </a:prstGeom>
          <a:noFill/>
        </p:spPr>
        <p:txBody>
          <a:bodyPr wrap="square" rtlCol="0">
            <a:spAutoFit/>
          </a:bodyPr>
          <a:lstStyle/>
          <a:p>
            <a:pPr algn="ctr">
              <a:lnSpc>
                <a:spcPts val="2920"/>
              </a:lnSpc>
            </a:pPr>
            <a:r>
              <a:rPr lang="en-US" sz="1000" b="1" dirty="0">
                <a:solidFill>
                  <a:schemeClr val="bg1"/>
                </a:solidFill>
                <a:effectLst>
                  <a:outerShdw blurRad="50800" dist="38100" dir="2700000" algn="tl" rotWithShape="0">
                    <a:prstClr val="black">
                      <a:alpha val="40000"/>
                    </a:prstClr>
                  </a:outerShdw>
                </a:effectLst>
                <a:latin typeface="Montserrat" pitchFamily="2" charset="77"/>
              </a:rPr>
              <a:t>Posterior on the Baseline: Bayesian</a:t>
            </a:r>
          </a:p>
          <a:p>
            <a:pPr algn="ctr">
              <a:lnSpc>
                <a:spcPct val="150000"/>
              </a:lnSpc>
            </a:pPr>
            <a:r>
              <a:rPr lang="en-US" sz="1000" b="1" dirty="0">
                <a:solidFill>
                  <a:schemeClr val="bg1"/>
                </a:solidFill>
                <a:effectLst>
                  <a:outerShdw blurRad="50800" dist="38100" dir="2700000" algn="tl" rotWithShape="0">
                    <a:prstClr val="black">
                      <a:alpha val="40000"/>
                    </a:prstClr>
                  </a:outerShdw>
                </a:effectLst>
                <a:latin typeface="Montserrat" pitchFamily="2" charset="77"/>
              </a:rPr>
              <a:t>Tennis Tournament Predictions</a:t>
            </a:r>
            <a:endParaRPr lang="en-US" sz="1000" dirty="0">
              <a:solidFill>
                <a:schemeClr val="bg1"/>
              </a:solidFill>
              <a:effectLst>
                <a:outerShdw blurRad="50800" dist="38100" dir="2700000" algn="tl" rotWithShape="0">
                  <a:prstClr val="black">
                    <a:alpha val="40000"/>
                  </a:prstClr>
                </a:outerShdw>
              </a:effectLst>
              <a:latin typeface="Montserrat" pitchFamily="2" charset="77"/>
            </a:endParaRPr>
          </a:p>
        </p:txBody>
      </p:sp>
    </p:spTree>
    <p:extLst>
      <p:ext uri="{BB962C8B-B14F-4D97-AF65-F5344CB8AC3E}">
        <p14:creationId xmlns:p14="http://schemas.microsoft.com/office/powerpoint/2010/main" val="1973363530"/>
      </p:ext>
    </p:extLst>
  </p:cSld>
  <p:clrMapOvr>
    <a:masterClrMapping/>
  </p:clrMapOvr>
  <mc:AlternateContent xmlns:mc="http://schemas.openxmlformats.org/markup-compatibility/2006">
    <mc:Choice xmlns:p14="http://schemas.microsoft.com/office/powerpoint/2010/main" Requires="p14">
      <p:transition spd="slow" p14:dur="6000" advClick="0" advTm="11000"/>
    </mc:Choice>
    <mc:Fallback>
      <p:transition spd="slow" advClick="0" advTm="1100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0BD42-FBF3-F8C1-EA5F-5D8D308B7738}"/>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B833A5A-18ED-CDE0-2F15-CD4639817EBD}"/>
              </a:ext>
            </a:extLst>
          </p:cNvPr>
          <p:cNvSpPr/>
          <p:nvPr/>
        </p:nvSpPr>
        <p:spPr>
          <a:xfrm>
            <a:off x="374650" y="1555821"/>
            <a:ext cx="8326330" cy="4832092"/>
          </a:xfrm>
          <a:prstGeom prst="rect">
            <a:avLst/>
          </a:prstGeom>
        </p:spPr>
        <p:txBody>
          <a:bodyPr wrap="square">
            <a:spAutoFit/>
          </a:bodyPr>
          <a:lstStyle/>
          <a:p>
            <a:pPr marL="285750" indent="-285750">
              <a:buFont typeface="Arial" panose="020B0604020202020204" pitchFamily="34" charset="0"/>
              <a:buChar char="•"/>
            </a:pPr>
            <a:r>
              <a:rPr lang="en-US" sz="1400" dirty="0">
                <a:solidFill>
                  <a:schemeClr val="bg1"/>
                </a:solidFill>
                <a:latin typeface="Gotham SSm A" panose="02000504050000020004" pitchFamily="2" charset="0"/>
              </a:rPr>
              <a:t>This extends the static model by allowing player skills to evolve over time via a random walk process. </a:t>
            </a:r>
          </a:p>
          <a:p>
            <a:pPr marL="285750" indent="-285750">
              <a:buFont typeface="Arial" panose="020B0604020202020204" pitchFamily="34" charset="0"/>
              <a:buChar char="•"/>
            </a:pPr>
            <a:endParaRPr lang="en-US" sz="1400" dirty="0">
              <a:solidFill>
                <a:schemeClr val="bg1"/>
              </a:solidFill>
              <a:latin typeface="Gotham SSm A" panose="02000504050000020004" pitchFamily="2" charset="0"/>
            </a:endParaRPr>
          </a:p>
          <a:p>
            <a:pPr marL="285750" indent="-285750">
              <a:buFont typeface="Arial" panose="020B0604020202020204" pitchFamily="34" charset="0"/>
              <a:buChar char="•"/>
            </a:pPr>
            <a:r>
              <a:rPr lang="en-US" sz="1400" dirty="0">
                <a:solidFill>
                  <a:schemeClr val="bg1"/>
                </a:solidFill>
                <a:latin typeface="Gotham SSm A" panose="02000504050000020004" pitchFamily="2" charset="0"/>
              </a:rPr>
              <a:t>The generative model is: θᵢ,₀ ~ Normal(0, </a:t>
            </a:r>
            <a:r>
              <a:rPr lang="en-US" sz="1400" dirty="0" err="1">
                <a:solidFill>
                  <a:schemeClr val="bg1"/>
                </a:solidFill>
                <a:latin typeface="Gotham SSm A" panose="02000504050000020004" pitchFamily="2" charset="0"/>
              </a:rPr>
              <a:t>σ_init</a:t>
            </a:r>
            <a:r>
              <a:rPr lang="en-US" sz="1400" dirty="0">
                <a:solidFill>
                  <a:schemeClr val="bg1"/>
                </a:solidFill>
                <a:latin typeface="Gotham SSm A" panose="02000504050000020004" pitchFamily="2" charset="0"/>
              </a:rPr>
              <a:t>) for the initial period, then </a:t>
            </a:r>
            <a:r>
              <a:rPr lang="en-US" sz="1400" dirty="0" err="1">
                <a:solidFill>
                  <a:schemeClr val="bg1"/>
                </a:solidFill>
                <a:latin typeface="Gotham SSm A" panose="02000504050000020004" pitchFamily="2" charset="0"/>
              </a:rPr>
              <a:t>θᵢ,t</a:t>
            </a:r>
            <a:r>
              <a:rPr lang="en-US" sz="1400" dirty="0">
                <a:solidFill>
                  <a:schemeClr val="bg1"/>
                </a:solidFill>
                <a:latin typeface="Gotham SSm A" panose="02000504050000020004" pitchFamily="2" charset="0"/>
              </a:rPr>
              <a:t> = </a:t>
            </a:r>
            <a:r>
              <a:rPr lang="en-US" sz="1400" dirty="0" err="1">
                <a:solidFill>
                  <a:schemeClr val="bg1"/>
                </a:solidFill>
                <a:latin typeface="Gotham SSm A" panose="02000504050000020004" pitchFamily="2" charset="0"/>
              </a:rPr>
              <a:t>θᵢ,t</a:t>
            </a:r>
            <a:r>
              <a:rPr lang="en-US" sz="1400" dirty="0">
                <a:solidFill>
                  <a:schemeClr val="bg1"/>
                </a:solidFill>
                <a:latin typeface="Gotham SSm A" panose="02000504050000020004" pitchFamily="2" charset="0"/>
              </a:rPr>
              <a:t>₋₁ + </a:t>
            </a:r>
            <a:r>
              <a:rPr lang="en-US" sz="1400" dirty="0" err="1">
                <a:solidFill>
                  <a:schemeClr val="bg1"/>
                </a:solidFill>
                <a:latin typeface="Gotham SSm A" panose="02000504050000020004" pitchFamily="2" charset="0"/>
              </a:rPr>
              <a:t>εᵢ,t</a:t>
            </a:r>
            <a:r>
              <a:rPr lang="en-US" sz="1400" dirty="0">
                <a:solidFill>
                  <a:schemeClr val="bg1"/>
                </a:solidFill>
                <a:latin typeface="Gotham SSm A" panose="02000504050000020004" pitchFamily="2" charset="0"/>
              </a:rPr>
              <a:t> where </a:t>
            </a:r>
            <a:r>
              <a:rPr lang="en-US" sz="1400" dirty="0" err="1">
                <a:solidFill>
                  <a:schemeClr val="bg1"/>
                </a:solidFill>
                <a:latin typeface="Gotham SSm A" panose="02000504050000020004" pitchFamily="2" charset="0"/>
              </a:rPr>
              <a:t>εᵢ,t</a:t>
            </a:r>
            <a:r>
              <a:rPr lang="en-US" sz="1400" dirty="0">
                <a:solidFill>
                  <a:schemeClr val="bg1"/>
                </a:solidFill>
                <a:latin typeface="Gotham SSm A" panose="02000504050000020004" pitchFamily="2" charset="0"/>
              </a:rPr>
              <a:t> ~ Normal(0, </a:t>
            </a:r>
            <a:r>
              <a:rPr lang="en-US" sz="1400" dirty="0" err="1">
                <a:solidFill>
                  <a:schemeClr val="bg1"/>
                </a:solidFill>
                <a:latin typeface="Gotham SSm A" panose="02000504050000020004" pitchFamily="2" charset="0"/>
              </a:rPr>
              <a:t>σ_rw</a:t>
            </a:r>
            <a:r>
              <a:rPr lang="en-US" sz="1400" dirty="0">
                <a:solidFill>
                  <a:schemeClr val="bg1"/>
                </a:solidFill>
                <a:latin typeface="Gotham SSm A" panose="02000504050000020004" pitchFamily="2" charset="0"/>
              </a:rPr>
              <a:t>) for subsequent periods. </a:t>
            </a:r>
          </a:p>
          <a:p>
            <a:pPr marL="285750" indent="-285750">
              <a:buFont typeface="Arial" panose="020B0604020202020204" pitchFamily="34" charset="0"/>
              <a:buChar char="•"/>
            </a:pPr>
            <a:endParaRPr lang="en-US" sz="1400" dirty="0">
              <a:solidFill>
                <a:schemeClr val="bg1"/>
              </a:solidFill>
              <a:latin typeface="Gotham SSm A" panose="02000504050000020004" pitchFamily="2" charset="0"/>
            </a:endParaRPr>
          </a:p>
          <a:p>
            <a:pPr marL="285750" indent="-285750">
              <a:buFont typeface="Arial" panose="020B0604020202020204" pitchFamily="34" charset="0"/>
              <a:buChar char="•"/>
            </a:pPr>
            <a:r>
              <a:rPr lang="en-US" sz="1400" dirty="0">
                <a:solidFill>
                  <a:schemeClr val="bg1"/>
                </a:solidFill>
                <a:latin typeface="Gotham SSm A" panose="02000504050000020004" pitchFamily="2" charset="0"/>
              </a:rPr>
              <a:t>The hyperparameters </a:t>
            </a:r>
            <a:r>
              <a:rPr lang="en-US" sz="1400" dirty="0" err="1">
                <a:solidFill>
                  <a:schemeClr val="bg1"/>
                </a:solidFill>
                <a:latin typeface="Gotham SSm A" panose="02000504050000020004" pitchFamily="2" charset="0"/>
              </a:rPr>
              <a:t>σ_init</a:t>
            </a:r>
            <a:r>
              <a:rPr lang="en-US" sz="1400" dirty="0">
                <a:solidFill>
                  <a:schemeClr val="bg1"/>
                </a:solidFill>
                <a:latin typeface="Gotham SSm A" panose="02000504050000020004" pitchFamily="2" charset="0"/>
              </a:rPr>
              <a:t> ~ </a:t>
            </a:r>
            <a:r>
              <a:rPr lang="en-US" sz="1400" dirty="0" err="1">
                <a:solidFill>
                  <a:schemeClr val="bg1"/>
                </a:solidFill>
                <a:latin typeface="Gotham SSm A" panose="02000504050000020004" pitchFamily="2" charset="0"/>
              </a:rPr>
              <a:t>HalfNormal</a:t>
            </a:r>
            <a:r>
              <a:rPr lang="en-US" sz="1400" dirty="0">
                <a:solidFill>
                  <a:schemeClr val="bg1"/>
                </a:solidFill>
                <a:latin typeface="Gotham SSm A" panose="02000504050000020004" pitchFamily="2" charset="0"/>
              </a:rPr>
              <a:t>(0.7) and </a:t>
            </a:r>
            <a:r>
              <a:rPr lang="en-US" sz="1400" dirty="0" err="1">
                <a:solidFill>
                  <a:schemeClr val="bg1"/>
                </a:solidFill>
                <a:latin typeface="Gotham SSm A" panose="02000504050000020004" pitchFamily="2" charset="0"/>
              </a:rPr>
              <a:t>σ_rw</a:t>
            </a:r>
            <a:r>
              <a:rPr lang="en-US" sz="1400" dirty="0">
                <a:solidFill>
                  <a:schemeClr val="bg1"/>
                </a:solidFill>
                <a:latin typeface="Gotham SSm A" panose="02000504050000020004" pitchFamily="2" charset="0"/>
              </a:rPr>
              <a:t> ~ </a:t>
            </a:r>
            <a:r>
              <a:rPr lang="en-US" sz="1400" dirty="0" err="1">
                <a:solidFill>
                  <a:schemeClr val="bg1"/>
                </a:solidFill>
                <a:latin typeface="Gotham SSm A" panose="02000504050000020004" pitchFamily="2" charset="0"/>
              </a:rPr>
              <a:t>HalfNormal</a:t>
            </a:r>
            <a:r>
              <a:rPr lang="en-US" sz="1400" dirty="0">
                <a:solidFill>
                  <a:schemeClr val="bg1"/>
                </a:solidFill>
                <a:latin typeface="Gotham SSm A" panose="02000504050000020004" pitchFamily="2" charset="0"/>
              </a:rPr>
              <a:t>(0.15) are given weakly informative priors — </a:t>
            </a:r>
            <a:r>
              <a:rPr lang="en-US" sz="1400" dirty="0" err="1">
                <a:solidFill>
                  <a:schemeClr val="bg1"/>
                </a:solidFill>
                <a:latin typeface="Gotham SSm A" panose="02000504050000020004" pitchFamily="2" charset="0"/>
              </a:rPr>
              <a:t>σ_rw</a:t>
            </a:r>
            <a:r>
              <a:rPr lang="en-US" sz="1400" dirty="0">
                <a:solidFill>
                  <a:schemeClr val="bg1"/>
                </a:solidFill>
                <a:latin typeface="Gotham SSm A" panose="02000504050000020004" pitchFamily="2" charset="0"/>
              </a:rPr>
              <a:t> is intentionally smaller, reflecting the belief that quarter-to-quarter skill changes are modest relative to overall skill spread. </a:t>
            </a:r>
          </a:p>
          <a:p>
            <a:pPr marL="285750" indent="-285750">
              <a:buFont typeface="Arial" panose="020B0604020202020204" pitchFamily="34" charset="0"/>
              <a:buChar char="•"/>
            </a:pPr>
            <a:endParaRPr lang="en-US" sz="1400" dirty="0">
              <a:solidFill>
                <a:schemeClr val="bg1"/>
              </a:solidFill>
              <a:latin typeface="Gotham SSm A" panose="02000504050000020004" pitchFamily="2" charset="0"/>
            </a:endParaRPr>
          </a:p>
          <a:p>
            <a:pPr marL="285750" indent="-285750">
              <a:buFont typeface="Arial" panose="020B0604020202020204" pitchFamily="34" charset="0"/>
              <a:buChar char="•"/>
            </a:pPr>
            <a:r>
              <a:rPr lang="en-US" sz="1400" dirty="0">
                <a:solidFill>
                  <a:schemeClr val="bg1"/>
                </a:solidFill>
                <a:latin typeface="Gotham SSm A" panose="02000504050000020004" pitchFamily="2" charset="0"/>
              </a:rPr>
              <a:t>The implementation uses a non-centered parameterization: raw standard normals theta0_raw and eps are sampled, then scaled by the hyperparameters. </a:t>
            </a:r>
          </a:p>
          <a:p>
            <a:pPr marL="285750" indent="-285750">
              <a:buFont typeface="Arial" panose="020B0604020202020204" pitchFamily="34" charset="0"/>
              <a:buChar char="•"/>
            </a:pPr>
            <a:endParaRPr lang="en-US" sz="1400" dirty="0">
              <a:solidFill>
                <a:schemeClr val="bg1"/>
              </a:solidFill>
              <a:latin typeface="Gotham SSm A" panose="02000504050000020004" pitchFamily="2" charset="0"/>
            </a:endParaRPr>
          </a:p>
          <a:p>
            <a:pPr marL="742950" lvl="1" indent="-285750">
              <a:buFont typeface="Arial" panose="020B0604020202020204" pitchFamily="34" charset="0"/>
              <a:buChar char="•"/>
            </a:pPr>
            <a:r>
              <a:rPr lang="en-US" sz="1400" dirty="0">
                <a:solidFill>
                  <a:schemeClr val="bg1"/>
                </a:solidFill>
                <a:latin typeface="Gotham SSm A" panose="02000504050000020004" pitchFamily="2" charset="0"/>
              </a:rPr>
              <a:t>This is a critical computational technique — the centered parameterization (directly sampling correlated skills) creates a "funnel" geometry that NUTS handles poorly, leading to divergences. </a:t>
            </a:r>
          </a:p>
          <a:p>
            <a:pPr marL="742950" lvl="1" indent="-285750">
              <a:buFont typeface="Arial" panose="020B0604020202020204" pitchFamily="34" charset="0"/>
              <a:buChar char="•"/>
            </a:pPr>
            <a:endParaRPr lang="en-US" sz="1400" dirty="0">
              <a:solidFill>
                <a:schemeClr val="bg1"/>
              </a:solidFill>
              <a:latin typeface="Gotham SSm A" panose="02000504050000020004" pitchFamily="2" charset="0"/>
            </a:endParaRPr>
          </a:p>
          <a:p>
            <a:pPr marL="1200150" lvl="2" indent="-285750">
              <a:buFont typeface="Arial" panose="020B0604020202020204" pitchFamily="34" charset="0"/>
              <a:buChar char="•"/>
            </a:pPr>
            <a:r>
              <a:rPr lang="en-US" sz="1400" dirty="0">
                <a:solidFill>
                  <a:schemeClr val="bg1"/>
                </a:solidFill>
                <a:latin typeface="Gotham SSm A" panose="02000504050000020004" pitchFamily="2" charset="0"/>
              </a:rPr>
              <a:t>The non-centered form decouples the sampling of local variables from hyperparameters. The per-period centering theta − </a:t>
            </a:r>
            <a:r>
              <a:rPr lang="en-US" sz="1400" dirty="0" err="1">
                <a:solidFill>
                  <a:schemeClr val="bg1"/>
                </a:solidFill>
                <a:latin typeface="Gotham SSm A" panose="02000504050000020004" pitchFamily="2" charset="0"/>
              </a:rPr>
              <a:t>theta.mean</a:t>
            </a:r>
            <a:r>
              <a:rPr lang="en-US" sz="1400" dirty="0">
                <a:solidFill>
                  <a:schemeClr val="bg1"/>
                </a:solidFill>
                <a:latin typeface="Gotham SSm A" panose="02000504050000020004" pitchFamily="2" charset="0"/>
              </a:rPr>
              <a:t>(axis=0) is the identifiability fix: at each time step, the mean skill is subtracted, ensuring the model is identified without artificially anchoring any single player. </a:t>
            </a:r>
          </a:p>
          <a:p>
            <a:pPr marL="1657350" lvl="3" indent="-285750">
              <a:buFont typeface="Arial" panose="020B0604020202020204" pitchFamily="34" charset="0"/>
              <a:buChar char="•"/>
            </a:pPr>
            <a:endParaRPr lang="en-US" sz="1400" dirty="0">
              <a:solidFill>
                <a:schemeClr val="bg1"/>
              </a:solidFill>
              <a:latin typeface="Gotham SSm A" panose="02000504050000020004" pitchFamily="2" charset="0"/>
            </a:endParaRPr>
          </a:p>
          <a:p>
            <a:pPr marL="1657350" lvl="3" indent="-285750">
              <a:buFont typeface="Arial" panose="020B0604020202020204" pitchFamily="34" charset="0"/>
              <a:buChar char="•"/>
            </a:pPr>
            <a:r>
              <a:rPr lang="en-US" sz="1400" dirty="0">
                <a:solidFill>
                  <a:schemeClr val="bg1"/>
                </a:solidFill>
                <a:latin typeface="Gotham SSm A" panose="02000504050000020004" pitchFamily="2" charset="0"/>
              </a:rPr>
              <a:t>The likelihood now indexes skills by both player and time period: θ[p1, t] − θ[p2, t], allowing the model to use each match's contemporaneous skill estimates for prediction.</a:t>
            </a:r>
          </a:p>
        </p:txBody>
      </p:sp>
      <p:sp>
        <p:nvSpPr>
          <p:cNvPr id="18" name="TextBox 17">
            <a:extLst>
              <a:ext uri="{FF2B5EF4-FFF2-40B4-BE49-F238E27FC236}">
                <a16:creationId xmlns:a16="http://schemas.microsoft.com/office/drawing/2014/main" id="{E5A3AF76-C6EB-082A-D1E9-1D839166C40C}"/>
              </a:ext>
            </a:extLst>
          </p:cNvPr>
          <p:cNvSpPr txBox="1"/>
          <p:nvPr/>
        </p:nvSpPr>
        <p:spPr>
          <a:xfrm>
            <a:off x="255507" y="1152583"/>
            <a:ext cx="8259843" cy="307777"/>
          </a:xfrm>
          <a:prstGeom prst="rect">
            <a:avLst/>
          </a:prstGeom>
          <a:noFill/>
        </p:spPr>
        <p:txBody>
          <a:bodyPr wrap="square" rtlCol="0">
            <a:spAutoFit/>
          </a:bodyPr>
          <a:lstStyle/>
          <a:p>
            <a:pPr defTabSz="1219170">
              <a:defRPr/>
            </a:pPr>
            <a:r>
              <a:rPr lang="en-US" sz="1400" b="1" dirty="0">
                <a:solidFill>
                  <a:schemeClr val="bg1"/>
                </a:solidFill>
                <a:latin typeface="Montserrat" pitchFamily="2" charset="77"/>
              </a:rPr>
              <a:t>Section 8: Dynamic Bradley–Terry Model (</a:t>
            </a:r>
            <a:r>
              <a:rPr lang="en-US" sz="1400" b="1" dirty="0" err="1">
                <a:solidFill>
                  <a:schemeClr val="bg1"/>
                </a:solidFill>
                <a:latin typeface="Montserrat" pitchFamily="2" charset="77"/>
              </a:rPr>
              <a:t>build_dynamic_bt_model</a:t>
            </a:r>
            <a:r>
              <a:rPr lang="en-US" sz="1400" b="1" dirty="0">
                <a:solidFill>
                  <a:schemeClr val="bg1"/>
                </a:solidFill>
                <a:latin typeface="Montserrat" pitchFamily="2" charset="77"/>
              </a:rPr>
              <a:t>)</a:t>
            </a:r>
          </a:p>
        </p:txBody>
      </p:sp>
      <p:sp>
        <p:nvSpPr>
          <p:cNvPr id="14" name="TextBox 13">
            <a:extLst>
              <a:ext uri="{FF2B5EF4-FFF2-40B4-BE49-F238E27FC236}">
                <a16:creationId xmlns:a16="http://schemas.microsoft.com/office/drawing/2014/main" id="{F6AD3A54-AF50-4A01-C522-DFE242E4B16D}"/>
              </a:ext>
            </a:extLst>
          </p:cNvPr>
          <p:cNvSpPr txBox="1"/>
          <p:nvPr/>
        </p:nvSpPr>
        <p:spPr>
          <a:xfrm>
            <a:off x="6524234" y="315387"/>
            <a:ext cx="2068011" cy="428322"/>
          </a:xfrm>
          <a:prstGeom prst="rect">
            <a:avLst/>
          </a:prstGeom>
          <a:noFill/>
        </p:spPr>
        <p:txBody>
          <a:bodyPr wrap="square" rtlCol="0">
            <a:spAutoFit/>
          </a:bodyPr>
          <a:lstStyle/>
          <a:p>
            <a:pPr algn="ctr">
              <a:lnSpc>
                <a:spcPts val="2920"/>
              </a:lnSpc>
            </a:pPr>
            <a:r>
              <a:rPr lang="en-US" sz="1600" b="1" dirty="0">
                <a:solidFill>
                  <a:schemeClr val="bg1"/>
                </a:solidFill>
                <a:effectLst>
                  <a:outerShdw blurRad="50800" dist="38100" dir="2700000" algn="tl" rotWithShape="0">
                    <a:prstClr val="black">
                      <a:alpha val="40000"/>
                    </a:prstClr>
                  </a:outerShdw>
                </a:effectLst>
                <a:latin typeface="Montserrat" pitchFamily="2" charset="77"/>
              </a:rPr>
              <a:t>Group 4</a:t>
            </a:r>
            <a:endParaRPr lang="en-US" sz="1600" dirty="0">
              <a:solidFill>
                <a:schemeClr val="bg1"/>
              </a:solidFill>
              <a:effectLst>
                <a:outerShdw blurRad="50800" dist="38100" dir="2700000" algn="tl" rotWithShape="0">
                  <a:prstClr val="black">
                    <a:alpha val="40000"/>
                  </a:prstClr>
                </a:outerShdw>
              </a:effectLst>
              <a:latin typeface="Montserrat" pitchFamily="2" charset="77"/>
            </a:endParaRPr>
          </a:p>
        </p:txBody>
      </p:sp>
      <p:sp>
        <p:nvSpPr>
          <p:cNvPr id="3" name="TextBox 2">
            <a:extLst>
              <a:ext uri="{FF2B5EF4-FFF2-40B4-BE49-F238E27FC236}">
                <a16:creationId xmlns:a16="http://schemas.microsoft.com/office/drawing/2014/main" id="{849B88B9-496D-7F71-70DE-FAC32F07D724}"/>
              </a:ext>
            </a:extLst>
          </p:cNvPr>
          <p:cNvSpPr txBox="1"/>
          <p:nvPr/>
        </p:nvSpPr>
        <p:spPr>
          <a:xfrm>
            <a:off x="160074" y="246676"/>
            <a:ext cx="3065726" cy="669029"/>
          </a:xfrm>
          <a:prstGeom prst="rect">
            <a:avLst/>
          </a:prstGeom>
          <a:noFill/>
        </p:spPr>
        <p:txBody>
          <a:bodyPr wrap="square" rtlCol="0">
            <a:spAutoFit/>
          </a:bodyPr>
          <a:lstStyle/>
          <a:p>
            <a:pPr algn="ctr">
              <a:lnSpc>
                <a:spcPts val="2920"/>
              </a:lnSpc>
            </a:pPr>
            <a:r>
              <a:rPr lang="en-US" sz="1000" b="1" dirty="0">
                <a:solidFill>
                  <a:schemeClr val="bg1"/>
                </a:solidFill>
                <a:effectLst>
                  <a:outerShdw blurRad="50800" dist="38100" dir="2700000" algn="tl" rotWithShape="0">
                    <a:prstClr val="black">
                      <a:alpha val="40000"/>
                    </a:prstClr>
                  </a:outerShdw>
                </a:effectLst>
                <a:latin typeface="Montserrat" pitchFamily="2" charset="77"/>
              </a:rPr>
              <a:t>Posterior on the Baseline: Bayesian</a:t>
            </a:r>
          </a:p>
          <a:p>
            <a:pPr algn="ctr">
              <a:lnSpc>
                <a:spcPct val="150000"/>
              </a:lnSpc>
            </a:pPr>
            <a:r>
              <a:rPr lang="en-US" sz="1000" b="1" dirty="0">
                <a:solidFill>
                  <a:schemeClr val="bg1"/>
                </a:solidFill>
                <a:effectLst>
                  <a:outerShdw blurRad="50800" dist="38100" dir="2700000" algn="tl" rotWithShape="0">
                    <a:prstClr val="black">
                      <a:alpha val="40000"/>
                    </a:prstClr>
                  </a:outerShdw>
                </a:effectLst>
                <a:latin typeface="Montserrat" pitchFamily="2" charset="77"/>
              </a:rPr>
              <a:t>Tennis Tournament Predictions</a:t>
            </a:r>
            <a:endParaRPr lang="en-US" sz="1000" dirty="0">
              <a:solidFill>
                <a:schemeClr val="bg1"/>
              </a:solidFill>
              <a:effectLst>
                <a:outerShdw blurRad="50800" dist="38100" dir="2700000" algn="tl" rotWithShape="0">
                  <a:prstClr val="black">
                    <a:alpha val="40000"/>
                  </a:prstClr>
                </a:outerShdw>
              </a:effectLst>
              <a:latin typeface="Montserrat" pitchFamily="2" charset="77"/>
            </a:endParaRPr>
          </a:p>
        </p:txBody>
      </p:sp>
    </p:spTree>
    <p:extLst>
      <p:ext uri="{BB962C8B-B14F-4D97-AF65-F5344CB8AC3E}">
        <p14:creationId xmlns:p14="http://schemas.microsoft.com/office/powerpoint/2010/main" val="3969035809"/>
      </p:ext>
    </p:extLst>
  </p:cSld>
  <p:clrMapOvr>
    <a:masterClrMapping/>
  </p:clrMapOvr>
  <mc:AlternateContent xmlns:mc="http://schemas.openxmlformats.org/markup-compatibility/2006">
    <mc:Choice xmlns:p14="http://schemas.microsoft.com/office/powerpoint/2010/main" Requires="p14">
      <p:transition spd="slow" p14:dur="6000" advClick="0" advTm="11000"/>
    </mc:Choice>
    <mc:Fallback>
      <p:transition spd="slow" advClick="0" advTm="1100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DD12B5-5C8C-04AA-5623-F5E6EA685779}"/>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720932CB-93CF-FE0D-4445-9FE21B4E5445}"/>
              </a:ext>
            </a:extLst>
          </p:cNvPr>
          <p:cNvSpPr/>
          <p:nvPr/>
        </p:nvSpPr>
        <p:spPr>
          <a:xfrm>
            <a:off x="374650" y="1555821"/>
            <a:ext cx="8326330" cy="4832092"/>
          </a:xfrm>
          <a:prstGeom prst="rect">
            <a:avLst/>
          </a:prstGeom>
        </p:spPr>
        <p:txBody>
          <a:bodyPr wrap="square">
            <a:spAutoFit/>
          </a:bodyPr>
          <a:lstStyle/>
          <a:p>
            <a:pPr marL="285750" indent="-285750">
              <a:buFont typeface="Arial" panose="020B0604020202020204" pitchFamily="34" charset="0"/>
              <a:buChar char="•"/>
            </a:pPr>
            <a:r>
              <a:rPr lang="en-US" sz="1400" dirty="0">
                <a:solidFill>
                  <a:schemeClr val="bg1"/>
                </a:solidFill>
                <a:latin typeface="Gotham SSm A" panose="02000504050000020004" pitchFamily="2" charset="0"/>
              </a:rPr>
              <a:t>This model augments the dynamic BT with pre-match covariates, combining latent skill evolution with observable player/match characteristics. </a:t>
            </a:r>
          </a:p>
          <a:p>
            <a:pPr marL="285750" indent="-285750">
              <a:buFont typeface="Arial" panose="020B0604020202020204" pitchFamily="34" charset="0"/>
              <a:buChar char="•"/>
            </a:pPr>
            <a:endParaRPr lang="en-US" sz="1400" dirty="0">
              <a:solidFill>
                <a:schemeClr val="bg1"/>
              </a:solidFill>
              <a:latin typeface="Gotham SSm A" panose="02000504050000020004" pitchFamily="2" charset="0"/>
            </a:endParaRPr>
          </a:p>
          <a:p>
            <a:pPr marL="285750" indent="-285750">
              <a:buFont typeface="Arial" panose="020B0604020202020204" pitchFamily="34" charset="0"/>
              <a:buChar char="•"/>
            </a:pPr>
            <a:r>
              <a:rPr lang="en-US" sz="1400" dirty="0">
                <a:solidFill>
                  <a:schemeClr val="bg1"/>
                </a:solidFill>
                <a:latin typeface="Gotham SSm A" panose="02000504050000020004" pitchFamily="2" charset="0"/>
              </a:rPr>
              <a:t>The logit probability becomes: logit(P) = (θ[p1,t] − θ[p2,t]) + intercept + X·β, where X is the covariate matrix containing surface dummies, match format, and player-difference features. </a:t>
            </a:r>
          </a:p>
          <a:p>
            <a:pPr marL="285750" indent="-285750">
              <a:buFont typeface="Arial" panose="020B0604020202020204" pitchFamily="34" charset="0"/>
              <a:buChar char="•"/>
            </a:pPr>
            <a:endParaRPr lang="en-US" sz="1400" dirty="0">
              <a:solidFill>
                <a:schemeClr val="bg1"/>
              </a:solidFill>
              <a:latin typeface="Gotham SSm A" panose="02000504050000020004" pitchFamily="2" charset="0"/>
            </a:endParaRPr>
          </a:p>
          <a:p>
            <a:pPr marL="285750" indent="-285750">
              <a:buFont typeface="Arial" panose="020B0604020202020204" pitchFamily="34" charset="0"/>
              <a:buChar char="•"/>
            </a:pPr>
            <a:r>
              <a:rPr lang="en-US" sz="1400" dirty="0">
                <a:solidFill>
                  <a:schemeClr val="bg1"/>
                </a:solidFill>
                <a:latin typeface="Gotham SSm A" panose="02000504050000020004" pitchFamily="2" charset="0"/>
              </a:rPr>
              <a:t>The regression coefficients β ~ Normal(0, 0.5) receive a moderately regularizing prior — the 0.5 scale on standardized covariates means the model expects covariate effects to be modest (within roughly ±1 logit unit, corresponding to probability shifts of about ±0.25 around the baseline). </a:t>
            </a:r>
          </a:p>
          <a:p>
            <a:pPr marL="285750" indent="-285750">
              <a:buFont typeface="Arial" panose="020B0604020202020204" pitchFamily="34" charset="0"/>
              <a:buChar char="•"/>
            </a:pPr>
            <a:endParaRPr lang="en-US" sz="1400" dirty="0">
              <a:solidFill>
                <a:schemeClr val="bg1"/>
              </a:solidFill>
              <a:latin typeface="Gotham SSm A" panose="02000504050000020004" pitchFamily="2" charset="0"/>
            </a:endParaRPr>
          </a:p>
          <a:p>
            <a:pPr marL="742950" lvl="1" indent="-285750">
              <a:buFont typeface="Arial" panose="020B0604020202020204" pitchFamily="34" charset="0"/>
              <a:buChar char="•"/>
            </a:pPr>
            <a:r>
              <a:rPr lang="en-US" sz="1400" dirty="0">
                <a:solidFill>
                  <a:schemeClr val="bg1"/>
                </a:solidFill>
                <a:latin typeface="Gotham SSm A" panose="02000504050000020004" pitchFamily="2" charset="0"/>
              </a:rPr>
              <a:t>This prevents overfitting to noise in the covariates while still allowing meaningful effects to be detected. </a:t>
            </a:r>
          </a:p>
          <a:p>
            <a:pPr marL="742950" lvl="1" indent="-285750">
              <a:buFont typeface="Arial" panose="020B0604020202020204" pitchFamily="34" charset="0"/>
              <a:buChar char="•"/>
            </a:pPr>
            <a:endParaRPr lang="en-US" sz="1400" dirty="0">
              <a:solidFill>
                <a:schemeClr val="bg1"/>
              </a:solidFill>
              <a:latin typeface="Gotham SSm A" panose="02000504050000020004" pitchFamily="2" charset="0"/>
            </a:endParaRPr>
          </a:p>
          <a:p>
            <a:pPr marL="285750" indent="-285750">
              <a:buFont typeface="Arial" panose="020B0604020202020204" pitchFamily="34" charset="0"/>
              <a:buChar char="•"/>
            </a:pPr>
            <a:r>
              <a:rPr lang="en-US" sz="1400" dirty="0">
                <a:solidFill>
                  <a:schemeClr val="bg1"/>
                </a:solidFill>
                <a:latin typeface="Gotham SSm A" panose="02000504050000020004" pitchFamily="2" charset="0"/>
              </a:rPr>
              <a:t>The intercept ~ Normal(0, 0.5) captures any overall bias (though with the symmetric pairwise expansion, it should be near zero, as confirmed in the output where intercept ≈ 0.000). </a:t>
            </a:r>
          </a:p>
          <a:p>
            <a:pPr marL="285750" indent="-285750">
              <a:buFont typeface="Arial" panose="020B0604020202020204" pitchFamily="34" charset="0"/>
              <a:buChar char="•"/>
            </a:pPr>
            <a:endParaRPr lang="en-US" sz="1400" dirty="0">
              <a:solidFill>
                <a:schemeClr val="bg1"/>
              </a:solidFill>
              <a:latin typeface="Gotham SSm A" panose="02000504050000020004" pitchFamily="2" charset="0"/>
            </a:endParaRPr>
          </a:p>
          <a:p>
            <a:pPr marL="285750" indent="-285750">
              <a:buFont typeface="Arial" panose="020B0604020202020204" pitchFamily="34" charset="0"/>
              <a:buChar char="•"/>
            </a:pPr>
            <a:r>
              <a:rPr lang="en-US" sz="1400" dirty="0">
                <a:solidFill>
                  <a:schemeClr val="bg1"/>
                </a:solidFill>
                <a:latin typeface="Gotham SSm A" panose="02000504050000020004" pitchFamily="2" charset="0"/>
              </a:rPr>
              <a:t>Conceptually, this model separates two sources of prediction: who you are (latent dynamic skill θ) and what's observable (rank, age, height, surface). </a:t>
            </a:r>
          </a:p>
          <a:p>
            <a:pPr marL="285750" indent="-285750">
              <a:buFont typeface="Arial" panose="020B0604020202020204" pitchFamily="34" charset="0"/>
              <a:buChar char="•"/>
            </a:pPr>
            <a:endParaRPr lang="en-US" sz="1400" dirty="0">
              <a:solidFill>
                <a:schemeClr val="bg1"/>
              </a:solidFill>
              <a:latin typeface="Gotham SSm A" panose="02000504050000020004" pitchFamily="2" charset="0"/>
            </a:endParaRPr>
          </a:p>
          <a:p>
            <a:pPr marL="285750" indent="-285750">
              <a:buFont typeface="Arial" panose="020B0604020202020204" pitchFamily="34" charset="0"/>
              <a:buChar char="•"/>
            </a:pPr>
            <a:r>
              <a:rPr lang="en-US" sz="1400" dirty="0">
                <a:solidFill>
                  <a:schemeClr val="bg1"/>
                </a:solidFill>
                <a:latin typeface="Gotham SSm A" panose="02000504050000020004" pitchFamily="2" charset="0"/>
              </a:rPr>
              <a:t>The posterior summary reveals that </a:t>
            </a:r>
            <a:r>
              <a:rPr lang="en-US" sz="1400" dirty="0" err="1">
                <a:solidFill>
                  <a:schemeClr val="bg1"/>
                </a:solidFill>
                <a:latin typeface="Gotham SSm A" panose="02000504050000020004" pitchFamily="2" charset="0"/>
              </a:rPr>
              <a:t>rank_points_diff</a:t>
            </a:r>
            <a:r>
              <a:rPr lang="en-US" sz="1400" dirty="0">
                <a:solidFill>
                  <a:schemeClr val="bg1"/>
                </a:solidFill>
                <a:latin typeface="Gotham SSm A" panose="02000504050000020004" pitchFamily="2" charset="0"/>
              </a:rPr>
              <a:t> (β ≈ −1.04) is the strongest covariate, with </a:t>
            </a:r>
            <a:r>
              <a:rPr lang="en-US" sz="1400" dirty="0" err="1">
                <a:solidFill>
                  <a:schemeClr val="bg1"/>
                </a:solidFill>
                <a:latin typeface="Gotham SSm A" panose="02000504050000020004" pitchFamily="2" charset="0"/>
              </a:rPr>
              <a:t>age_diff</a:t>
            </a:r>
            <a:r>
              <a:rPr lang="en-US" sz="1400" dirty="0">
                <a:solidFill>
                  <a:schemeClr val="bg1"/>
                </a:solidFill>
                <a:latin typeface="Gotham SSm A" panose="02000504050000020004" pitchFamily="2" charset="0"/>
              </a:rPr>
              <a:t> (β ≈ 0.50) and </a:t>
            </a:r>
            <a:r>
              <a:rPr lang="en-US" sz="1400" dirty="0" err="1">
                <a:solidFill>
                  <a:schemeClr val="bg1"/>
                </a:solidFill>
                <a:latin typeface="Gotham SSm A" panose="02000504050000020004" pitchFamily="2" charset="0"/>
              </a:rPr>
              <a:t>height_diff</a:t>
            </a:r>
            <a:r>
              <a:rPr lang="en-US" sz="1400" dirty="0">
                <a:solidFill>
                  <a:schemeClr val="bg1"/>
                </a:solidFill>
                <a:latin typeface="Gotham SSm A" panose="02000504050000020004" pitchFamily="2" charset="0"/>
              </a:rPr>
              <a:t> (β ≈ 0.42) also significant, while surface effects are essentially zero — likely because surface preferences are already captured by the latent skill trajectories.</a:t>
            </a:r>
          </a:p>
        </p:txBody>
      </p:sp>
      <p:sp>
        <p:nvSpPr>
          <p:cNvPr id="18" name="TextBox 17">
            <a:extLst>
              <a:ext uri="{FF2B5EF4-FFF2-40B4-BE49-F238E27FC236}">
                <a16:creationId xmlns:a16="http://schemas.microsoft.com/office/drawing/2014/main" id="{FFDA91F6-5F9D-F305-F3AD-1B54777384C3}"/>
              </a:ext>
            </a:extLst>
          </p:cNvPr>
          <p:cNvSpPr txBox="1"/>
          <p:nvPr/>
        </p:nvSpPr>
        <p:spPr>
          <a:xfrm>
            <a:off x="255507" y="1152583"/>
            <a:ext cx="8259843" cy="307777"/>
          </a:xfrm>
          <a:prstGeom prst="rect">
            <a:avLst/>
          </a:prstGeom>
          <a:noFill/>
        </p:spPr>
        <p:txBody>
          <a:bodyPr wrap="square" rtlCol="0">
            <a:spAutoFit/>
          </a:bodyPr>
          <a:lstStyle/>
          <a:p>
            <a:pPr defTabSz="1219170">
              <a:defRPr/>
            </a:pPr>
            <a:r>
              <a:rPr lang="en-US" sz="1400" b="1" dirty="0">
                <a:solidFill>
                  <a:schemeClr val="bg1"/>
                </a:solidFill>
                <a:latin typeface="Montserrat" pitchFamily="2" charset="77"/>
              </a:rPr>
              <a:t>Section 9: Dynamic BT with Covariates (</a:t>
            </a:r>
            <a:r>
              <a:rPr lang="en-US" sz="1400" b="1" dirty="0" err="1">
                <a:solidFill>
                  <a:schemeClr val="bg1"/>
                </a:solidFill>
                <a:latin typeface="Montserrat" pitchFamily="2" charset="77"/>
              </a:rPr>
              <a:t>build_dynamic_bt_covariate_model</a:t>
            </a:r>
            <a:r>
              <a:rPr lang="en-US" sz="1400" b="1" dirty="0">
                <a:solidFill>
                  <a:schemeClr val="bg1"/>
                </a:solidFill>
                <a:latin typeface="Montserrat" pitchFamily="2" charset="77"/>
              </a:rPr>
              <a:t>)</a:t>
            </a:r>
          </a:p>
        </p:txBody>
      </p:sp>
      <p:sp>
        <p:nvSpPr>
          <p:cNvPr id="14" name="TextBox 13">
            <a:extLst>
              <a:ext uri="{FF2B5EF4-FFF2-40B4-BE49-F238E27FC236}">
                <a16:creationId xmlns:a16="http://schemas.microsoft.com/office/drawing/2014/main" id="{D7A4B441-CEDA-7888-65C9-4DDCE3FA3CCE}"/>
              </a:ext>
            </a:extLst>
          </p:cNvPr>
          <p:cNvSpPr txBox="1"/>
          <p:nvPr/>
        </p:nvSpPr>
        <p:spPr>
          <a:xfrm>
            <a:off x="6524234" y="315387"/>
            <a:ext cx="2068011" cy="428322"/>
          </a:xfrm>
          <a:prstGeom prst="rect">
            <a:avLst/>
          </a:prstGeom>
          <a:noFill/>
        </p:spPr>
        <p:txBody>
          <a:bodyPr wrap="square" rtlCol="0">
            <a:spAutoFit/>
          </a:bodyPr>
          <a:lstStyle/>
          <a:p>
            <a:pPr algn="ctr">
              <a:lnSpc>
                <a:spcPts val="2920"/>
              </a:lnSpc>
            </a:pPr>
            <a:r>
              <a:rPr lang="en-US" sz="1600" b="1" dirty="0">
                <a:solidFill>
                  <a:schemeClr val="bg1"/>
                </a:solidFill>
                <a:effectLst>
                  <a:outerShdw blurRad="50800" dist="38100" dir="2700000" algn="tl" rotWithShape="0">
                    <a:prstClr val="black">
                      <a:alpha val="40000"/>
                    </a:prstClr>
                  </a:outerShdw>
                </a:effectLst>
                <a:latin typeface="Montserrat" pitchFamily="2" charset="77"/>
              </a:rPr>
              <a:t>Group 4</a:t>
            </a:r>
            <a:endParaRPr lang="en-US" sz="1600" dirty="0">
              <a:solidFill>
                <a:schemeClr val="bg1"/>
              </a:solidFill>
              <a:effectLst>
                <a:outerShdw blurRad="50800" dist="38100" dir="2700000" algn="tl" rotWithShape="0">
                  <a:prstClr val="black">
                    <a:alpha val="40000"/>
                  </a:prstClr>
                </a:outerShdw>
              </a:effectLst>
              <a:latin typeface="Montserrat" pitchFamily="2" charset="77"/>
            </a:endParaRPr>
          </a:p>
        </p:txBody>
      </p:sp>
      <p:sp>
        <p:nvSpPr>
          <p:cNvPr id="3" name="TextBox 2">
            <a:extLst>
              <a:ext uri="{FF2B5EF4-FFF2-40B4-BE49-F238E27FC236}">
                <a16:creationId xmlns:a16="http://schemas.microsoft.com/office/drawing/2014/main" id="{453135B7-A5CB-83F4-E122-D2AA2FB62253}"/>
              </a:ext>
            </a:extLst>
          </p:cNvPr>
          <p:cNvSpPr txBox="1"/>
          <p:nvPr/>
        </p:nvSpPr>
        <p:spPr>
          <a:xfrm>
            <a:off x="160074" y="246676"/>
            <a:ext cx="3065726" cy="669029"/>
          </a:xfrm>
          <a:prstGeom prst="rect">
            <a:avLst/>
          </a:prstGeom>
          <a:noFill/>
        </p:spPr>
        <p:txBody>
          <a:bodyPr wrap="square" rtlCol="0">
            <a:spAutoFit/>
          </a:bodyPr>
          <a:lstStyle/>
          <a:p>
            <a:pPr algn="ctr">
              <a:lnSpc>
                <a:spcPts val="2920"/>
              </a:lnSpc>
            </a:pPr>
            <a:r>
              <a:rPr lang="en-US" sz="1000" b="1" dirty="0">
                <a:solidFill>
                  <a:schemeClr val="bg1"/>
                </a:solidFill>
                <a:effectLst>
                  <a:outerShdw blurRad="50800" dist="38100" dir="2700000" algn="tl" rotWithShape="0">
                    <a:prstClr val="black">
                      <a:alpha val="40000"/>
                    </a:prstClr>
                  </a:outerShdw>
                </a:effectLst>
                <a:latin typeface="Montserrat" pitchFamily="2" charset="77"/>
              </a:rPr>
              <a:t>Posterior on the Baseline: Bayesian</a:t>
            </a:r>
          </a:p>
          <a:p>
            <a:pPr algn="ctr">
              <a:lnSpc>
                <a:spcPct val="150000"/>
              </a:lnSpc>
            </a:pPr>
            <a:r>
              <a:rPr lang="en-US" sz="1000" b="1" dirty="0">
                <a:solidFill>
                  <a:schemeClr val="bg1"/>
                </a:solidFill>
                <a:effectLst>
                  <a:outerShdw blurRad="50800" dist="38100" dir="2700000" algn="tl" rotWithShape="0">
                    <a:prstClr val="black">
                      <a:alpha val="40000"/>
                    </a:prstClr>
                  </a:outerShdw>
                </a:effectLst>
                <a:latin typeface="Montserrat" pitchFamily="2" charset="77"/>
              </a:rPr>
              <a:t>Tennis Tournament Predictions</a:t>
            </a:r>
            <a:endParaRPr lang="en-US" sz="1000" dirty="0">
              <a:solidFill>
                <a:schemeClr val="bg1"/>
              </a:solidFill>
              <a:effectLst>
                <a:outerShdw blurRad="50800" dist="38100" dir="2700000" algn="tl" rotWithShape="0">
                  <a:prstClr val="black">
                    <a:alpha val="40000"/>
                  </a:prstClr>
                </a:outerShdw>
              </a:effectLst>
              <a:latin typeface="Montserrat" pitchFamily="2" charset="77"/>
            </a:endParaRPr>
          </a:p>
        </p:txBody>
      </p:sp>
    </p:spTree>
    <p:extLst>
      <p:ext uri="{BB962C8B-B14F-4D97-AF65-F5344CB8AC3E}">
        <p14:creationId xmlns:p14="http://schemas.microsoft.com/office/powerpoint/2010/main" val="3503796752"/>
      </p:ext>
    </p:extLst>
  </p:cSld>
  <p:clrMapOvr>
    <a:masterClrMapping/>
  </p:clrMapOvr>
  <mc:AlternateContent xmlns:mc="http://schemas.openxmlformats.org/markup-compatibility/2006">
    <mc:Choice xmlns:p14="http://schemas.microsoft.com/office/powerpoint/2010/main" Requires="p14">
      <p:transition spd="slow" p14:dur="6000" advClick="0" advTm="11000"/>
    </mc:Choice>
    <mc:Fallback>
      <p:transition spd="slow" advClick="0" advTm="1100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DD0B6E-815E-0CD6-3A80-386553DEF44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7B0ADFF6-444E-08F4-7198-DCEE25E5D1DA}"/>
              </a:ext>
            </a:extLst>
          </p:cNvPr>
          <p:cNvSpPr/>
          <p:nvPr/>
        </p:nvSpPr>
        <p:spPr>
          <a:xfrm>
            <a:off x="374650" y="1555821"/>
            <a:ext cx="8326330" cy="4832092"/>
          </a:xfrm>
          <a:prstGeom prst="rect">
            <a:avLst/>
          </a:prstGeom>
        </p:spPr>
        <p:txBody>
          <a:bodyPr wrap="square">
            <a:spAutoFit/>
          </a:bodyPr>
          <a:lstStyle/>
          <a:p>
            <a:pPr marL="285750" indent="-285750">
              <a:buFont typeface="Arial" panose="020B0604020202020204" pitchFamily="34" charset="0"/>
              <a:buChar char="•"/>
            </a:pPr>
            <a:r>
              <a:rPr lang="en-US" sz="1400" dirty="0">
                <a:solidFill>
                  <a:schemeClr val="bg1"/>
                </a:solidFill>
                <a:latin typeface="Gotham SSm A" panose="02000504050000020004" pitchFamily="2" charset="0"/>
              </a:rPr>
              <a:t>These functions translate posterior samples into match outcome probabilities. The core pattern is: </a:t>
            </a:r>
          </a:p>
          <a:p>
            <a:pPr marL="285750" indent="-285750">
              <a:buFont typeface="Arial" panose="020B0604020202020204" pitchFamily="34" charset="0"/>
              <a:buChar char="•"/>
            </a:pPr>
            <a:endParaRPr lang="en-US" sz="1400" dirty="0">
              <a:solidFill>
                <a:schemeClr val="bg1"/>
              </a:solidFill>
              <a:latin typeface="Gotham SSm A" panose="02000504050000020004" pitchFamily="2" charset="0"/>
            </a:endParaRPr>
          </a:p>
          <a:p>
            <a:pPr marL="800100" lvl="1" indent="-342900">
              <a:buFont typeface="+mj-lt"/>
              <a:buAutoNum type="arabicPeriod"/>
            </a:pPr>
            <a:r>
              <a:rPr lang="en-US" sz="1400" dirty="0">
                <a:solidFill>
                  <a:schemeClr val="bg1"/>
                </a:solidFill>
                <a:latin typeface="Gotham SSm A" panose="02000504050000020004" pitchFamily="2" charset="0"/>
              </a:rPr>
              <a:t>Extract the full posterior array of skill parameters (shape: [samples × players] for static, [samples × players × periods] for dynamic). </a:t>
            </a:r>
          </a:p>
          <a:p>
            <a:pPr marL="800100" lvl="1" indent="-342900">
              <a:buFont typeface="+mj-lt"/>
              <a:buAutoNum type="arabicPeriod"/>
            </a:pPr>
            <a:endParaRPr lang="en-US" sz="1400" dirty="0">
              <a:solidFill>
                <a:schemeClr val="bg1"/>
              </a:solidFill>
              <a:latin typeface="Gotham SSm A" panose="02000504050000020004" pitchFamily="2" charset="0"/>
            </a:endParaRPr>
          </a:p>
          <a:p>
            <a:pPr marL="800100" lvl="1" indent="-342900">
              <a:buFont typeface="+mj-lt"/>
              <a:buAutoNum type="arabicPeriod"/>
            </a:pPr>
            <a:r>
              <a:rPr lang="en-US" sz="1400" dirty="0">
                <a:solidFill>
                  <a:schemeClr val="bg1"/>
                </a:solidFill>
                <a:latin typeface="Gotham SSm A" panose="02000504050000020004" pitchFamily="2" charset="0"/>
              </a:rPr>
              <a:t>Compute the logit difference θ[p1] − θ[p2] (plus covariates if applicable) across all posterior samples. </a:t>
            </a:r>
          </a:p>
          <a:p>
            <a:pPr marL="800100" lvl="1" indent="-342900">
              <a:buFont typeface="+mj-lt"/>
              <a:buAutoNum type="arabicPeriod"/>
            </a:pPr>
            <a:endParaRPr lang="en-US" sz="1400" dirty="0">
              <a:solidFill>
                <a:schemeClr val="bg1"/>
              </a:solidFill>
              <a:latin typeface="Gotham SSm A" panose="02000504050000020004" pitchFamily="2" charset="0"/>
            </a:endParaRPr>
          </a:p>
          <a:p>
            <a:pPr marL="800100" lvl="1" indent="-342900">
              <a:buFont typeface="+mj-lt"/>
              <a:buAutoNum type="arabicPeriod"/>
            </a:pPr>
            <a:r>
              <a:rPr lang="en-US" sz="1400" dirty="0">
                <a:solidFill>
                  <a:schemeClr val="bg1"/>
                </a:solidFill>
                <a:latin typeface="Gotham SSm A" panose="02000504050000020004" pitchFamily="2" charset="0"/>
              </a:rPr>
              <a:t>Apply the sigmoid function </a:t>
            </a:r>
            <a:r>
              <a:rPr lang="en-US" sz="1400" dirty="0" err="1">
                <a:solidFill>
                  <a:schemeClr val="bg1"/>
                </a:solidFill>
                <a:latin typeface="Gotham SSm A" panose="02000504050000020004" pitchFamily="2" charset="0"/>
              </a:rPr>
              <a:t>expit</a:t>
            </a:r>
            <a:r>
              <a:rPr lang="en-US" sz="1400" dirty="0">
                <a:solidFill>
                  <a:schemeClr val="bg1"/>
                </a:solidFill>
                <a:latin typeface="Gotham SSm A" panose="02000504050000020004" pitchFamily="2" charset="0"/>
              </a:rPr>
              <a:t> to get probabilities. </a:t>
            </a:r>
          </a:p>
          <a:p>
            <a:pPr marL="800100" lvl="1" indent="-342900">
              <a:buFont typeface="+mj-lt"/>
              <a:buAutoNum type="arabicPeriod"/>
            </a:pPr>
            <a:endParaRPr lang="en-US" sz="1400" dirty="0">
              <a:solidFill>
                <a:schemeClr val="bg1"/>
              </a:solidFill>
              <a:latin typeface="Gotham SSm A" panose="02000504050000020004" pitchFamily="2" charset="0"/>
            </a:endParaRPr>
          </a:p>
          <a:p>
            <a:pPr marL="800100" lvl="1" indent="-342900">
              <a:buFont typeface="+mj-lt"/>
              <a:buAutoNum type="arabicPeriod"/>
            </a:pPr>
            <a:r>
              <a:rPr lang="en-US" sz="1400" dirty="0">
                <a:solidFill>
                  <a:schemeClr val="bg1"/>
                </a:solidFill>
                <a:latin typeface="Gotham SSm A" panose="02000504050000020004" pitchFamily="2" charset="0"/>
              </a:rPr>
              <a:t>Average across posterior samples to obtain the posterior predictive mean probability. </a:t>
            </a:r>
          </a:p>
          <a:p>
            <a:pPr marL="800100" lvl="1" indent="-342900">
              <a:buFont typeface="+mj-lt"/>
              <a:buAutoNum type="arabicPeriod"/>
            </a:pPr>
            <a:endParaRPr lang="en-US" sz="1400" dirty="0">
              <a:solidFill>
                <a:schemeClr val="bg1"/>
              </a:solidFill>
              <a:latin typeface="Gotham SSm A" panose="02000504050000020004" pitchFamily="2" charset="0"/>
            </a:endParaRPr>
          </a:p>
          <a:p>
            <a:pPr marL="342900" indent="-342900">
              <a:buFont typeface="Arial" panose="020B0604020202020204" pitchFamily="34" charset="0"/>
              <a:buChar char="•"/>
            </a:pPr>
            <a:r>
              <a:rPr lang="en-US" sz="1400" dirty="0">
                <a:solidFill>
                  <a:schemeClr val="bg1"/>
                </a:solidFill>
                <a:latin typeface="Gotham SSm A" panose="02000504050000020004" pitchFamily="2" charset="0"/>
              </a:rPr>
              <a:t>This Bayesian Model Averaging (BMA) naturally accounts for parameter uncertainty — rather than plugging in a single point estimate, the prediction integrates over the full posterior, producing calibrated probabilities that reflect both aleatoric uncertainty (inherent match randomness) and epistemic uncertainty (limited data). </a:t>
            </a:r>
          </a:p>
          <a:p>
            <a:pPr marL="342900" indent="-342900">
              <a:buFont typeface="Arial" panose="020B0604020202020204" pitchFamily="34" charset="0"/>
              <a:buChar char="•"/>
            </a:pPr>
            <a:endParaRPr lang="en-US" sz="1400" dirty="0">
              <a:solidFill>
                <a:schemeClr val="bg1"/>
              </a:solidFill>
              <a:latin typeface="Gotham SSm A" panose="02000504050000020004" pitchFamily="2" charset="0"/>
            </a:endParaRPr>
          </a:p>
          <a:p>
            <a:pPr marL="342900" indent="-342900">
              <a:buFont typeface="Arial" panose="020B0604020202020204" pitchFamily="34" charset="0"/>
              <a:buChar char="•"/>
            </a:pPr>
            <a:r>
              <a:rPr lang="en-US" sz="1400" dirty="0">
                <a:solidFill>
                  <a:schemeClr val="bg1"/>
                </a:solidFill>
                <a:latin typeface="Gotham SSm A" panose="02000504050000020004" pitchFamily="2" charset="0"/>
              </a:rPr>
              <a:t>For the dynamic models, the crucial detail is indexing by t = </a:t>
            </a:r>
            <a:r>
              <a:rPr lang="en-US" sz="1400" dirty="0" err="1">
                <a:solidFill>
                  <a:schemeClr val="bg1"/>
                </a:solidFill>
                <a:latin typeface="Gotham SSm A" panose="02000504050000020004" pitchFamily="2" charset="0"/>
              </a:rPr>
              <a:t>pair_df</a:t>
            </a:r>
            <a:r>
              <a:rPr lang="en-US" sz="1400" dirty="0">
                <a:solidFill>
                  <a:schemeClr val="bg1"/>
                </a:solidFill>
                <a:latin typeface="Gotham SSm A" panose="02000504050000020004" pitchFamily="2" charset="0"/>
              </a:rPr>
              <a:t>["period"], which ensures each match is predicted using skills from its own time period. A common error would be using only the "last" training period for all test matches, which ignores within-tournament temporal structure. The covariate prediction function additionally extracts the posterior samples of beta and intercept, computing intercept[:, None] + beta @ X.T across all samples before combining with the skill difference — maintaining full posterior correlation between skill and covariate parameters.</a:t>
            </a:r>
          </a:p>
        </p:txBody>
      </p:sp>
      <p:sp>
        <p:nvSpPr>
          <p:cNvPr id="18" name="TextBox 17">
            <a:extLst>
              <a:ext uri="{FF2B5EF4-FFF2-40B4-BE49-F238E27FC236}">
                <a16:creationId xmlns:a16="http://schemas.microsoft.com/office/drawing/2014/main" id="{8C42035E-6E26-11C0-0E76-536E43E5C07B}"/>
              </a:ext>
            </a:extLst>
          </p:cNvPr>
          <p:cNvSpPr txBox="1"/>
          <p:nvPr/>
        </p:nvSpPr>
        <p:spPr>
          <a:xfrm>
            <a:off x="255507" y="1152583"/>
            <a:ext cx="8259843" cy="307777"/>
          </a:xfrm>
          <a:prstGeom prst="rect">
            <a:avLst/>
          </a:prstGeom>
          <a:noFill/>
        </p:spPr>
        <p:txBody>
          <a:bodyPr wrap="square" rtlCol="0">
            <a:spAutoFit/>
          </a:bodyPr>
          <a:lstStyle/>
          <a:p>
            <a:pPr defTabSz="1219170">
              <a:defRPr/>
            </a:pPr>
            <a:r>
              <a:rPr lang="en-US" sz="1400" b="1" dirty="0">
                <a:solidFill>
                  <a:schemeClr val="bg1"/>
                </a:solidFill>
                <a:latin typeface="Montserrat" pitchFamily="2" charset="77"/>
              </a:rPr>
              <a:t>Section 10: Prediction Helpers</a:t>
            </a:r>
          </a:p>
        </p:txBody>
      </p:sp>
      <p:sp>
        <p:nvSpPr>
          <p:cNvPr id="14" name="TextBox 13">
            <a:extLst>
              <a:ext uri="{FF2B5EF4-FFF2-40B4-BE49-F238E27FC236}">
                <a16:creationId xmlns:a16="http://schemas.microsoft.com/office/drawing/2014/main" id="{78F26D12-FEC6-1AEE-DA6B-C5D1484D3B79}"/>
              </a:ext>
            </a:extLst>
          </p:cNvPr>
          <p:cNvSpPr txBox="1"/>
          <p:nvPr/>
        </p:nvSpPr>
        <p:spPr>
          <a:xfrm>
            <a:off x="6524234" y="315387"/>
            <a:ext cx="2068011" cy="428322"/>
          </a:xfrm>
          <a:prstGeom prst="rect">
            <a:avLst/>
          </a:prstGeom>
          <a:noFill/>
        </p:spPr>
        <p:txBody>
          <a:bodyPr wrap="square" rtlCol="0">
            <a:spAutoFit/>
          </a:bodyPr>
          <a:lstStyle/>
          <a:p>
            <a:pPr algn="ctr">
              <a:lnSpc>
                <a:spcPts val="2920"/>
              </a:lnSpc>
            </a:pPr>
            <a:r>
              <a:rPr lang="en-US" sz="1600" b="1" dirty="0">
                <a:solidFill>
                  <a:schemeClr val="bg1"/>
                </a:solidFill>
                <a:effectLst>
                  <a:outerShdw blurRad="50800" dist="38100" dir="2700000" algn="tl" rotWithShape="0">
                    <a:prstClr val="black">
                      <a:alpha val="40000"/>
                    </a:prstClr>
                  </a:outerShdw>
                </a:effectLst>
                <a:latin typeface="Montserrat" pitchFamily="2" charset="77"/>
              </a:rPr>
              <a:t>Group 4</a:t>
            </a:r>
            <a:endParaRPr lang="en-US" sz="1600" dirty="0">
              <a:solidFill>
                <a:schemeClr val="bg1"/>
              </a:solidFill>
              <a:effectLst>
                <a:outerShdw blurRad="50800" dist="38100" dir="2700000" algn="tl" rotWithShape="0">
                  <a:prstClr val="black">
                    <a:alpha val="40000"/>
                  </a:prstClr>
                </a:outerShdw>
              </a:effectLst>
              <a:latin typeface="Montserrat" pitchFamily="2" charset="77"/>
            </a:endParaRPr>
          </a:p>
        </p:txBody>
      </p:sp>
      <p:sp>
        <p:nvSpPr>
          <p:cNvPr id="3" name="TextBox 2">
            <a:extLst>
              <a:ext uri="{FF2B5EF4-FFF2-40B4-BE49-F238E27FC236}">
                <a16:creationId xmlns:a16="http://schemas.microsoft.com/office/drawing/2014/main" id="{8C33B6C6-FD62-F65F-F04D-FC02AF175F13}"/>
              </a:ext>
            </a:extLst>
          </p:cNvPr>
          <p:cNvSpPr txBox="1"/>
          <p:nvPr/>
        </p:nvSpPr>
        <p:spPr>
          <a:xfrm>
            <a:off x="160074" y="246676"/>
            <a:ext cx="3065726" cy="669029"/>
          </a:xfrm>
          <a:prstGeom prst="rect">
            <a:avLst/>
          </a:prstGeom>
          <a:noFill/>
        </p:spPr>
        <p:txBody>
          <a:bodyPr wrap="square" rtlCol="0">
            <a:spAutoFit/>
          </a:bodyPr>
          <a:lstStyle/>
          <a:p>
            <a:pPr algn="ctr">
              <a:lnSpc>
                <a:spcPts val="2920"/>
              </a:lnSpc>
            </a:pPr>
            <a:r>
              <a:rPr lang="en-US" sz="1000" b="1" dirty="0">
                <a:solidFill>
                  <a:schemeClr val="bg1"/>
                </a:solidFill>
                <a:effectLst>
                  <a:outerShdw blurRad="50800" dist="38100" dir="2700000" algn="tl" rotWithShape="0">
                    <a:prstClr val="black">
                      <a:alpha val="40000"/>
                    </a:prstClr>
                  </a:outerShdw>
                </a:effectLst>
                <a:latin typeface="Montserrat" pitchFamily="2" charset="77"/>
              </a:rPr>
              <a:t>Posterior on the Baseline: Bayesian</a:t>
            </a:r>
          </a:p>
          <a:p>
            <a:pPr algn="ctr">
              <a:lnSpc>
                <a:spcPct val="150000"/>
              </a:lnSpc>
            </a:pPr>
            <a:r>
              <a:rPr lang="en-US" sz="1000" b="1" dirty="0">
                <a:solidFill>
                  <a:schemeClr val="bg1"/>
                </a:solidFill>
                <a:effectLst>
                  <a:outerShdw blurRad="50800" dist="38100" dir="2700000" algn="tl" rotWithShape="0">
                    <a:prstClr val="black">
                      <a:alpha val="40000"/>
                    </a:prstClr>
                  </a:outerShdw>
                </a:effectLst>
                <a:latin typeface="Montserrat" pitchFamily="2" charset="77"/>
              </a:rPr>
              <a:t>Tennis Tournament Predictions</a:t>
            </a:r>
            <a:endParaRPr lang="en-US" sz="1000" dirty="0">
              <a:solidFill>
                <a:schemeClr val="bg1"/>
              </a:solidFill>
              <a:effectLst>
                <a:outerShdw blurRad="50800" dist="38100" dir="2700000" algn="tl" rotWithShape="0">
                  <a:prstClr val="black">
                    <a:alpha val="40000"/>
                  </a:prstClr>
                </a:outerShdw>
              </a:effectLst>
              <a:latin typeface="Montserrat" pitchFamily="2" charset="77"/>
            </a:endParaRPr>
          </a:p>
        </p:txBody>
      </p:sp>
    </p:spTree>
    <p:extLst>
      <p:ext uri="{BB962C8B-B14F-4D97-AF65-F5344CB8AC3E}">
        <p14:creationId xmlns:p14="http://schemas.microsoft.com/office/powerpoint/2010/main" val="709616364"/>
      </p:ext>
    </p:extLst>
  </p:cSld>
  <p:clrMapOvr>
    <a:masterClrMapping/>
  </p:clrMapOvr>
  <mc:AlternateContent xmlns:mc="http://schemas.openxmlformats.org/markup-compatibility/2006">
    <mc:Choice xmlns:p14="http://schemas.microsoft.com/office/powerpoint/2010/main" Requires="p14">
      <p:transition spd="slow" p14:dur="6000" advClick="0" advTm="11000"/>
    </mc:Choice>
    <mc:Fallback>
      <p:transition spd="slow" advClick="0" advTm="1100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1CCB91-44EE-75C5-611E-31A6E14C383E}"/>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1C8DD6BE-40FE-9C6C-D9AE-D48D6A28E182}"/>
              </a:ext>
            </a:extLst>
          </p:cNvPr>
          <p:cNvSpPr/>
          <p:nvPr/>
        </p:nvSpPr>
        <p:spPr>
          <a:xfrm>
            <a:off x="374650" y="1555821"/>
            <a:ext cx="8326330" cy="4339650"/>
          </a:xfrm>
          <a:prstGeom prst="rect">
            <a:avLst/>
          </a:prstGeom>
        </p:spPr>
        <p:txBody>
          <a:bodyPr wrap="square">
            <a:spAutoFit/>
          </a:bodyPr>
          <a:lstStyle/>
          <a:p>
            <a:pPr marL="285750" indent="-285750">
              <a:buFont typeface="Arial" panose="020B0604020202020204" pitchFamily="34" charset="0"/>
              <a:buChar char="•"/>
            </a:pPr>
            <a:r>
              <a:rPr lang="en-US" sz="1200" dirty="0">
                <a:solidFill>
                  <a:schemeClr val="bg1"/>
                </a:solidFill>
                <a:latin typeface="Gotham SSm A" panose="02000504050000020004" pitchFamily="2" charset="0"/>
              </a:rPr>
              <a:t>This provides a non-Bayesian comparison point: a maximum likelihood BT model with L2 (ridge) regularization. </a:t>
            </a:r>
          </a:p>
          <a:p>
            <a:pPr marL="285750" indent="-285750">
              <a:buFont typeface="Arial" panose="020B0604020202020204" pitchFamily="34" charset="0"/>
              <a:buChar char="•"/>
            </a:pPr>
            <a:endParaRPr lang="en-US" sz="1200" dirty="0">
              <a:solidFill>
                <a:schemeClr val="bg1"/>
              </a:solidFill>
              <a:latin typeface="Gotham SSm A" panose="02000504050000020004" pitchFamily="2" charset="0"/>
            </a:endParaRPr>
          </a:p>
          <a:p>
            <a:pPr marL="285750" indent="-285750">
              <a:buFont typeface="Arial" panose="020B0604020202020204" pitchFamily="34" charset="0"/>
              <a:buChar char="•"/>
            </a:pPr>
            <a:r>
              <a:rPr lang="en-US" sz="1200" dirty="0">
                <a:solidFill>
                  <a:schemeClr val="bg1"/>
                </a:solidFill>
                <a:latin typeface="Gotham SSm A" panose="02000504050000020004" pitchFamily="2" charset="0"/>
              </a:rPr>
              <a:t>The objective function is: minimize -</a:t>
            </a:r>
            <a:r>
              <a:rPr lang="en-US" sz="1200" dirty="0" err="1">
                <a:solidFill>
                  <a:schemeClr val="bg1"/>
                </a:solidFill>
                <a:latin typeface="Gotham SSm A" panose="02000504050000020004" pitchFamily="2" charset="0"/>
              </a:rPr>
              <a:t>log_likelihood</a:t>
            </a:r>
            <a:r>
              <a:rPr lang="en-US" sz="1200" dirty="0">
                <a:solidFill>
                  <a:schemeClr val="bg1"/>
                </a:solidFill>
                <a:latin typeface="Gotham SSm A" panose="02000504050000020004" pitchFamily="2" charset="0"/>
              </a:rPr>
              <a:t> + (λ/2)·Σθᵢ², where the penalty λ = 2.0 shrinks skill estimates toward zero, analogous to a Gaussian prior in the Bayesian framework. </a:t>
            </a:r>
          </a:p>
          <a:p>
            <a:pPr marL="285750" indent="-285750">
              <a:buFont typeface="Arial" panose="020B0604020202020204" pitchFamily="34" charset="0"/>
              <a:buChar char="•"/>
            </a:pPr>
            <a:endParaRPr lang="en-US" sz="1200" dirty="0">
              <a:solidFill>
                <a:schemeClr val="bg1"/>
              </a:solidFill>
              <a:latin typeface="Gotham SSm A" panose="02000504050000020004" pitchFamily="2" charset="0"/>
            </a:endParaRPr>
          </a:p>
          <a:p>
            <a:pPr marL="285750" indent="-285750">
              <a:buFont typeface="Arial" panose="020B0604020202020204" pitchFamily="34" charset="0"/>
              <a:buChar char="•"/>
            </a:pPr>
            <a:r>
              <a:rPr lang="en-US" sz="1200" dirty="0">
                <a:solidFill>
                  <a:schemeClr val="bg1"/>
                </a:solidFill>
                <a:latin typeface="Gotham SSm A" panose="02000504050000020004" pitchFamily="2" charset="0"/>
              </a:rPr>
              <a:t>Identifiability is handled by fixing θ₀ = 0 and optimizing only θ₁, …, θ_{n-1}, then centering all parameters post-optimization. </a:t>
            </a:r>
          </a:p>
          <a:p>
            <a:pPr marL="285750" indent="-285750">
              <a:buFont typeface="Arial" panose="020B0604020202020204" pitchFamily="34" charset="0"/>
              <a:buChar char="•"/>
            </a:pPr>
            <a:endParaRPr lang="en-US" sz="1200" dirty="0">
              <a:solidFill>
                <a:schemeClr val="bg1"/>
              </a:solidFill>
              <a:latin typeface="Gotham SSm A" panose="02000504050000020004" pitchFamily="2" charset="0"/>
            </a:endParaRPr>
          </a:p>
          <a:p>
            <a:pPr marL="285750" indent="-285750">
              <a:buFont typeface="Arial" panose="020B0604020202020204" pitchFamily="34" charset="0"/>
              <a:buChar char="•"/>
            </a:pPr>
            <a:r>
              <a:rPr lang="en-US" sz="1200" dirty="0">
                <a:solidFill>
                  <a:schemeClr val="bg1"/>
                </a:solidFill>
                <a:latin typeface="Gotham SSm A" panose="02000504050000020004" pitchFamily="2" charset="0"/>
              </a:rPr>
              <a:t>The gradient is computed analytically: for each match, the residual p − y (predicted probability minus outcome) is accumulated into the gradient via np.add.at, which handles the index-based accumulation correctly even when a player appears in multiple matches. </a:t>
            </a:r>
          </a:p>
          <a:p>
            <a:pPr marL="285750" indent="-285750">
              <a:buFont typeface="Arial" panose="020B0604020202020204" pitchFamily="34" charset="0"/>
              <a:buChar char="•"/>
            </a:pPr>
            <a:endParaRPr lang="en-US" sz="1200" dirty="0">
              <a:solidFill>
                <a:schemeClr val="bg1"/>
              </a:solidFill>
              <a:latin typeface="Gotham SSm A" panose="02000504050000020004" pitchFamily="2" charset="0"/>
            </a:endParaRPr>
          </a:p>
          <a:p>
            <a:pPr marL="285750" indent="-285750">
              <a:buFont typeface="Arial" panose="020B0604020202020204" pitchFamily="34" charset="0"/>
              <a:buChar char="•"/>
            </a:pPr>
            <a:r>
              <a:rPr lang="en-US" sz="1200" dirty="0">
                <a:solidFill>
                  <a:schemeClr val="bg1"/>
                </a:solidFill>
                <a:latin typeface="Gotham SSm A" panose="02000504050000020004" pitchFamily="2" charset="0"/>
              </a:rPr>
              <a:t>L-BFGS-B is used as the optimizer — a quasi-Newton method well-suited for smooth, moderately high-dimensional problems. This baseline serves multiple purposes: </a:t>
            </a:r>
          </a:p>
          <a:p>
            <a:pPr marL="285750" indent="-285750">
              <a:buFont typeface="Arial" panose="020B0604020202020204" pitchFamily="34" charset="0"/>
              <a:buChar char="•"/>
            </a:pPr>
            <a:endParaRPr lang="en-US" sz="1200" dirty="0">
              <a:solidFill>
                <a:schemeClr val="bg1"/>
              </a:solidFill>
              <a:latin typeface="Gotham SSm A" panose="02000504050000020004" pitchFamily="2" charset="0"/>
            </a:endParaRPr>
          </a:p>
          <a:p>
            <a:pPr marL="800100" lvl="1" indent="-342900">
              <a:buFont typeface="+mj-lt"/>
              <a:buAutoNum type="arabicPeriod"/>
            </a:pPr>
            <a:r>
              <a:rPr lang="en-US" sz="1200" dirty="0">
                <a:solidFill>
                  <a:schemeClr val="bg1"/>
                </a:solidFill>
                <a:latin typeface="Gotham SSm A" panose="02000504050000020004" pitchFamily="2" charset="0"/>
              </a:rPr>
              <a:t>It validates the Bayesian results — if the Bayesian and frequentist approaches produce dramatically different rankings, something is likely wrong. </a:t>
            </a:r>
          </a:p>
          <a:p>
            <a:pPr marL="800100" lvl="1" indent="-342900">
              <a:buFont typeface="+mj-lt"/>
              <a:buAutoNum type="arabicPeriod"/>
            </a:pPr>
            <a:endParaRPr lang="en-US" sz="1200" dirty="0">
              <a:solidFill>
                <a:schemeClr val="bg1"/>
              </a:solidFill>
              <a:latin typeface="Gotham SSm A" panose="02000504050000020004" pitchFamily="2" charset="0"/>
            </a:endParaRPr>
          </a:p>
          <a:p>
            <a:pPr marL="800100" lvl="1" indent="-342900">
              <a:buFont typeface="+mj-lt"/>
              <a:buAutoNum type="arabicPeriod"/>
            </a:pPr>
            <a:r>
              <a:rPr lang="en-US" sz="1200" dirty="0">
                <a:solidFill>
                  <a:schemeClr val="bg1"/>
                </a:solidFill>
                <a:latin typeface="Gotham SSm A" panose="02000504050000020004" pitchFamily="2" charset="0"/>
              </a:rPr>
              <a:t>It isolates the value of Bayesian uncertainty quantification and dynamic modeling — the results show the ridge MLE achieves </a:t>
            </a:r>
            <a:r>
              <a:rPr lang="en-US" sz="1200" dirty="0" err="1">
                <a:solidFill>
                  <a:schemeClr val="bg1"/>
                </a:solidFill>
                <a:latin typeface="Gotham SSm A" panose="02000504050000020004" pitchFamily="2" charset="0"/>
              </a:rPr>
              <a:t>log_loss</a:t>
            </a:r>
            <a:r>
              <a:rPr lang="en-US" sz="1200" dirty="0">
                <a:solidFill>
                  <a:schemeClr val="bg1"/>
                </a:solidFill>
                <a:latin typeface="Gotham SSm A" panose="02000504050000020004" pitchFamily="2" charset="0"/>
              </a:rPr>
              <a:t> of 0.5727, nearly identical to the static Bayesian models (0.5722–0.5724), confirming that the static Bayesian approach adds calibrated uncertainty without sacrificing accuracy.</a:t>
            </a:r>
          </a:p>
          <a:p>
            <a:pPr marL="800100" lvl="1" indent="-342900">
              <a:buFont typeface="+mj-lt"/>
              <a:buAutoNum type="arabicPeriod"/>
            </a:pPr>
            <a:endParaRPr lang="en-US" sz="1200" dirty="0">
              <a:solidFill>
                <a:schemeClr val="bg1"/>
              </a:solidFill>
              <a:latin typeface="Gotham SSm A" panose="02000504050000020004" pitchFamily="2" charset="0"/>
            </a:endParaRPr>
          </a:p>
          <a:p>
            <a:pPr marL="800100" lvl="1" indent="-342900">
              <a:buFont typeface="+mj-lt"/>
              <a:buAutoNum type="arabicPeriod"/>
            </a:pPr>
            <a:r>
              <a:rPr lang="en-US" sz="1200" dirty="0">
                <a:solidFill>
                  <a:schemeClr val="bg1"/>
                </a:solidFill>
                <a:latin typeface="Gotham SSm A" panose="02000504050000020004" pitchFamily="2" charset="0"/>
              </a:rPr>
              <a:t>The dynamic models (0.5588–0.5667) clearly outperform all static approaches, demonstrating the value of time-varying skills.</a:t>
            </a:r>
          </a:p>
        </p:txBody>
      </p:sp>
      <p:sp>
        <p:nvSpPr>
          <p:cNvPr id="18" name="TextBox 17">
            <a:extLst>
              <a:ext uri="{FF2B5EF4-FFF2-40B4-BE49-F238E27FC236}">
                <a16:creationId xmlns:a16="http://schemas.microsoft.com/office/drawing/2014/main" id="{653806F5-C803-C3F2-7002-8F801B4AE6F4}"/>
              </a:ext>
            </a:extLst>
          </p:cNvPr>
          <p:cNvSpPr txBox="1"/>
          <p:nvPr/>
        </p:nvSpPr>
        <p:spPr>
          <a:xfrm>
            <a:off x="255507" y="1152583"/>
            <a:ext cx="8259843" cy="307777"/>
          </a:xfrm>
          <a:prstGeom prst="rect">
            <a:avLst/>
          </a:prstGeom>
          <a:noFill/>
        </p:spPr>
        <p:txBody>
          <a:bodyPr wrap="square" rtlCol="0">
            <a:spAutoFit/>
          </a:bodyPr>
          <a:lstStyle/>
          <a:p>
            <a:pPr defTabSz="1219170">
              <a:defRPr/>
            </a:pPr>
            <a:r>
              <a:rPr lang="en-US" sz="1400" b="1" dirty="0">
                <a:solidFill>
                  <a:schemeClr val="bg1"/>
                </a:solidFill>
                <a:latin typeface="Montserrat" pitchFamily="2" charset="77"/>
              </a:rPr>
              <a:t>Section 11: Regularized Frequentist BT Baseline (</a:t>
            </a:r>
            <a:r>
              <a:rPr lang="en-US" sz="1400" b="1" dirty="0" err="1">
                <a:solidFill>
                  <a:schemeClr val="bg1"/>
                </a:solidFill>
                <a:latin typeface="Montserrat" pitchFamily="2" charset="77"/>
              </a:rPr>
              <a:t>fit_bt_mle_ridge</a:t>
            </a:r>
            <a:r>
              <a:rPr lang="en-US" sz="1400" b="1" dirty="0">
                <a:solidFill>
                  <a:schemeClr val="bg1"/>
                </a:solidFill>
                <a:latin typeface="Montserrat" pitchFamily="2" charset="77"/>
              </a:rPr>
              <a:t>)</a:t>
            </a:r>
          </a:p>
        </p:txBody>
      </p:sp>
      <p:sp>
        <p:nvSpPr>
          <p:cNvPr id="14" name="TextBox 13">
            <a:extLst>
              <a:ext uri="{FF2B5EF4-FFF2-40B4-BE49-F238E27FC236}">
                <a16:creationId xmlns:a16="http://schemas.microsoft.com/office/drawing/2014/main" id="{FC0677A4-0EBE-6E99-0B9C-DA0419273ECE}"/>
              </a:ext>
            </a:extLst>
          </p:cNvPr>
          <p:cNvSpPr txBox="1"/>
          <p:nvPr/>
        </p:nvSpPr>
        <p:spPr>
          <a:xfrm>
            <a:off x="6524234" y="315387"/>
            <a:ext cx="2068011" cy="428322"/>
          </a:xfrm>
          <a:prstGeom prst="rect">
            <a:avLst/>
          </a:prstGeom>
          <a:noFill/>
        </p:spPr>
        <p:txBody>
          <a:bodyPr wrap="square" rtlCol="0">
            <a:spAutoFit/>
          </a:bodyPr>
          <a:lstStyle/>
          <a:p>
            <a:pPr algn="ctr">
              <a:lnSpc>
                <a:spcPts val="2920"/>
              </a:lnSpc>
            </a:pPr>
            <a:r>
              <a:rPr lang="en-US" sz="1600" b="1" dirty="0">
                <a:solidFill>
                  <a:schemeClr val="bg1"/>
                </a:solidFill>
                <a:effectLst>
                  <a:outerShdw blurRad="50800" dist="38100" dir="2700000" algn="tl" rotWithShape="0">
                    <a:prstClr val="black">
                      <a:alpha val="40000"/>
                    </a:prstClr>
                  </a:outerShdw>
                </a:effectLst>
                <a:latin typeface="Montserrat" pitchFamily="2" charset="77"/>
              </a:rPr>
              <a:t>Group 4</a:t>
            </a:r>
            <a:endParaRPr lang="en-US" sz="1600" dirty="0">
              <a:solidFill>
                <a:schemeClr val="bg1"/>
              </a:solidFill>
              <a:effectLst>
                <a:outerShdw blurRad="50800" dist="38100" dir="2700000" algn="tl" rotWithShape="0">
                  <a:prstClr val="black">
                    <a:alpha val="40000"/>
                  </a:prstClr>
                </a:outerShdw>
              </a:effectLst>
              <a:latin typeface="Montserrat" pitchFamily="2" charset="77"/>
            </a:endParaRPr>
          </a:p>
        </p:txBody>
      </p:sp>
      <p:sp>
        <p:nvSpPr>
          <p:cNvPr id="3" name="TextBox 2">
            <a:extLst>
              <a:ext uri="{FF2B5EF4-FFF2-40B4-BE49-F238E27FC236}">
                <a16:creationId xmlns:a16="http://schemas.microsoft.com/office/drawing/2014/main" id="{D884356A-8056-0494-3E09-BBE4DAEFC33B}"/>
              </a:ext>
            </a:extLst>
          </p:cNvPr>
          <p:cNvSpPr txBox="1"/>
          <p:nvPr/>
        </p:nvSpPr>
        <p:spPr>
          <a:xfrm>
            <a:off x="160074" y="246676"/>
            <a:ext cx="3065726" cy="669029"/>
          </a:xfrm>
          <a:prstGeom prst="rect">
            <a:avLst/>
          </a:prstGeom>
          <a:noFill/>
        </p:spPr>
        <p:txBody>
          <a:bodyPr wrap="square" rtlCol="0">
            <a:spAutoFit/>
          </a:bodyPr>
          <a:lstStyle/>
          <a:p>
            <a:pPr algn="ctr">
              <a:lnSpc>
                <a:spcPts val="2920"/>
              </a:lnSpc>
            </a:pPr>
            <a:r>
              <a:rPr lang="en-US" sz="1000" b="1" dirty="0">
                <a:solidFill>
                  <a:schemeClr val="bg1"/>
                </a:solidFill>
                <a:effectLst>
                  <a:outerShdw blurRad="50800" dist="38100" dir="2700000" algn="tl" rotWithShape="0">
                    <a:prstClr val="black">
                      <a:alpha val="40000"/>
                    </a:prstClr>
                  </a:outerShdw>
                </a:effectLst>
                <a:latin typeface="Montserrat" pitchFamily="2" charset="77"/>
              </a:rPr>
              <a:t>Posterior on the Baseline: Bayesian</a:t>
            </a:r>
          </a:p>
          <a:p>
            <a:pPr algn="ctr">
              <a:lnSpc>
                <a:spcPct val="150000"/>
              </a:lnSpc>
            </a:pPr>
            <a:r>
              <a:rPr lang="en-US" sz="1000" b="1" dirty="0">
                <a:solidFill>
                  <a:schemeClr val="bg1"/>
                </a:solidFill>
                <a:effectLst>
                  <a:outerShdw blurRad="50800" dist="38100" dir="2700000" algn="tl" rotWithShape="0">
                    <a:prstClr val="black">
                      <a:alpha val="40000"/>
                    </a:prstClr>
                  </a:outerShdw>
                </a:effectLst>
                <a:latin typeface="Montserrat" pitchFamily="2" charset="77"/>
              </a:rPr>
              <a:t>Tennis Tournament Predictions</a:t>
            </a:r>
            <a:endParaRPr lang="en-US" sz="1000" dirty="0">
              <a:solidFill>
                <a:schemeClr val="bg1"/>
              </a:solidFill>
              <a:effectLst>
                <a:outerShdw blurRad="50800" dist="38100" dir="2700000" algn="tl" rotWithShape="0">
                  <a:prstClr val="black">
                    <a:alpha val="40000"/>
                  </a:prstClr>
                </a:outerShdw>
              </a:effectLst>
              <a:latin typeface="Montserrat" pitchFamily="2" charset="77"/>
            </a:endParaRPr>
          </a:p>
        </p:txBody>
      </p:sp>
    </p:spTree>
    <p:extLst>
      <p:ext uri="{BB962C8B-B14F-4D97-AF65-F5344CB8AC3E}">
        <p14:creationId xmlns:p14="http://schemas.microsoft.com/office/powerpoint/2010/main" val="3655650923"/>
      </p:ext>
    </p:extLst>
  </p:cSld>
  <p:clrMapOvr>
    <a:masterClrMapping/>
  </p:clrMapOvr>
  <mc:AlternateContent xmlns:mc="http://schemas.openxmlformats.org/markup-compatibility/2006">
    <mc:Choice xmlns:p14="http://schemas.microsoft.com/office/powerpoint/2010/main" Requires="p14">
      <p:transition spd="slow" p14:dur="6000" advClick="0" advTm="11000"/>
    </mc:Choice>
    <mc:Fallback>
      <p:transition spd="slow" advClick="0" advTm="1100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8E4BCE-066F-057C-4FB1-EDD6094A1090}"/>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4A844287-D3EE-9A42-53A3-0CE795D227E2}"/>
              </a:ext>
            </a:extLst>
          </p:cNvPr>
          <p:cNvSpPr/>
          <p:nvPr/>
        </p:nvSpPr>
        <p:spPr>
          <a:xfrm>
            <a:off x="374650" y="1555821"/>
            <a:ext cx="8326330" cy="4185761"/>
          </a:xfrm>
          <a:prstGeom prst="rect">
            <a:avLst/>
          </a:prstGeom>
        </p:spPr>
        <p:txBody>
          <a:bodyPr wrap="square">
            <a:spAutoFit/>
          </a:bodyPr>
          <a:lstStyle/>
          <a:p>
            <a:pPr marL="285750" indent="-285750">
              <a:buFont typeface="Arial" panose="020B0604020202020204" pitchFamily="34" charset="0"/>
              <a:buChar char="•"/>
            </a:pPr>
            <a:r>
              <a:rPr lang="en-US" sz="1400" dirty="0">
                <a:solidFill>
                  <a:schemeClr val="bg1"/>
                </a:solidFill>
                <a:latin typeface="Gotham SSm A" panose="02000504050000020004" pitchFamily="2" charset="0"/>
              </a:rPr>
              <a:t>Model quality is assessed through three complementary metrics: </a:t>
            </a:r>
          </a:p>
          <a:p>
            <a:pPr marL="285750" indent="-285750">
              <a:buFont typeface="Arial" panose="020B0604020202020204" pitchFamily="34" charset="0"/>
              <a:buChar char="•"/>
            </a:pPr>
            <a:endParaRPr lang="en-US" sz="1400" dirty="0">
              <a:solidFill>
                <a:schemeClr val="bg1"/>
              </a:solidFill>
              <a:latin typeface="Gotham SSm A" panose="02000504050000020004" pitchFamily="2" charset="0"/>
            </a:endParaRPr>
          </a:p>
          <a:p>
            <a:pPr marL="800100" lvl="1" indent="-342900">
              <a:buFont typeface="+mj-lt"/>
              <a:buAutoNum type="arabicPeriod"/>
            </a:pPr>
            <a:r>
              <a:rPr lang="en-US" sz="1400" dirty="0">
                <a:solidFill>
                  <a:schemeClr val="bg1"/>
                </a:solidFill>
                <a:latin typeface="Gotham SSm A" panose="02000504050000020004" pitchFamily="2" charset="0"/>
              </a:rPr>
              <a:t>Log loss (cross-entropy) is the primary metric: it is the proper scoring rule corresponding to the Bernoulli likelihood, meaning it uniquely rewards calibrated probabilities — a model that says "70% chance" should win 70% of such matches. </a:t>
            </a:r>
          </a:p>
          <a:p>
            <a:pPr marL="800100" lvl="1" indent="-342900">
              <a:buFont typeface="+mj-lt"/>
              <a:buAutoNum type="arabicPeriod"/>
            </a:pPr>
            <a:endParaRPr lang="en-US" sz="1400" dirty="0">
              <a:solidFill>
                <a:schemeClr val="bg1"/>
              </a:solidFill>
              <a:latin typeface="Gotham SSm A" panose="02000504050000020004" pitchFamily="2" charset="0"/>
            </a:endParaRPr>
          </a:p>
          <a:p>
            <a:pPr marL="1257300" lvl="2" indent="-342900">
              <a:buFont typeface="Arial" panose="020B0604020202020204" pitchFamily="34" charset="0"/>
              <a:buChar char="•"/>
            </a:pPr>
            <a:r>
              <a:rPr lang="en-US" sz="1400" dirty="0">
                <a:solidFill>
                  <a:schemeClr val="bg1"/>
                </a:solidFill>
                <a:latin typeface="Gotham SSm A" panose="02000504050000020004" pitchFamily="2" charset="0"/>
              </a:rPr>
              <a:t>The dynamic BT model achieves the best log loss (0.5588), about 2.4% better than static models. </a:t>
            </a:r>
          </a:p>
          <a:p>
            <a:pPr marL="1257300" lvl="2" indent="-342900">
              <a:buFont typeface="Arial" panose="020B0604020202020204" pitchFamily="34" charset="0"/>
              <a:buChar char="•"/>
            </a:pPr>
            <a:endParaRPr lang="en-US" sz="1400" dirty="0">
              <a:solidFill>
                <a:schemeClr val="bg1"/>
              </a:solidFill>
              <a:latin typeface="Gotham SSm A" panose="02000504050000020004" pitchFamily="2" charset="0"/>
            </a:endParaRPr>
          </a:p>
          <a:p>
            <a:pPr marL="800100" lvl="1" indent="-342900">
              <a:buFont typeface="+mj-lt"/>
              <a:buAutoNum type="arabicPeriod"/>
            </a:pPr>
            <a:r>
              <a:rPr lang="en-US" sz="1400" dirty="0">
                <a:solidFill>
                  <a:schemeClr val="bg1"/>
                </a:solidFill>
                <a:latin typeface="Gotham SSm A" panose="02000504050000020004" pitchFamily="2" charset="0"/>
              </a:rPr>
              <a:t>Brier score (mean squared error of probabilities) provides a complementary proper scoring rule that is less sensitive to extreme probabilities. Calibration curves visually assess whether predicted probabilities match observed frequencies; perfectly calibrated models fall on the diagonal. </a:t>
            </a:r>
          </a:p>
          <a:p>
            <a:pPr marL="800100" lvl="1" indent="-342900">
              <a:buFont typeface="+mj-lt"/>
              <a:buAutoNum type="arabicPeriod"/>
            </a:pPr>
            <a:endParaRPr lang="en-US" sz="1400" dirty="0">
              <a:solidFill>
                <a:schemeClr val="bg1"/>
              </a:solidFill>
              <a:latin typeface="Gotham SSm A" panose="02000504050000020004" pitchFamily="2" charset="0"/>
            </a:endParaRPr>
          </a:p>
          <a:p>
            <a:pPr marL="800100" lvl="1" indent="-342900">
              <a:buFont typeface="+mj-lt"/>
              <a:buAutoNum type="arabicPeriod"/>
            </a:pPr>
            <a:r>
              <a:rPr lang="en-US" sz="1400" dirty="0">
                <a:solidFill>
                  <a:schemeClr val="bg1"/>
                </a:solidFill>
                <a:latin typeface="Gotham SSm A" panose="02000504050000020004" pitchFamily="2" charset="0"/>
              </a:rPr>
              <a:t>The </a:t>
            </a:r>
            <a:r>
              <a:rPr lang="en-US" sz="1400" dirty="0" err="1">
                <a:solidFill>
                  <a:schemeClr val="bg1"/>
                </a:solidFill>
                <a:latin typeface="Gotham SSm A" panose="02000504050000020004" pitchFamily="2" charset="0"/>
              </a:rPr>
              <a:t>run_diagnostics</a:t>
            </a:r>
            <a:r>
              <a:rPr lang="en-US" sz="1400" dirty="0">
                <a:solidFill>
                  <a:schemeClr val="bg1"/>
                </a:solidFill>
                <a:latin typeface="Gotham SSm A" panose="02000504050000020004" pitchFamily="2" charset="0"/>
              </a:rPr>
              <a:t> function checks two MCMC health indicators: </a:t>
            </a:r>
            <a:r>
              <a:rPr lang="en-US" sz="1400" dirty="0" err="1">
                <a:solidFill>
                  <a:schemeClr val="bg1"/>
                </a:solidFill>
                <a:latin typeface="Gotham SSm A" panose="02000504050000020004" pitchFamily="2" charset="0"/>
              </a:rPr>
              <a:t>r_hat</a:t>
            </a:r>
            <a:r>
              <a:rPr lang="en-US" sz="1400" dirty="0">
                <a:solidFill>
                  <a:schemeClr val="bg1"/>
                </a:solidFill>
                <a:latin typeface="Gotham SSm A" panose="02000504050000020004" pitchFamily="2" charset="0"/>
              </a:rPr>
              <a:t> (potential scale reduction factor) should be &lt; 1.01, indicating chains have converged to the same distribution; </a:t>
            </a:r>
            <a:r>
              <a:rPr lang="en-US" sz="1400" dirty="0" err="1">
                <a:solidFill>
                  <a:schemeClr val="bg1"/>
                </a:solidFill>
                <a:latin typeface="Gotham SSm A" panose="02000504050000020004" pitchFamily="2" charset="0"/>
              </a:rPr>
              <a:t>ess_bulk</a:t>
            </a:r>
            <a:r>
              <a:rPr lang="en-US" sz="1400" dirty="0">
                <a:solidFill>
                  <a:schemeClr val="bg1"/>
                </a:solidFill>
                <a:latin typeface="Gotham SSm A" panose="02000504050000020004" pitchFamily="2" charset="0"/>
              </a:rPr>
              <a:t> (effective sample size) should be &gt; 200, indicating sufficient independent samples despite autocorrelation. The output confirms all diagnostics are healthy (</a:t>
            </a:r>
            <a:r>
              <a:rPr lang="en-US" sz="1400" dirty="0" err="1">
                <a:solidFill>
                  <a:schemeClr val="bg1"/>
                </a:solidFill>
                <a:latin typeface="Gotham SSm A" panose="02000504050000020004" pitchFamily="2" charset="0"/>
              </a:rPr>
              <a:t>r_hat</a:t>
            </a:r>
            <a:r>
              <a:rPr lang="en-US" sz="1400" dirty="0">
                <a:solidFill>
                  <a:schemeClr val="bg1"/>
                </a:solidFill>
                <a:latin typeface="Gotham SSm A" panose="02000504050000020004" pitchFamily="2" charset="0"/>
              </a:rPr>
              <a:t> = 1.0, </a:t>
            </a:r>
            <a:r>
              <a:rPr lang="en-US" sz="1400" dirty="0" err="1">
                <a:solidFill>
                  <a:schemeClr val="bg1"/>
                </a:solidFill>
                <a:latin typeface="Gotham SSm A" panose="02000504050000020004" pitchFamily="2" charset="0"/>
              </a:rPr>
              <a:t>ess_bulk</a:t>
            </a:r>
            <a:r>
              <a:rPr lang="en-US" sz="1400" dirty="0">
                <a:solidFill>
                  <a:schemeClr val="bg1"/>
                </a:solidFill>
                <a:latin typeface="Gotham SSm A" panose="02000504050000020004" pitchFamily="2" charset="0"/>
              </a:rPr>
              <a:t> well above 200 for all key parameters), meaning the posterior samples are trustworthy. Poor diagnostics would suggest the need for more tuning steps, a different parameterization, or model simplification.</a:t>
            </a:r>
          </a:p>
        </p:txBody>
      </p:sp>
      <p:sp>
        <p:nvSpPr>
          <p:cNvPr id="18" name="TextBox 17">
            <a:extLst>
              <a:ext uri="{FF2B5EF4-FFF2-40B4-BE49-F238E27FC236}">
                <a16:creationId xmlns:a16="http://schemas.microsoft.com/office/drawing/2014/main" id="{2961FD02-52C3-D0A4-BCC3-D54333013D70}"/>
              </a:ext>
            </a:extLst>
          </p:cNvPr>
          <p:cNvSpPr txBox="1"/>
          <p:nvPr/>
        </p:nvSpPr>
        <p:spPr>
          <a:xfrm>
            <a:off x="255507" y="1152583"/>
            <a:ext cx="8259843" cy="307777"/>
          </a:xfrm>
          <a:prstGeom prst="rect">
            <a:avLst/>
          </a:prstGeom>
          <a:noFill/>
        </p:spPr>
        <p:txBody>
          <a:bodyPr wrap="square" rtlCol="0">
            <a:spAutoFit/>
          </a:bodyPr>
          <a:lstStyle/>
          <a:p>
            <a:pPr defTabSz="1219170">
              <a:defRPr/>
            </a:pPr>
            <a:r>
              <a:rPr lang="en-US" sz="1400" b="1" dirty="0">
                <a:solidFill>
                  <a:schemeClr val="bg1"/>
                </a:solidFill>
                <a:latin typeface="Montserrat" pitchFamily="2" charset="77"/>
              </a:rPr>
              <a:t>Section 12: Evaluation &amp; Diagnostics</a:t>
            </a:r>
          </a:p>
        </p:txBody>
      </p:sp>
      <p:sp>
        <p:nvSpPr>
          <p:cNvPr id="14" name="TextBox 13">
            <a:extLst>
              <a:ext uri="{FF2B5EF4-FFF2-40B4-BE49-F238E27FC236}">
                <a16:creationId xmlns:a16="http://schemas.microsoft.com/office/drawing/2014/main" id="{BC958791-18D8-835A-0C50-DEDA5C845AF4}"/>
              </a:ext>
            </a:extLst>
          </p:cNvPr>
          <p:cNvSpPr txBox="1"/>
          <p:nvPr/>
        </p:nvSpPr>
        <p:spPr>
          <a:xfrm>
            <a:off x="6524234" y="315387"/>
            <a:ext cx="2068011" cy="428322"/>
          </a:xfrm>
          <a:prstGeom prst="rect">
            <a:avLst/>
          </a:prstGeom>
          <a:noFill/>
        </p:spPr>
        <p:txBody>
          <a:bodyPr wrap="square" rtlCol="0">
            <a:spAutoFit/>
          </a:bodyPr>
          <a:lstStyle/>
          <a:p>
            <a:pPr algn="ctr">
              <a:lnSpc>
                <a:spcPts val="2920"/>
              </a:lnSpc>
            </a:pPr>
            <a:r>
              <a:rPr lang="en-US" sz="1600" b="1" dirty="0">
                <a:solidFill>
                  <a:schemeClr val="bg1"/>
                </a:solidFill>
                <a:effectLst>
                  <a:outerShdw blurRad="50800" dist="38100" dir="2700000" algn="tl" rotWithShape="0">
                    <a:prstClr val="black">
                      <a:alpha val="40000"/>
                    </a:prstClr>
                  </a:outerShdw>
                </a:effectLst>
                <a:latin typeface="Montserrat" pitchFamily="2" charset="77"/>
              </a:rPr>
              <a:t>Group 4</a:t>
            </a:r>
            <a:endParaRPr lang="en-US" sz="1600" dirty="0">
              <a:solidFill>
                <a:schemeClr val="bg1"/>
              </a:solidFill>
              <a:effectLst>
                <a:outerShdw blurRad="50800" dist="38100" dir="2700000" algn="tl" rotWithShape="0">
                  <a:prstClr val="black">
                    <a:alpha val="40000"/>
                  </a:prstClr>
                </a:outerShdw>
              </a:effectLst>
              <a:latin typeface="Montserrat" pitchFamily="2" charset="77"/>
            </a:endParaRPr>
          </a:p>
        </p:txBody>
      </p:sp>
      <p:sp>
        <p:nvSpPr>
          <p:cNvPr id="3" name="TextBox 2">
            <a:extLst>
              <a:ext uri="{FF2B5EF4-FFF2-40B4-BE49-F238E27FC236}">
                <a16:creationId xmlns:a16="http://schemas.microsoft.com/office/drawing/2014/main" id="{6CE8787E-91A7-3A75-B3F3-33BD31CF275E}"/>
              </a:ext>
            </a:extLst>
          </p:cNvPr>
          <p:cNvSpPr txBox="1"/>
          <p:nvPr/>
        </p:nvSpPr>
        <p:spPr>
          <a:xfrm>
            <a:off x="160074" y="246676"/>
            <a:ext cx="3065726" cy="669029"/>
          </a:xfrm>
          <a:prstGeom prst="rect">
            <a:avLst/>
          </a:prstGeom>
          <a:noFill/>
        </p:spPr>
        <p:txBody>
          <a:bodyPr wrap="square" rtlCol="0">
            <a:spAutoFit/>
          </a:bodyPr>
          <a:lstStyle/>
          <a:p>
            <a:pPr algn="ctr">
              <a:lnSpc>
                <a:spcPts val="2920"/>
              </a:lnSpc>
            </a:pPr>
            <a:r>
              <a:rPr lang="en-US" sz="1000" b="1" dirty="0">
                <a:solidFill>
                  <a:schemeClr val="bg1"/>
                </a:solidFill>
                <a:effectLst>
                  <a:outerShdw blurRad="50800" dist="38100" dir="2700000" algn="tl" rotWithShape="0">
                    <a:prstClr val="black">
                      <a:alpha val="40000"/>
                    </a:prstClr>
                  </a:outerShdw>
                </a:effectLst>
                <a:latin typeface="Montserrat" pitchFamily="2" charset="77"/>
              </a:rPr>
              <a:t>Posterior on the Baseline: Bayesian</a:t>
            </a:r>
          </a:p>
          <a:p>
            <a:pPr algn="ctr">
              <a:lnSpc>
                <a:spcPct val="150000"/>
              </a:lnSpc>
            </a:pPr>
            <a:r>
              <a:rPr lang="en-US" sz="1000" b="1" dirty="0">
                <a:solidFill>
                  <a:schemeClr val="bg1"/>
                </a:solidFill>
                <a:effectLst>
                  <a:outerShdw blurRad="50800" dist="38100" dir="2700000" algn="tl" rotWithShape="0">
                    <a:prstClr val="black">
                      <a:alpha val="40000"/>
                    </a:prstClr>
                  </a:outerShdw>
                </a:effectLst>
                <a:latin typeface="Montserrat" pitchFamily="2" charset="77"/>
              </a:rPr>
              <a:t>Tennis Tournament Predictions</a:t>
            </a:r>
            <a:endParaRPr lang="en-US" sz="1000" dirty="0">
              <a:solidFill>
                <a:schemeClr val="bg1"/>
              </a:solidFill>
              <a:effectLst>
                <a:outerShdw blurRad="50800" dist="38100" dir="2700000" algn="tl" rotWithShape="0">
                  <a:prstClr val="black">
                    <a:alpha val="40000"/>
                  </a:prstClr>
                </a:outerShdw>
              </a:effectLst>
              <a:latin typeface="Montserrat" pitchFamily="2" charset="77"/>
            </a:endParaRPr>
          </a:p>
        </p:txBody>
      </p:sp>
    </p:spTree>
    <p:extLst>
      <p:ext uri="{BB962C8B-B14F-4D97-AF65-F5344CB8AC3E}">
        <p14:creationId xmlns:p14="http://schemas.microsoft.com/office/powerpoint/2010/main" val="945978576"/>
      </p:ext>
    </p:extLst>
  </p:cSld>
  <p:clrMapOvr>
    <a:masterClrMapping/>
  </p:clrMapOvr>
  <mc:AlternateContent xmlns:mc="http://schemas.openxmlformats.org/markup-compatibility/2006">
    <mc:Choice xmlns:p14="http://schemas.microsoft.com/office/powerpoint/2010/main" Requires="p14">
      <p:transition spd="slow" p14:dur="6000" advClick="0" advTm="11000"/>
    </mc:Choice>
    <mc:Fallback>
      <p:transition spd="slow" advClick="0" advTm="1100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4589C0-7C8C-C24D-F53D-E232B34043C1}"/>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55B92F15-E0B4-88A3-07EC-BE6CA713236A}"/>
              </a:ext>
            </a:extLst>
          </p:cNvPr>
          <p:cNvSpPr/>
          <p:nvPr/>
        </p:nvSpPr>
        <p:spPr>
          <a:xfrm>
            <a:off x="374650" y="1555821"/>
            <a:ext cx="8326330" cy="4893647"/>
          </a:xfrm>
          <a:prstGeom prst="rect">
            <a:avLst/>
          </a:prstGeom>
        </p:spPr>
        <p:txBody>
          <a:bodyPr wrap="square">
            <a:spAutoFit/>
          </a:bodyPr>
          <a:lstStyle/>
          <a:p>
            <a:pPr marL="285750" indent="-285750">
              <a:buFont typeface="Arial" panose="020B0604020202020204" pitchFamily="34" charset="0"/>
              <a:buChar char="•"/>
            </a:pPr>
            <a:r>
              <a:rPr lang="en-US" sz="1200" dirty="0">
                <a:solidFill>
                  <a:schemeClr val="bg1"/>
                </a:solidFill>
                <a:latin typeface="Gotham SSm A" panose="02000504050000020004" pitchFamily="2" charset="0"/>
              </a:rPr>
              <a:t>This section demonstrates the unique advantage of Bayesian models: posterior-predictive simulation of entire tournament brackets. For each of N simulations (default 3,000–5,000): </a:t>
            </a:r>
          </a:p>
          <a:p>
            <a:pPr marL="285750" indent="-285750">
              <a:buFont typeface="Arial" panose="020B0604020202020204" pitchFamily="34" charset="0"/>
              <a:buChar char="•"/>
            </a:pPr>
            <a:endParaRPr lang="en-US" sz="1200" dirty="0">
              <a:solidFill>
                <a:schemeClr val="bg1"/>
              </a:solidFill>
              <a:latin typeface="Gotham SSm A" panose="02000504050000020004" pitchFamily="2" charset="0"/>
            </a:endParaRPr>
          </a:p>
          <a:p>
            <a:pPr marL="742950" lvl="1" indent="-285750">
              <a:buFont typeface="+mj-lt"/>
              <a:buAutoNum type="arabicPeriod"/>
            </a:pPr>
            <a:r>
              <a:rPr lang="en-US" sz="1200" dirty="0">
                <a:solidFill>
                  <a:schemeClr val="bg1"/>
                </a:solidFill>
                <a:latin typeface="Gotham SSm A" panose="02000504050000020004" pitchFamily="2" charset="0"/>
              </a:rPr>
              <a:t>A single posterior sample of the skill vector is drawn. </a:t>
            </a:r>
          </a:p>
          <a:p>
            <a:pPr marL="742950" lvl="1" indent="-285750">
              <a:buFont typeface="+mj-lt"/>
              <a:buAutoNum type="arabicPeriod"/>
            </a:pPr>
            <a:endParaRPr lang="en-US" sz="1200" dirty="0">
              <a:solidFill>
                <a:schemeClr val="bg1"/>
              </a:solidFill>
              <a:latin typeface="Gotham SSm A" panose="02000504050000020004" pitchFamily="2" charset="0"/>
            </a:endParaRPr>
          </a:p>
          <a:p>
            <a:pPr marL="742950" lvl="1" indent="-285750">
              <a:buFont typeface="+mj-lt"/>
              <a:buAutoNum type="arabicPeriod"/>
            </a:pPr>
            <a:r>
              <a:rPr lang="en-US" sz="1200" dirty="0">
                <a:solidFill>
                  <a:schemeClr val="bg1"/>
                </a:solidFill>
                <a:latin typeface="Gotham SSm A" panose="02000504050000020004" pitchFamily="2" charset="0"/>
              </a:rPr>
              <a:t>Given these "true" skills, each match in the bracket is simulated by computing P(</a:t>
            </a:r>
            <a:r>
              <a:rPr lang="en-US" sz="1200" dirty="0" err="1">
                <a:solidFill>
                  <a:schemeClr val="bg1"/>
                </a:solidFill>
                <a:latin typeface="Gotham SSm A" panose="02000504050000020004" pitchFamily="2" charset="0"/>
              </a:rPr>
              <a:t>i</a:t>
            </a:r>
            <a:r>
              <a:rPr lang="en-US" sz="1200" dirty="0">
                <a:solidFill>
                  <a:schemeClr val="bg1"/>
                </a:solidFill>
                <a:latin typeface="Gotham SSm A" panose="02000504050000020004" pitchFamily="2" charset="0"/>
              </a:rPr>
              <a:t> beats j) = σ(θᵢ − θⱼ) and drawing a Bernoulli outcome.</a:t>
            </a:r>
          </a:p>
          <a:p>
            <a:pPr marL="742950" lvl="1" indent="-285750">
              <a:buFont typeface="+mj-lt"/>
              <a:buAutoNum type="arabicPeriod"/>
            </a:pPr>
            <a:endParaRPr lang="en-US" sz="1200" dirty="0">
              <a:solidFill>
                <a:schemeClr val="bg1"/>
              </a:solidFill>
              <a:latin typeface="Gotham SSm A" panose="02000504050000020004" pitchFamily="2" charset="0"/>
            </a:endParaRPr>
          </a:p>
          <a:p>
            <a:pPr marL="742950" lvl="1" indent="-285750">
              <a:buFont typeface="+mj-lt"/>
              <a:buAutoNum type="arabicPeriod"/>
            </a:pPr>
            <a:r>
              <a:rPr lang="en-US" sz="1200" dirty="0">
                <a:solidFill>
                  <a:schemeClr val="bg1"/>
                </a:solidFill>
                <a:latin typeface="Gotham SSm A" panose="02000504050000020004" pitchFamily="2" charset="0"/>
              </a:rPr>
              <a:t>The bracket progresses through rounds until a champion emerges. By repeating this thousands of times, each drawing a different posterior skill vector, the simulation propagates both parameter uncertainty (different draws of θ reflect uncertainty about true skill) and outcome uncertainty (even with known skills, the better player doesn't always win). </a:t>
            </a:r>
          </a:p>
          <a:p>
            <a:pPr marL="742950" lvl="1" indent="-285750">
              <a:buFont typeface="+mj-lt"/>
              <a:buAutoNum type="arabicPeriod"/>
            </a:pPr>
            <a:endParaRPr lang="en-US" sz="1200" dirty="0">
              <a:solidFill>
                <a:schemeClr val="bg1"/>
              </a:solidFill>
              <a:latin typeface="Gotham SSm A" panose="02000504050000020004" pitchFamily="2" charset="0"/>
            </a:endParaRPr>
          </a:p>
          <a:p>
            <a:pPr marL="285750" indent="-285750">
              <a:buFont typeface="Arial" panose="020B0604020202020204" pitchFamily="34" charset="0"/>
              <a:buChar char="•"/>
            </a:pPr>
            <a:r>
              <a:rPr lang="en-US" sz="1200" dirty="0">
                <a:solidFill>
                  <a:schemeClr val="bg1"/>
                </a:solidFill>
                <a:latin typeface="Gotham SSm A" panose="02000504050000020004" pitchFamily="2" charset="0"/>
              </a:rPr>
              <a:t>The result is a probability distribution over tournament outcomes: round-by-round advancement probabilities and title probabilities. </a:t>
            </a:r>
          </a:p>
          <a:p>
            <a:pPr marL="285750" indent="-285750">
              <a:buFont typeface="Arial" panose="020B0604020202020204" pitchFamily="34" charset="0"/>
              <a:buChar char="•"/>
            </a:pPr>
            <a:endParaRPr lang="en-US" sz="1200" dirty="0">
              <a:solidFill>
                <a:schemeClr val="bg1"/>
              </a:solidFill>
              <a:latin typeface="Gotham SSm A" panose="02000504050000020004" pitchFamily="2" charset="0"/>
            </a:endParaRPr>
          </a:p>
          <a:p>
            <a:pPr marL="285750" indent="-285750">
              <a:buFont typeface="Arial" panose="020B0604020202020204" pitchFamily="34" charset="0"/>
              <a:buChar char="•"/>
            </a:pPr>
            <a:r>
              <a:rPr lang="en-US" sz="1200" dirty="0">
                <a:solidFill>
                  <a:schemeClr val="bg1"/>
                </a:solidFill>
                <a:latin typeface="Gotham SSm A" panose="02000504050000020004" pitchFamily="2" charset="0"/>
              </a:rPr>
              <a:t>The </a:t>
            </a:r>
            <a:r>
              <a:rPr lang="en-US" sz="1200" dirty="0" err="1">
                <a:solidFill>
                  <a:schemeClr val="bg1"/>
                </a:solidFill>
                <a:latin typeface="Gotham SSm A" panose="02000504050000020004" pitchFamily="2" charset="0"/>
              </a:rPr>
              <a:t>simulate_multiple_tournament_scenarios</a:t>
            </a:r>
            <a:r>
              <a:rPr lang="en-US" sz="1200" dirty="0">
                <a:solidFill>
                  <a:schemeClr val="bg1"/>
                </a:solidFill>
                <a:latin typeface="Gotham SSm A" panose="02000504050000020004" pitchFamily="2" charset="0"/>
              </a:rPr>
              <a:t> function additionally varies the bracket draw — testing how seeding affects outcomes. </a:t>
            </a:r>
          </a:p>
          <a:p>
            <a:pPr marL="285750" indent="-285750">
              <a:buFont typeface="Arial" panose="020B0604020202020204" pitchFamily="34" charset="0"/>
              <a:buChar char="•"/>
            </a:pPr>
            <a:endParaRPr lang="en-US" sz="1200" dirty="0">
              <a:solidFill>
                <a:schemeClr val="bg1"/>
              </a:solidFill>
              <a:latin typeface="Gotham SSm A" panose="02000504050000020004" pitchFamily="2" charset="0"/>
            </a:endParaRPr>
          </a:p>
          <a:p>
            <a:pPr marL="742950" lvl="1" indent="-285750">
              <a:buFont typeface="Arial" panose="020B0604020202020204" pitchFamily="34" charset="0"/>
              <a:buChar char="•"/>
            </a:pPr>
            <a:r>
              <a:rPr lang="en-US" sz="1200" dirty="0">
                <a:solidFill>
                  <a:schemeClr val="bg1"/>
                </a:solidFill>
                <a:latin typeface="Gotham SSm A" panose="02000504050000020004" pitchFamily="2" charset="0"/>
              </a:rPr>
              <a:t>The seeded bracket (scenario 1) pairs seed 1 vs. 8, 4 vs. 5, etc., while randomized scenarios shuffle non-top-2 players. </a:t>
            </a:r>
          </a:p>
          <a:p>
            <a:pPr marL="742950" lvl="1" indent="-285750">
              <a:buFont typeface="Arial" panose="020B0604020202020204" pitchFamily="34" charset="0"/>
              <a:buChar char="•"/>
            </a:pPr>
            <a:endParaRPr lang="en-US" sz="1200" dirty="0">
              <a:solidFill>
                <a:schemeClr val="bg1"/>
              </a:solidFill>
              <a:latin typeface="Gotham SSm A" panose="02000504050000020004" pitchFamily="2" charset="0"/>
            </a:endParaRPr>
          </a:p>
          <a:p>
            <a:pPr marL="1200150" lvl="2" indent="-285750">
              <a:buFont typeface="Arial" panose="020B0604020202020204" pitchFamily="34" charset="0"/>
              <a:buChar char="•"/>
            </a:pPr>
            <a:r>
              <a:rPr lang="en-US" sz="1200" dirty="0">
                <a:solidFill>
                  <a:schemeClr val="bg1"/>
                </a:solidFill>
                <a:latin typeface="Gotham SSm A" panose="02000504050000020004" pitchFamily="2" charset="0"/>
              </a:rPr>
              <a:t>Results show Carlos Alcaraz (≈40% title probability) and Novak Djokovic (≈25%) are robust favorites regardless of draw, while mid-tier players' chances are more draw-dependent. </a:t>
            </a:r>
          </a:p>
          <a:p>
            <a:pPr marL="1200150" lvl="2" indent="-285750">
              <a:buFont typeface="Arial" panose="020B0604020202020204" pitchFamily="34" charset="0"/>
              <a:buChar char="•"/>
            </a:pPr>
            <a:endParaRPr lang="en-US" sz="1200" dirty="0">
              <a:solidFill>
                <a:schemeClr val="bg1"/>
              </a:solidFill>
              <a:latin typeface="Gotham SSm A" panose="02000504050000020004" pitchFamily="2" charset="0"/>
            </a:endParaRPr>
          </a:p>
          <a:p>
            <a:pPr marL="1200150" lvl="2" indent="-285750">
              <a:buFont typeface="Arial" panose="020B0604020202020204" pitchFamily="34" charset="0"/>
              <a:buChar char="•"/>
            </a:pPr>
            <a:r>
              <a:rPr lang="en-US" sz="1200" dirty="0">
                <a:solidFill>
                  <a:schemeClr val="bg1"/>
                </a:solidFill>
                <a:latin typeface="Gotham SSm A" panose="02000504050000020004" pitchFamily="2" charset="0"/>
              </a:rPr>
              <a:t>The visualization functions produce grouped bar charts comparing title probabilities across scenarios, providing actionable insights for tournament analysis — e.g., identifying which draw configurations most benefit specific players.</a:t>
            </a:r>
          </a:p>
        </p:txBody>
      </p:sp>
      <p:sp>
        <p:nvSpPr>
          <p:cNvPr id="18" name="TextBox 17">
            <a:extLst>
              <a:ext uri="{FF2B5EF4-FFF2-40B4-BE49-F238E27FC236}">
                <a16:creationId xmlns:a16="http://schemas.microsoft.com/office/drawing/2014/main" id="{D082E7C3-4BF6-A53D-CD64-FC1D8B18FBC0}"/>
              </a:ext>
            </a:extLst>
          </p:cNvPr>
          <p:cNvSpPr txBox="1"/>
          <p:nvPr/>
        </p:nvSpPr>
        <p:spPr>
          <a:xfrm>
            <a:off x="255507" y="1152583"/>
            <a:ext cx="8259843" cy="307777"/>
          </a:xfrm>
          <a:prstGeom prst="rect">
            <a:avLst/>
          </a:prstGeom>
          <a:noFill/>
        </p:spPr>
        <p:txBody>
          <a:bodyPr wrap="square" rtlCol="0">
            <a:spAutoFit/>
          </a:bodyPr>
          <a:lstStyle/>
          <a:p>
            <a:pPr defTabSz="1219170">
              <a:defRPr/>
            </a:pPr>
            <a:r>
              <a:rPr lang="en-US" sz="1400" b="1" dirty="0">
                <a:solidFill>
                  <a:schemeClr val="bg1"/>
                </a:solidFill>
                <a:latin typeface="Montserrat" pitchFamily="2" charset="77"/>
              </a:rPr>
              <a:t>APPENDIX: Bracket Simulation </a:t>
            </a:r>
            <a:r>
              <a:rPr lang="en-US" sz="800" b="1" dirty="0">
                <a:solidFill>
                  <a:schemeClr val="bg1"/>
                </a:solidFill>
                <a:latin typeface="Montserrat" pitchFamily="2" charset="77"/>
              </a:rPr>
              <a:t>(</a:t>
            </a:r>
            <a:r>
              <a:rPr lang="en-US" sz="800" b="1" dirty="0" err="1">
                <a:solidFill>
                  <a:schemeClr val="bg1"/>
                </a:solidFill>
                <a:latin typeface="Montserrat" pitchFamily="2" charset="77"/>
              </a:rPr>
              <a:t>simulate_tournament_from_dynamic_trace</a:t>
            </a:r>
            <a:r>
              <a:rPr lang="en-US" sz="800" b="1" dirty="0">
                <a:solidFill>
                  <a:schemeClr val="bg1"/>
                </a:solidFill>
                <a:latin typeface="Montserrat" pitchFamily="2" charset="77"/>
              </a:rPr>
              <a:t>, </a:t>
            </a:r>
            <a:r>
              <a:rPr lang="en-US" sz="800" b="1" dirty="0" err="1">
                <a:solidFill>
                  <a:schemeClr val="bg1"/>
                </a:solidFill>
                <a:latin typeface="Montserrat" pitchFamily="2" charset="77"/>
              </a:rPr>
              <a:t>simulate_multiple_tournament_scenarios</a:t>
            </a:r>
            <a:r>
              <a:rPr lang="en-US" sz="800" b="1" dirty="0">
                <a:solidFill>
                  <a:schemeClr val="bg1"/>
                </a:solidFill>
                <a:latin typeface="Montserrat" pitchFamily="2" charset="77"/>
              </a:rPr>
              <a:t>)</a:t>
            </a:r>
          </a:p>
        </p:txBody>
      </p:sp>
      <p:sp>
        <p:nvSpPr>
          <p:cNvPr id="14" name="TextBox 13">
            <a:extLst>
              <a:ext uri="{FF2B5EF4-FFF2-40B4-BE49-F238E27FC236}">
                <a16:creationId xmlns:a16="http://schemas.microsoft.com/office/drawing/2014/main" id="{7DF2B669-6416-CD9C-1F76-FA40F118C78A}"/>
              </a:ext>
            </a:extLst>
          </p:cNvPr>
          <p:cNvSpPr txBox="1"/>
          <p:nvPr/>
        </p:nvSpPr>
        <p:spPr>
          <a:xfrm>
            <a:off x="6524234" y="315387"/>
            <a:ext cx="2068011" cy="428322"/>
          </a:xfrm>
          <a:prstGeom prst="rect">
            <a:avLst/>
          </a:prstGeom>
          <a:noFill/>
        </p:spPr>
        <p:txBody>
          <a:bodyPr wrap="square" rtlCol="0">
            <a:spAutoFit/>
          </a:bodyPr>
          <a:lstStyle/>
          <a:p>
            <a:pPr algn="ctr">
              <a:lnSpc>
                <a:spcPts val="2920"/>
              </a:lnSpc>
            </a:pPr>
            <a:r>
              <a:rPr lang="en-US" sz="1600" b="1" dirty="0">
                <a:solidFill>
                  <a:schemeClr val="bg1"/>
                </a:solidFill>
                <a:effectLst>
                  <a:outerShdw blurRad="50800" dist="38100" dir="2700000" algn="tl" rotWithShape="0">
                    <a:prstClr val="black">
                      <a:alpha val="40000"/>
                    </a:prstClr>
                  </a:outerShdw>
                </a:effectLst>
                <a:latin typeface="Montserrat" pitchFamily="2" charset="77"/>
              </a:rPr>
              <a:t>Group 4</a:t>
            </a:r>
            <a:endParaRPr lang="en-US" sz="1600" dirty="0">
              <a:solidFill>
                <a:schemeClr val="bg1"/>
              </a:solidFill>
              <a:effectLst>
                <a:outerShdw blurRad="50800" dist="38100" dir="2700000" algn="tl" rotWithShape="0">
                  <a:prstClr val="black">
                    <a:alpha val="40000"/>
                  </a:prstClr>
                </a:outerShdw>
              </a:effectLst>
              <a:latin typeface="Montserrat" pitchFamily="2" charset="77"/>
            </a:endParaRPr>
          </a:p>
        </p:txBody>
      </p:sp>
      <p:sp>
        <p:nvSpPr>
          <p:cNvPr id="3" name="TextBox 2">
            <a:extLst>
              <a:ext uri="{FF2B5EF4-FFF2-40B4-BE49-F238E27FC236}">
                <a16:creationId xmlns:a16="http://schemas.microsoft.com/office/drawing/2014/main" id="{5F91D571-443B-CAAA-A1EA-840421A5D244}"/>
              </a:ext>
            </a:extLst>
          </p:cNvPr>
          <p:cNvSpPr txBox="1"/>
          <p:nvPr/>
        </p:nvSpPr>
        <p:spPr>
          <a:xfrm>
            <a:off x="160074" y="246676"/>
            <a:ext cx="3065726" cy="669029"/>
          </a:xfrm>
          <a:prstGeom prst="rect">
            <a:avLst/>
          </a:prstGeom>
          <a:noFill/>
        </p:spPr>
        <p:txBody>
          <a:bodyPr wrap="square" rtlCol="0">
            <a:spAutoFit/>
          </a:bodyPr>
          <a:lstStyle/>
          <a:p>
            <a:pPr algn="ctr">
              <a:lnSpc>
                <a:spcPts val="2920"/>
              </a:lnSpc>
            </a:pPr>
            <a:r>
              <a:rPr lang="en-US" sz="1000" b="1" dirty="0">
                <a:solidFill>
                  <a:schemeClr val="bg1"/>
                </a:solidFill>
                <a:effectLst>
                  <a:outerShdw blurRad="50800" dist="38100" dir="2700000" algn="tl" rotWithShape="0">
                    <a:prstClr val="black">
                      <a:alpha val="40000"/>
                    </a:prstClr>
                  </a:outerShdw>
                </a:effectLst>
                <a:latin typeface="Montserrat" pitchFamily="2" charset="77"/>
              </a:rPr>
              <a:t>Posterior on the Baseline: Bayesian</a:t>
            </a:r>
          </a:p>
          <a:p>
            <a:pPr algn="ctr">
              <a:lnSpc>
                <a:spcPct val="150000"/>
              </a:lnSpc>
            </a:pPr>
            <a:r>
              <a:rPr lang="en-US" sz="1000" b="1" dirty="0">
                <a:solidFill>
                  <a:schemeClr val="bg1"/>
                </a:solidFill>
                <a:effectLst>
                  <a:outerShdw blurRad="50800" dist="38100" dir="2700000" algn="tl" rotWithShape="0">
                    <a:prstClr val="black">
                      <a:alpha val="40000"/>
                    </a:prstClr>
                  </a:outerShdw>
                </a:effectLst>
                <a:latin typeface="Montserrat" pitchFamily="2" charset="77"/>
              </a:rPr>
              <a:t>Tennis Tournament Predictions</a:t>
            </a:r>
            <a:endParaRPr lang="en-US" sz="1000" dirty="0">
              <a:solidFill>
                <a:schemeClr val="bg1"/>
              </a:solidFill>
              <a:effectLst>
                <a:outerShdw blurRad="50800" dist="38100" dir="2700000" algn="tl" rotWithShape="0">
                  <a:prstClr val="black">
                    <a:alpha val="40000"/>
                  </a:prstClr>
                </a:outerShdw>
              </a:effectLst>
              <a:latin typeface="Montserrat" pitchFamily="2" charset="77"/>
            </a:endParaRPr>
          </a:p>
        </p:txBody>
      </p:sp>
    </p:spTree>
    <p:extLst>
      <p:ext uri="{BB962C8B-B14F-4D97-AF65-F5344CB8AC3E}">
        <p14:creationId xmlns:p14="http://schemas.microsoft.com/office/powerpoint/2010/main" val="2160196739"/>
      </p:ext>
    </p:extLst>
  </p:cSld>
  <p:clrMapOvr>
    <a:masterClrMapping/>
  </p:clrMapOvr>
  <mc:AlternateContent xmlns:mc="http://schemas.openxmlformats.org/markup-compatibility/2006">
    <mc:Choice xmlns:p14="http://schemas.microsoft.com/office/powerpoint/2010/main" Requires="p14">
      <p:transition spd="slow" p14:dur="6000" advClick="0" advTm="11000"/>
    </mc:Choice>
    <mc:Fallback>
      <p:transition spd="slow" advClick="0" advTm="1100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E15FE-2BBD-7049-639F-6AB7A2882B97}"/>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BEF9EB31-1A63-DAF6-E1E9-15B4B668DA66}"/>
              </a:ext>
            </a:extLst>
          </p:cNvPr>
          <p:cNvSpPr/>
          <p:nvPr/>
        </p:nvSpPr>
        <p:spPr>
          <a:xfrm>
            <a:off x="374650" y="1555821"/>
            <a:ext cx="8326330" cy="3600986"/>
          </a:xfrm>
          <a:prstGeom prst="rect">
            <a:avLst/>
          </a:prstGeom>
        </p:spPr>
        <p:txBody>
          <a:bodyPr wrap="square">
            <a:spAutoFit/>
          </a:bodyPr>
          <a:lstStyle/>
          <a:p>
            <a:pPr marL="285750" indent="-285750">
              <a:buFont typeface="Arial" panose="020B0604020202020204" pitchFamily="34" charset="0"/>
              <a:buChar char="•"/>
            </a:pPr>
            <a:r>
              <a:rPr lang="en-US" sz="1200" dirty="0">
                <a:solidFill>
                  <a:schemeClr val="bg1"/>
                </a:solidFill>
                <a:latin typeface="Gotham SSm A" panose="02000504050000020004" pitchFamily="2" charset="0"/>
              </a:rPr>
              <a:t>The main() function orchestrates the complete end-to-end workflow: data loading → filtering → encoding → time indexing → temporal splitting → pairwise expansion → standardization → model fitting (5 models) → prediction → evaluation → diagnostics → bracket simulation. </a:t>
            </a:r>
          </a:p>
          <a:p>
            <a:pPr marL="285750" indent="-285750">
              <a:buFont typeface="Arial" panose="020B0604020202020204" pitchFamily="34" charset="0"/>
              <a:buChar char="•"/>
            </a:pPr>
            <a:endParaRPr lang="en-US" sz="1200" dirty="0">
              <a:solidFill>
                <a:schemeClr val="bg1"/>
              </a:solidFill>
              <a:latin typeface="Gotham SSm A" panose="02000504050000020004" pitchFamily="2" charset="0"/>
            </a:endParaRPr>
          </a:p>
          <a:p>
            <a:pPr marL="285750" indent="-285750">
              <a:buFont typeface="Arial" panose="020B0604020202020204" pitchFamily="34" charset="0"/>
              <a:buChar char="•"/>
            </a:pPr>
            <a:r>
              <a:rPr lang="en-US" sz="1200" dirty="0">
                <a:solidFill>
                  <a:schemeClr val="bg1"/>
                </a:solidFill>
                <a:latin typeface="Gotham SSm A" panose="02000504050000020004" pitchFamily="2" charset="0"/>
              </a:rPr>
              <a:t>Key outputs from the run: </a:t>
            </a:r>
          </a:p>
          <a:p>
            <a:pPr marL="285750" indent="-285750">
              <a:buFont typeface="Arial" panose="020B0604020202020204" pitchFamily="34" charset="0"/>
              <a:buChar char="•"/>
            </a:pPr>
            <a:endParaRPr lang="en-US" sz="1200" dirty="0">
              <a:solidFill>
                <a:schemeClr val="bg1"/>
              </a:solidFill>
              <a:latin typeface="Gotham SSm A" panose="02000504050000020004" pitchFamily="2" charset="0"/>
            </a:endParaRPr>
          </a:p>
          <a:p>
            <a:pPr marL="742950" lvl="1" indent="-285750">
              <a:buFont typeface="Arial" panose="020B0604020202020204" pitchFamily="34" charset="0"/>
              <a:buChar char="•"/>
            </a:pPr>
            <a:r>
              <a:rPr lang="en-US" sz="1200" dirty="0">
                <a:solidFill>
                  <a:schemeClr val="bg1"/>
                </a:solidFill>
                <a:latin typeface="Gotham SSm A" panose="02000504050000020004" pitchFamily="2" charset="0"/>
              </a:rPr>
              <a:t>The dataset contains 6 years of ATP matches with ~500+ players after filtering. </a:t>
            </a:r>
          </a:p>
          <a:p>
            <a:pPr marL="742950" lvl="1" indent="-285750">
              <a:buFont typeface="Arial" panose="020B0604020202020204" pitchFamily="34" charset="0"/>
              <a:buChar char="•"/>
            </a:pPr>
            <a:endParaRPr lang="en-US" sz="1200" dirty="0">
              <a:solidFill>
                <a:schemeClr val="bg1"/>
              </a:solidFill>
              <a:latin typeface="Gotham SSm A" panose="02000504050000020004" pitchFamily="2" charset="0"/>
            </a:endParaRPr>
          </a:p>
          <a:p>
            <a:pPr marL="742950" lvl="1" indent="-285750">
              <a:buFont typeface="Arial" panose="020B0604020202020204" pitchFamily="34" charset="0"/>
              <a:buChar char="•"/>
            </a:pPr>
            <a:r>
              <a:rPr lang="en-US" sz="1200" b="1" dirty="0">
                <a:solidFill>
                  <a:schemeClr val="bg1"/>
                </a:solidFill>
                <a:latin typeface="Gotham SSm A" panose="02000504050000020004" pitchFamily="2" charset="0"/>
              </a:rPr>
              <a:t>The evaluation table ranks models by log loss on the strictly held-out Wimbledon 2023 test set, revealing a clear hierarchy: Dynamic BT (0.5588) &gt; Dynamic BT + Covariates (0.5667) &gt; Static models (≈0.5724). </a:t>
            </a:r>
          </a:p>
          <a:p>
            <a:pPr marL="742950" lvl="1" indent="-285750">
              <a:buFont typeface="Arial" panose="020B0604020202020204" pitchFamily="34" charset="0"/>
              <a:buChar char="•"/>
            </a:pPr>
            <a:endParaRPr lang="en-US" sz="1200" dirty="0">
              <a:solidFill>
                <a:schemeClr val="bg1"/>
              </a:solidFill>
              <a:latin typeface="Gotham SSm A" panose="02000504050000020004" pitchFamily="2" charset="0"/>
            </a:endParaRPr>
          </a:p>
          <a:p>
            <a:pPr marL="1200150" lvl="2" indent="-285750">
              <a:buFont typeface="Arial" panose="020B0604020202020204" pitchFamily="34" charset="0"/>
              <a:buChar char="•"/>
            </a:pPr>
            <a:r>
              <a:rPr lang="en-US" sz="1200" dirty="0">
                <a:solidFill>
                  <a:schemeClr val="bg1"/>
                </a:solidFill>
                <a:latin typeface="Gotham SSm A" panose="02000504050000020004" pitchFamily="2" charset="0"/>
              </a:rPr>
              <a:t>Notably, the covariate-augmented model performs slightly worse than the pure dynamic model — this counterintuitive result likely occurs because the covariates (especially ranking points) are partially redundant with the latent skills they aim to predict, creating a collinearity that adds noise without improving out-of-sample prediction. </a:t>
            </a:r>
          </a:p>
          <a:p>
            <a:pPr marL="1200150" lvl="2" indent="-285750">
              <a:buFont typeface="Arial" panose="020B0604020202020204" pitchFamily="34" charset="0"/>
              <a:buChar char="•"/>
            </a:pPr>
            <a:endParaRPr lang="en-US" sz="1200" dirty="0">
              <a:solidFill>
                <a:schemeClr val="bg1"/>
              </a:solidFill>
              <a:latin typeface="Gotham SSm A" panose="02000504050000020004" pitchFamily="2" charset="0"/>
            </a:endParaRPr>
          </a:p>
          <a:p>
            <a:pPr marL="742950" lvl="1" indent="-285750">
              <a:buFont typeface="Arial" panose="020B0604020202020204" pitchFamily="34" charset="0"/>
              <a:buChar char="•"/>
            </a:pPr>
            <a:r>
              <a:rPr lang="en-US" sz="1200" b="1" dirty="0">
                <a:solidFill>
                  <a:schemeClr val="bg1"/>
                </a:solidFill>
                <a:latin typeface="Gotham SSm A" panose="02000504050000020004" pitchFamily="2" charset="0"/>
              </a:rPr>
              <a:t>The top-player ranking by posterior skill at the test period shows Carlos Alcaraz (5.08), Novak Djokovic (4.58), and Holger Rune (3.81) at the top, which aligns well with the actual ATP rankings in mid-2023. </a:t>
            </a:r>
          </a:p>
          <a:p>
            <a:pPr marL="742950" lvl="1" indent="-285750">
              <a:buFont typeface="Arial" panose="020B0604020202020204" pitchFamily="34" charset="0"/>
              <a:buChar char="•"/>
            </a:pPr>
            <a:endParaRPr lang="en-US" sz="1200" dirty="0">
              <a:solidFill>
                <a:schemeClr val="bg1"/>
              </a:solidFill>
              <a:latin typeface="Gotham SSm A" panose="02000504050000020004" pitchFamily="2" charset="0"/>
            </a:endParaRPr>
          </a:p>
        </p:txBody>
      </p:sp>
      <p:sp>
        <p:nvSpPr>
          <p:cNvPr id="18" name="TextBox 17">
            <a:extLst>
              <a:ext uri="{FF2B5EF4-FFF2-40B4-BE49-F238E27FC236}">
                <a16:creationId xmlns:a16="http://schemas.microsoft.com/office/drawing/2014/main" id="{3EB90283-6E9B-88CD-2DD3-F8E51699294A}"/>
              </a:ext>
            </a:extLst>
          </p:cNvPr>
          <p:cNvSpPr txBox="1"/>
          <p:nvPr/>
        </p:nvSpPr>
        <p:spPr>
          <a:xfrm>
            <a:off x="255507" y="1152583"/>
            <a:ext cx="8259843" cy="307777"/>
          </a:xfrm>
          <a:prstGeom prst="rect">
            <a:avLst/>
          </a:prstGeom>
          <a:noFill/>
        </p:spPr>
        <p:txBody>
          <a:bodyPr wrap="square" rtlCol="0">
            <a:spAutoFit/>
          </a:bodyPr>
          <a:lstStyle/>
          <a:p>
            <a:pPr defTabSz="1219170">
              <a:defRPr/>
            </a:pPr>
            <a:r>
              <a:rPr lang="en-US" sz="1400" b="1" dirty="0">
                <a:solidFill>
                  <a:schemeClr val="bg1"/>
                </a:solidFill>
                <a:latin typeface="Montserrat" pitchFamily="2" charset="77"/>
              </a:rPr>
              <a:t>APPENDIX: Main Pipeline Execution</a:t>
            </a:r>
          </a:p>
        </p:txBody>
      </p:sp>
      <p:sp>
        <p:nvSpPr>
          <p:cNvPr id="14" name="TextBox 13">
            <a:extLst>
              <a:ext uri="{FF2B5EF4-FFF2-40B4-BE49-F238E27FC236}">
                <a16:creationId xmlns:a16="http://schemas.microsoft.com/office/drawing/2014/main" id="{A56586FB-19E5-93B1-2FE5-3CFF19C8AE74}"/>
              </a:ext>
            </a:extLst>
          </p:cNvPr>
          <p:cNvSpPr txBox="1"/>
          <p:nvPr/>
        </p:nvSpPr>
        <p:spPr>
          <a:xfrm>
            <a:off x="6524234" y="315387"/>
            <a:ext cx="2068011" cy="428322"/>
          </a:xfrm>
          <a:prstGeom prst="rect">
            <a:avLst/>
          </a:prstGeom>
          <a:noFill/>
        </p:spPr>
        <p:txBody>
          <a:bodyPr wrap="square" rtlCol="0">
            <a:spAutoFit/>
          </a:bodyPr>
          <a:lstStyle/>
          <a:p>
            <a:pPr algn="ctr">
              <a:lnSpc>
                <a:spcPts val="2920"/>
              </a:lnSpc>
            </a:pPr>
            <a:r>
              <a:rPr lang="en-US" sz="1600" b="1" dirty="0">
                <a:solidFill>
                  <a:schemeClr val="bg1"/>
                </a:solidFill>
                <a:effectLst>
                  <a:outerShdw blurRad="50800" dist="38100" dir="2700000" algn="tl" rotWithShape="0">
                    <a:prstClr val="black">
                      <a:alpha val="40000"/>
                    </a:prstClr>
                  </a:outerShdw>
                </a:effectLst>
                <a:latin typeface="Montserrat" pitchFamily="2" charset="77"/>
              </a:rPr>
              <a:t>Group 4</a:t>
            </a:r>
            <a:endParaRPr lang="en-US" sz="1600" dirty="0">
              <a:solidFill>
                <a:schemeClr val="bg1"/>
              </a:solidFill>
              <a:effectLst>
                <a:outerShdw blurRad="50800" dist="38100" dir="2700000" algn="tl" rotWithShape="0">
                  <a:prstClr val="black">
                    <a:alpha val="40000"/>
                  </a:prstClr>
                </a:outerShdw>
              </a:effectLst>
              <a:latin typeface="Montserrat" pitchFamily="2" charset="77"/>
            </a:endParaRPr>
          </a:p>
        </p:txBody>
      </p:sp>
      <p:sp>
        <p:nvSpPr>
          <p:cNvPr id="3" name="TextBox 2">
            <a:extLst>
              <a:ext uri="{FF2B5EF4-FFF2-40B4-BE49-F238E27FC236}">
                <a16:creationId xmlns:a16="http://schemas.microsoft.com/office/drawing/2014/main" id="{1D090ECD-E76C-AA19-E490-0DB0D55BC664}"/>
              </a:ext>
            </a:extLst>
          </p:cNvPr>
          <p:cNvSpPr txBox="1"/>
          <p:nvPr/>
        </p:nvSpPr>
        <p:spPr>
          <a:xfrm>
            <a:off x="160074" y="246676"/>
            <a:ext cx="3065726" cy="669029"/>
          </a:xfrm>
          <a:prstGeom prst="rect">
            <a:avLst/>
          </a:prstGeom>
          <a:noFill/>
        </p:spPr>
        <p:txBody>
          <a:bodyPr wrap="square" rtlCol="0">
            <a:spAutoFit/>
          </a:bodyPr>
          <a:lstStyle/>
          <a:p>
            <a:pPr algn="ctr">
              <a:lnSpc>
                <a:spcPts val="2920"/>
              </a:lnSpc>
            </a:pPr>
            <a:r>
              <a:rPr lang="en-US" sz="1000" b="1" dirty="0">
                <a:solidFill>
                  <a:schemeClr val="bg1"/>
                </a:solidFill>
                <a:effectLst>
                  <a:outerShdw blurRad="50800" dist="38100" dir="2700000" algn="tl" rotWithShape="0">
                    <a:prstClr val="black">
                      <a:alpha val="40000"/>
                    </a:prstClr>
                  </a:outerShdw>
                </a:effectLst>
                <a:latin typeface="Montserrat" pitchFamily="2" charset="77"/>
              </a:rPr>
              <a:t>Posterior on the Baseline: Bayesian</a:t>
            </a:r>
          </a:p>
          <a:p>
            <a:pPr algn="ctr">
              <a:lnSpc>
                <a:spcPct val="150000"/>
              </a:lnSpc>
            </a:pPr>
            <a:r>
              <a:rPr lang="en-US" sz="1000" b="1" dirty="0">
                <a:solidFill>
                  <a:schemeClr val="bg1"/>
                </a:solidFill>
                <a:effectLst>
                  <a:outerShdw blurRad="50800" dist="38100" dir="2700000" algn="tl" rotWithShape="0">
                    <a:prstClr val="black">
                      <a:alpha val="40000"/>
                    </a:prstClr>
                  </a:outerShdw>
                </a:effectLst>
                <a:latin typeface="Montserrat" pitchFamily="2" charset="77"/>
              </a:rPr>
              <a:t>Tennis Tournament Predictions</a:t>
            </a:r>
            <a:endParaRPr lang="en-US" sz="1000" dirty="0">
              <a:solidFill>
                <a:schemeClr val="bg1"/>
              </a:solidFill>
              <a:effectLst>
                <a:outerShdw blurRad="50800" dist="38100" dir="2700000" algn="tl" rotWithShape="0">
                  <a:prstClr val="black">
                    <a:alpha val="40000"/>
                  </a:prstClr>
                </a:outerShdw>
              </a:effectLst>
              <a:latin typeface="Montserrat" pitchFamily="2" charset="77"/>
            </a:endParaRPr>
          </a:p>
        </p:txBody>
      </p:sp>
    </p:spTree>
    <p:extLst>
      <p:ext uri="{BB962C8B-B14F-4D97-AF65-F5344CB8AC3E}">
        <p14:creationId xmlns:p14="http://schemas.microsoft.com/office/powerpoint/2010/main" val="1720350757"/>
      </p:ext>
    </p:extLst>
  </p:cSld>
  <p:clrMapOvr>
    <a:masterClrMapping/>
  </p:clrMapOvr>
  <mc:AlternateContent xmlns:mc="http://schemas.openxmlformats.org/markup-compatibility/2006">
    <mc:Choice xmlns:p14="http://schemas.microsoft.com/office/powerpoint/2010/main" Requires="p14">
      <p:transition spd="slow" p14:dur="6000" advClick="0" advTm="11000"/>
    </mc:Choice>
    <mc:Fallback>
      <p:transition spd="slow" advClick="0" advTm="11000"/>
    </mc:Fallback>
  </mc:AlternateContent>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11803</TotalTime>
  <Words>5176</Words>
  <Application>Microsoft Office PowerPoint</Application>
  <PresentationFormat>Letter Paper (8.5x11 in)</PresentationFormat>
  <Paragraphs>301</Paragraphs>
  <Slides>17</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Aptos</vt:lpstr>
      <vt:lpstr>Arial</vt:lpstr>
      <vt:lpstr>Calibri</vt:lpstr>
      <vt:lpstr>Gotham SSm A</vt:lpstr>
      <vt:lpstr>Montserrat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Miller, Otto</cp:lastModifiedBy>
  <cp:revision>127</cp:revision>
  <dcterms:created xsi:type="dcterms:W3CDTF">2020-06-04T16:25:09Z</dcterms:created>
  <dcterms:modified xsi:type="dcterms:W3CDTF">2026-03-05T21:34:21Z</dcterms:modified>
</cp:coreProperties>
</file>